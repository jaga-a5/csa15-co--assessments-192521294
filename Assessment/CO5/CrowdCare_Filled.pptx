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80" r:id="rId20"/>
    <p:sldId id="281" r:id="rId21"/>
    <p:sldId id="282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3" r:id="rId31"/>
  </p:sldIdLst>
  <p:sldSz cx="121793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940675A-B579-460E-94D1-54222C63F5D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4" Type="http://schemas.openxmlformats.org/officeDocument/2006/relationships/tableStyles" Target="tableStyles.xml"/><Relationship Id="rId33" Type="http://schemas.openxmlformats.org/officeDocument/2006/relationships/viewProps" Target="viewProps.xml"/><Relationship Id="rId32" Type="http://schemas.openxmlformats.org/officeDocument/2006/relationships/presProps" Target="presProps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1: Opening and team identity.</a:t>
            </a:r>
          </a:p>
          <a:p>
            <a:r>
              <a:t>Present the project evidence, not the template instruction.</a:t>
            </a:r>
          </a:p>
          <a:p>
            <a:r>
              <a:t>Replace all bracketed fields and delete the bottom STUDENT ACTION rail before the final defense.</a:t>
            </a:r>
          </a:p>
          <a:p>
            <a:r>
              <a:t>Keep claims measurable and be prepared to show the linked repository, deployment, test or source.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2: Executive Summary.</a:t>
            </a:r>
          </a:p>
          <a:p>
            <a:r>
              <a:t>Present the project evidence, not the template instruction.</a:t>
            </a:r>
          </a:p>
          <a:p>
            <a:r>
              <a:t>Replace all bracketed fields and delete the bottom STUDENT ACTION rail before the final defense.</a:t>
            </a:r>
          </a:p>
          <a:p>
            <a:r>
              <a:t>Keep claims measurable and be prepared to show the linked repository, deployment, test or source.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3: Research Evidence and Gap.</a:t>
            </a:r>
          </a:p>
          <a:p>
            <a:r>
              <a:t>Present the project evidence, not the template instruction.</a:t>
            </a:r>
          </a:p>
          <a:p>
            <a:r>
              <a:t>Replace all bracketed fields and delete the bottom STUDENT ACTION rail before the final defense.</a:t>
            </a:r>
          </a:p>
          <a:p>
            <a:r>
              <a:t>Keep claims measurable and be prepared to show the linked repository, deployment, test or source.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4: Technical Problem Definition.</a:t>
            </a:r>
          </a:p>
          <a:p>
            <a:r>
              <a:t>Present the project evidence, not the template instruction.</a:t>
            </a:r>
          </a:p>
          <a:p>
            <a:r>
              <a:t>Replace all bracketed fields and delete the bottom STUDENT ACTION rail before the final defense.</a:t>
            </a:r>
          </a:p>
          <a:p>
            <a:r>
              <a:t>Keep claims measurable and be prepared to show the linked repository, deployment, test or source.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5: User and Industry Context.</a:t>
            </a:r>
          </a:p>
          <a:p>
            <a:r>
              <a:t>Present the project evidence, not the template instruction.</a:t>
            </a:r>
          </a:p>
          <a:p>
            <a:r>
              <a:t>Replace all bracketed fields and delete the bottom STUDENT ACTION rail before the final defense.</a:t>
            </a:r>
          </a:p>
          <a:p>
            <a:r>
              <a:t>Keep claims measurable and be prepared to show the linked repository, deployment, test or source.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6: Engineering Objectives and Acceptance Criteria.</a:t>
            </a:r>
          </a:p>
          <a:p>
            <a:r>
              <a:t>Present the project evidence, not the template instruction.</a:t>
            </a:r>
          </a:p>
          <a:p>
            <a:r>
              <a:t>Replace all bracketed fields and delete the bottom STUDENT ACTION rail before the final defense.</a:t>
            </a:r>
          </a:p>
          <a:p>
            <a:r>
              <a:t>Keep claims measurable and be prepared to show the linked repository, deployment, test or source.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7: Cloud System Architecture.</a:t>
            </a:r>
          </a:p>
          <a:p>
            <a:r>
              <a:t>Present the project evidence, not the template instruction.</a:t>
            </a:r>
          </a:p>
          <a:p>
            <a:r>
              <a:t>Replace all bracketed fields and delete the bottom STUDENT ACTION rail before the final defense.</a:t>
            </a:r>
          </a:p>
          <a:p>
            <a:r>
              <a:t>Keep claims measurable and be prepared to show the linked repository, deployment, test or source.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8: Module 1: Functional Scope.</a:t>
            </a:r>
          </a:p>
          <a:p>
            <a:r>
              <a:t>Present the project evidence, not the template instruction.</a:t>
            </a:r>
          </a:p>
          <a:p>
            <a:r>
              <a:t>Replace all bracketed fields and delete the bottom STUDENT ACTION rail before the final defense.</a:t>
            </a:r>
          </a:p>
          <a:p>
            <a:r>
              <a:t>Keep claims measurable and be prepared to show the linked repository, deployment, test or source.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9: Module 1: Technical Design.</a:t>
            </a:r>
          </a:p>
          <a:p>
            <a:r>
              <a:t>Present the project evidence, not the template instruction.</a:t>
            </a:r>
          </a:p>
          <a:p>
            <a:r>
              <a:t>Replace all bracketed fields and delete the bottom STUDENT ACTION rail before the final defense.</a:t>
            </a:r>
          </a:p>
          <a:p>
            <a:r>
              <a:t>Keep claims measurable and be prepared to show the linked repository, deployment, test or source.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10: Module 1: Implementation Evidence.</a:t>
            </a:r>
          </a:p>
          <a:p>
            <a:r>
              <a:t>Present the project evidence, not the template instruction.</a:t>
            </a:r>
          </a:p>
          <a:p>
            <a:r>
              <a:t>Replace all bracketed fields and delete the bottom STUDENT ACTION rail before the final defense.</a:t>
            </a:r>
          </a:p>
          <a:p>
            <a:r>
              <a:t>Keep claims measurable and be prepared to show the linked repository, deployment, test or source.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11: Module 2: Functional Scope.</a:t>
            </a:r>
          </a:p>
          <a:p>
            <a:r>
              <a:t>Present the project evidence, not the template instruction.</a:t>
            </a:r>
          </a:p>
          <a:p>
            <a:r>
              <a:t>Replace all bracketed fields and delete the bottom STUDENT ACTION rail before the final defense.</a:t>
            </a:r>
          </a:p>
          <a:p>
            <a:r>
              <a:t>Keep claims measurable and be prepared to show the linked repository, deployment, test or source.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12: Module 2: Technical Design.</a:t>
            </a:r>
          </a:p>
          <a:p>
            <a:r>
              <a:t>Present the project evidence, not the template instruction.</a:t>
            </a:r>
          </a:p>
          <a:p>
            <a:r>
              <a:t>Replace all bracketed fields and delete the bottom STUDENT ACTION rail before the final defense.</a:t>
            </a:r>
          </a:p>
          <a:p>
            <a:r>
              <a:t>Keep claims measurable and be prepared to show the linked repository, deployment, test or source.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13: Module 2: Implementation Evidence.</a:t>
            </a:r>
          </a:p>
          <a:p>
            <a:r>
              <a:t>Present the project evidence, not the template instruction.</a:t>
            </a:r>
          </a:p>
          <a:p>
            <a:r>
              <a:t>Replace all bracketed fields and delete the bottom STUDENT ACTION rail before the final defense.</a:t>
            </a:r>
          </a:p>
          <a:p>
            <a:r>
              <a:t>Keep claims measurable and be prepared to show the linked repository, deployment, test or source.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14: Module 3: Functional Scope.</a:t>
            </a:r>
          </a:p>
          <a:p>
            <a:r>
              <a:t>Present the project evidence, not the template instruction.</a:t>
            </a:r>
          </a:p>
          <a:p>
            <a:r>
              <a:t>Replace all bracketed fields and delete the bottom STUDENT ACTION rail before the final defense.</a:t>
            </a:r>
          </a:p>
          <a:p>
            <a:r>
              <a:t>Keep claims measurable and be prepared to show the linked repository, deployment, test or source.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15: Module 3: Technical Design.</a:t>
            </a:r>
          </a:p>
          <a:p>
            <a:r>
              <a:t>Present the project evidence, not the template instruction.</a:t>
            </a:r>
          </a:p>
          <a:p>
            <a:r>
              <a:t>Replace all bracketed fields and delete the bottom STUDENT ACTION rail before the final defense.</a:t>
            </a:r>
          </a:p>
          <a:p>
            <a:r>
              <a:t>Keep claims measurable and be prepared to show the linked repository, deployment, test or source.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16: Module 3: Implementation Evidence.</a:t>
            </a:r>
          </a:p>
          <a:p>
            <a:r>
              <a:t>Present the project evidence, not the template instruction.</a:t>
            </a:r>
          </a:p>
          <a:p>
            <a:r>
              <a:t>Replace all bracketed fields and delete the bottom STUDENT ACTION rail before the final defense.</a:t>
            </a:r>
          </a:p>
          <a:p>
            <a:r>
              <a:t>Keep claims measurable and be prepared to show the linked repository, deployment, test or source.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17: Integrated Product Implementation.</a:t>
            </a:r>
          </a:p>
          <a:p>
            <a:r>
              <a:t>Present the project evidence, not the template instruction.</a:t>
            </a:r>
          </a:p>
          <a:p>
            <a:r>
              <a:t>Replace all bracketed fields and delete the bottom STUDENT ACTION rail before the final defense.</a:t>
            </a:r>
          </a:p>
          <a:p>
            <a:r>
              <a:t>Keep claims measurable and be prepared to show the linked repository, deployment, test or source.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18: Deployment and Functional Flow.</a:t>
            </a:r>
          </a:p>
          <a:p>
            <a:r>
              <a:t>Present the project evidence, not the template instruction.</a:t>
            </a:r>
          </a:p>
          <a:p>
            <a:r>
              <a:t>Replace all bracketed fields and delete the bottom STUDENT ACTION rail before the final defense.</a:t>
            </a:r>
          </a:p>
          <a:p>
            <a:r>
              <a:t>Keep claims measurable and be prepared to show the linked repository, deployment, test or source.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19: Results and Performance Evaluation.</a:t>
            </a:r>
          </a:p>
          <a:p>
            <a:r>
              <a:t>Present the project evidence, not the template instruction.</a:t>
            </a:r>
          </a:p>
          <a:p>
            <a:r>
              <a:t>Replace all bracketed fields and delete the bottom STUDENT ACTION rail before the final defense.</a:t>
            </a:r>
          </a:p>
          <a:p>
            <a:r>
              <a:t>Keep claims measurable and be prepared to show the linked repository, deployment, test or source.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20: Test and Validation Evidence.</a:t>
            </a:r>
          </a:p>
          <a:p>
            <a:r>
              <a:t>Present the project evidence, not the template instruction.</a:t>
            </a:r>
          </a:p>
          <a:p>
            <a:r>
              <a:t>Replace all bracketed fields and delete the bottom STUDENT ACTION rail before the final defense.</a:t>
            </a:r>
          </a:p>
          <a:p>
            <a:r>
              <a:t>Keep claims measurable and be prepared to show the linked repository, deployment, test or source.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21: Security, Privacy, Sustainability and Standards.</a:t>
            </a:r>
          </a:p>
          <a:p>
            <a:r>
              <a:t>Present the project evidence, not the template instruction.</a:t>
            </a:r>
          </a:p>
          <a:p>
            <a:r>
              <a:t>Replace all bracketed fields and delete the bottom STUDENT ACTION rail before the final defense.</a:t>
            </a:r>
          </a:p>
          <a:p>
            <a:r>
              <a:t>Keep claims measurable and be prepared to show the linked repository, deployment, test or source.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22: Conclusion and Production Roadmap.</a:t>
            </a:r>
          </a:p>
          <a:p>
            <a:r>
              <a:t>Present the project evidence, not the template instruction.</a:t>
            </a:r>
          </a:p>
          <a:p>
            <a:r>
              <a:t>Replace all bracketed fields and delete the bottom STUDENT ACTION rail before the final defense.</a:t>
            </a:r>
          </a:p>
          <a:p>
            <a:r>
              <a:t>Keep claims measurable and be prepared to show the linked repository, deployment, test or source.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23: References and Project Artefacts.</a:t>
            </a:r>
          </a:p>
          <a:p>
            <a:r>
              <a:t>Present the project evidence, not the template instruction.</a:t>
            </a:r>
          </a:p>
          <a:p>
            <a:r>
              <a:t>Replace all bracketed fields and delete the bottom STUDENT ACTION rail before the final defense.</a:t>
            </a:r>
          </a:p>
          <a:p>
            <a:r>
              <a:t>Keep claims measurable and be prepared to show the linked repository, deployment, test or source.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24: Final Infrastructure Defense.</a:t>
            </a:r>
          </a:p>
          <a:p>
            <a:r>
              <a:t>Present the project evidence, not the template instruction.</a:t>
            </a:r>
          </a:p>
          <a:p>
            <a:r>
              <a:t>Replace all bracketed fields and delete the bottom STUDENT ACTION rail before the final defense.</a:t>
            </a:r>
          </a:p>
          <a:p>
            <a:r>
              <a:t>Keep claims measurable and be prepared to show the linked repository, deployment, test or source.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11" name="Title Text"/>
          <p:cNvSpPr>
            <a:spLocks noGrp="1"/>
          </p:cNvSpPr>
          <p:nvPr>
            <p:ph type="title" hasCustomPrompt="1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t>Title Text</a:t>
            </a:r>
          </a:p>
        </p:txBody>
      </p:sp>
      <p:sp>
        <p:nvSpPr>
          <p:cNvPr id="12" name="Body Level One…"/>
          <p:cNvSpPr>
            <a:spLocks noGrp="1"/>
          </p:cNvSpPr>
          <p:nvPr>
            <p:ph type="body" idx="1" hasCustomPrompt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0" indent="457200" algn="ctr"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0" indent="914400" algn="ctr"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0" indent="1371600" algn="ctr"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0" indent="1828800" algn="ctr"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pPr>
              <a:buNone/>
            </a:pPr>
            <a:r>
              <a:t>Body Level One</a:t>
            </a:r>
          </a:p>
          <a:p>
            <a:pPr lvl="1">
              <a:buNone/>
            </a:pPr>
            <a:r>
              <a:t>Body Level Two</a:t>
            </a:r>
          </a:p>
          <a:p>
            <a:pPr lvl="2">
              <a:buNone/>
            </a:pPr>
            <a:r>
              <a:t>Body Level Three</a:t>
            </a:r>
          </a:p>
          <a:p>
            <a:pPr lvl="3">
              <a:buNone/>
            </a:pPr>
            <a:r>
              <a:t>Body Level Four</a:t>
            </a:r>
          </a:p>
          <a:p>
            <a:pPr lvl="4">
              <a:buNone/>
            </a:pPr>
            <a:r>
              <a:t>Body Level Five</a:t>
            </a:r>
          </a:p>
        </p:txBody>
      </p:sp>
      <p:sp>
        <p:nvSpPr>
          <p:cNvPr id="13" name="Slide Number"/>
          <p:cNvSpPr>
            <a:spLocks noGrp="1"/>
          </p:cNvSpPr>
          <p:nvPr>
            <p:ph type="sldNum" idx="2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Content">
    <p:spTree>
      <p:nvGrpSpPr>
        <p:cNvPr id="1" name=""/>
        <p:cNvGrpSpPr/>
        <p:nvPr/>
      </p:nvGrpSpPr>
      <p:grpSpPr/>
      <p:sp>
        <p:nvSpPr>
          <p:cNvPr id="20" name="Title Text"/>
          <p:cNvSpPr>
            <a:spLocks noGrp="1"/>
          </p:cNvSpPr>
          <p:nvPr>
            <p:ph type="title" hasCustomPrompt="1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t>Title Text</a:t>
            </a:r>
          </a:p>
        </p:txBody>
      </p:sp>
      <p:sp>
        <p:nvSpPr>
          <p:cNvPr id="21" name="Body Level One…"/>
          <p:cNvSpPr>
            <a:spLocks noGrp="1"/>
          </p:cNvSpPr>
          <p:nvPr>
            <p:ph type="body" idx="1" hasCustomPrompt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t>Body Level One</a:t>
            </a:r>
          </a:p>
          <a:p>
            <a:pPr lvl="1">
              <a:buNone/>
            </a:pPr>
            <a:r>
              <a:t>Body Level Two</a:t>
            </a:r>
          </a:p>
          <a:p>
            <a:pPr lvl="2">
              <a:buNone/>
            </a:pPr>
            <a:r>
              <a:t>Body Level Three</a:t>
            </a:r>
          </a:p>
          <a:p>
            <a:pPr lvl="3">
              <a:buNone/>
            </a:pPr>
            <a:r>
              <a:t>Body Level Four</a:t>
            </a:r>
          </a:p>
          <a:p>
            <a:pPr lvl="4">
              <a:buNone/>
            </a:pPr>
            <a:r>
              <a:t>Body Level Five</a:t>
            </a:r>
          </a:p>
        </p:txBody>
      </p:sp>
      <p:sp>
        <p:nvSpPr>
          <p:cNvPr id="22" name="Slide Number"/>
          <p:cNvSpPr>
            <a:spLocks noGrp="1"/>
          </p:cNvSpPr>
          <p:nvPr>
            <p:ph type="sldNum" idx="2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/>
      <p:sp>
        <p:nvSpPr>
          <p:cNvPr id="29" name="Title Text"/>
          <p:cNvSpPr>
            <a:spLocks noGrp="1"/>
          </p:cNvSpPr>
          <p:nvPr>
            <p:ph type="title" hasCustomPrompt="1"/>
          </p:nvPr>
        </p:nvSpPr>
        <p:spPr>
          <a:xfrm>
            <a:off x="722312" y="4406900"/>
            <a:ext cx="7772401" cy="1362075"/>
          </a:xfrm>
          <a:prstGeom prst="rect">
            <a:avLst/>
          </a:prstGeom>
        </p:spPr>
        <p:txBody>
          <a:bodyPr anchor="t"/>
          <a:lstStyle>
            <a:lvl1pPr algn="l">
              <a:buNone/>
              <a:defRPr sz="4000" b="1" cap="all"/>
            </a:lvl1pPr>
          </a:lstStyle>
          <a:p>
            <a:pPr>
              <a:buNone/>
            </a:pPr>
            <a:r>
              <a:t>Title Text</a:t>
            </a:r>
          </a:p>
        </p:txBody>
      </p:sp>
      <p:sp>
        <p:nvSpPr>
          <p:cNvPr id="30" name="Body Level One…"/>
          <p:cNvSpPr>
            <a:spLocks noGrp="1"/>
          </p:cNvSpPr>
          <p:nvPr>
            <p:ph type="body" idx="1" hasCustomPrompt="1"/>
          </p:nvPr>
        </p:nvSpPr>
        <p:spPr>
          <a:xfrm>
            <a:off x="722312" y="2906713"/>
            <a:ext cx="7772401" cy="1500188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0" indent="4572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2pPr>
            <a:lvl3pPr marL="0" indent="9144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3pPr>
            <a:lvl4pPr marL="0" indent="13716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4pPr>
            <a:lvl5pPr marL="0" indent="18288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5pPr>
          </a:lstStyle>
          <a:p>
            <a:pPr>
              <a:buNone/>
            </a:pPr>
            <a:r>
              <a:t>Body Level One</a:t>
            </a:r>
          </a:p>
          <a:p>
            <a:pPr lvl="1">
              <a:buNone/>
            </a:pPr>
            <a:r>
              <a:t>Body Level Two</a:t>
            </a:r>
          </a:p>
          <a:p>
            <a:pPr lvl="2">
              <a:buNone/>
            </a:pPr>
            <a:r>
              <a:t>Body Level Three</a:t>
            </a:r>
          </a:p>
          <a:p>
            <a:pPr lvl="3">
              <a:buNone/>
            </a:pPr>
            <a:r>
              <a:t>Body Level Four</a:t>
            </a:r>
          </a:p>
          <a:p>
            <a:pPr lvl="4">
              <a:buNone/>
            </a:pPr>
            <a:r>
              <a:t>Body Level Five</a:t>
            </a:r>
          </a:p>
        </p:txBody>
      </p:sp>
      <p:sp>
        <p:nvSpPr>
          <p:cNvPr id="31" name="Slide Number"/>
          <p:cNvSpPr>
            <a:spLocks noGrp="1"/>
          </p:cNvSpPr>
          <p:nvPr>
            <p:ph type="sldNum" idx="2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wo Content">
    <p:spTree>
      <p:nvGrpSpPr>
        <p:cNvPr id="1" name=""/>
        <p:cNvGrpSpPr/>
        <p:nvPr/>
      </p:nvGrpSpPr>
      <p:grpSpPr/>
      <p:sp>
        <p:nvSpPr>
          <p:cNvPr id="38" name="Title Text"/>
          <p:cNvSpPr>
            <a:spLocks noGrp="1"/>
          </p:cNvSpPr>
          <p:nvPr>
            <p:ph type="title" hasCustomPrompt="1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t>Title Text</a:t>
            </a:r>
          </a:p>
        </p:txBody>
      </p:sp>
      <p:sp>
        <p:nvSpPr>
          <p:cNvPr id="39" name="Body Level One…"/>
          <p:cNvSpPr>
            <a:spLocks noGrp="1"/>
          </p:cNvSpPr>
          <p:nvPr>
            <p:ph type="body" idx="1" hasCustomPrompt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buNone/>
              <a:defRPr sz="2800"/>
            </a:lvl1pPr>
            <a:lvl2pPr marL="790575" indent="-333375">
              <a:spcBef>
                <a:spcPts val="600"/>
              </a:spcBef>
              <a:buNone/>
              <a:defRPr sz="2800"/>
            </a:lvl2pPr>
            <a:lvl3pPr marL="1234440" indent="-320040">
              <a:spcBef>
                <a:spcPts val="600"/>
              </a:spcBef>
              <a:buNone/>
              <a:defRPr sz="2800"/>
            </a:lvl3pPr>
            <a:lvl4pPr marL="1727200" indent="-355600">
              <a:spcBef>
                <a:spcPts val="600"/>
              </a:spcBef>
              <a:buNone/>
              <a:defRPr sz="2800"/>
            </a:lvl4pPr>
            <a:lvl5pPr marL="2184400" indent="-355600">
              <a:spcBef>
                <a:spcPts val="600"/>
              </a:spcBef>
              <a:buNone/>
              <a:defRPr sz="2800"/>
            </a:lvl5pPr>
          </a:lstStyle>
          <a:p>
            <a:pPr>
              <a:buNone/>
            </a:pPr>
            <a:r>
              <a:t>Body Level One</a:t>
            </a:r>
          </a:p>
          <a:p>
            <a:pPr lvl="1">
              <a:buNone/>
            </a:pPr>
            <a:r>
              <a:t>Body Level Two</a:t>
            </a:r>
          </a:p>
          <a:p>
            <a:pPr lvl="2">
              <a:buNone/>
            </a:pPr>
            <a:r>
              <a:t>Body Level Three</a:t>
            </a:r>
          </a:p>
          <a:p>
            <a:pPr lvl="3">
              <a:buNone/>
            </a:pPr>
            <a:r>
              <a:t>Body Level Four</a:t>
            </a:r>
          </a:p>
          <a:p>
            <a:pPr lvl="4">
              <a:buNone/>
            </a:pPr>
            <a:r>
              <a:t>Body Level Five</a:t>
            </a:r>
          </a:p>
        </p:txBody>
      </p:sp>
      <p:sp>
        <p:nvSpPr>
          <p:cNvPr id="40" name="Slide Number"/>
          <p:cNvSpPr>
            <a:spLocks noGrp="1"/>
          </p:cNvSpPr>
          <p:nvPr>
            <p:ph type="sldNum" idx="2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mparison">
    <p:spTree>
      <p:nvGrpSpPr>
        <p:cNvPr id="1" name=""/>
        <p:cNvGrpSpPr/>
        <p:nvPr/>
      </p:nvGrpSpPr>
      <p:grpSpPr/>
      <p:sp>
        <p:nvSpPr>
          <p:cNvPr id="47" name="Title Text"/>
          <p:cNvSpPr>
            <a:spLocks noGrp="1"/>
          </p:cNvSpPr>
          <p:nvPr>
            <p:ph type="title" hasCustomPrompt="1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t>Title Text</a:t>
            </a:r>
          </a:p>
        </p:txBody>
      </p:sp>
      <p:sp>
        <p:nvSpPr>
          <p:cNvPr id="48" name="Body Level One…"/>
          <p:cNvSpPr>
            <a:spLocks noGrp="1"/>
          </p:cNvSpPr>
          <p:nvPr>
            <p:ph type="body" idx="1" hasCustomPrompt="1"/>
          </p:nvPr>
        </p:nvSpPr>
        <p:spPr>
          <a:xfrm>
            <a:off x="457200" y="1535112"/>
            <a:ext cx="4040188" cy="639763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500"/>
              </a:spcBef>
              <a:buSzTx/>
              <a:buFontTx/>
              <a:buNone/>
              <a:defRPr sz="2400" b="1"/>
            </a:lvl1pPr>
            <a:lvl2pPr marL="0" indent="457200">
              <a:spcBef>
                <a:spcPts val="500"/>
              </a:spcBef>
              <a:buSzTx/>
              <a:buFontTx/>
              <a:buNone/>
              <a:defRPr sz="2400" b="1"/>
            </a:lvl2pPr>
            <a:lvl3pPr marL="0" indent="914400">
              <a:spcBef>
                <a:spcPts val="500"/>
              </a:spcBef>
              <a:buSzTx/>
              <a:buFontTx/>
              <a:buNone/>
              <a:defRPr sz="2400" b="1"/>
            </a:lvl3pPr>
            <a:lvl4pPr marL="0" indent="1371600">
              <a:spcBef>
                <a:spcPts val="500"/>
              </a:spcBef>
              <a:buSzTx/>
              <a:buFontTx/>
              <a:buNone/>
              <a:defRPr sz="2400" b="1"/>
            </a:lvl4pPr>
            <a:lvl5pPr marL="0" indent="1828800">
              <a:spcBef>
                <a:spcPts val="500"/>
              </a:spcBef>
              <a:buSzTx/>
              <a:buFontTx/>
              <a:buNone/>
              <a:defRPr sz="2400" b="1"/>
            </a:lvl5pPr>
          </a:lstStyle>
          <a:p>
            <a:pPr>
              <a:buNone/>
            </a:pPr>
            <a:r>
              <a:t>Body Level One</a:t>
            </a:r>
          </a:p>
          <a:p>
            <a:pPr lvl="1">
              <a:buNone/>
            </a:pPr>
            <a:r>
              <a:t>Body Level Two</a:t>
            </a:r>
          </a:p>
          <a:p>
            <a:pPr lvl="2">
              <a:buNone/>
            </a:pPr>
            <a:r>
              <a:t>Body Level Three</a:t>
            </a:r>
          </a:p>
          <a:p>
            <a:pPr lvl="3">
              <a:buNone/>
            </a:pPr>
            <a:r>
              <a:t>Body Level Four</a:t>
            </a:r>
          </a:p>
          <a:p>
            <a:pPr lvl="4">
              <a:buNone/>
            </a:pPr>
            <a:r>
              <a:t>Body Level Five</a:t>
            </a:r>
          </a:p>
        </p:txBody>
      </p:sp>
      <p:sp>
        <p:nvSpPr>
          <p:cNvPr id="49" name="Text Placeholder 4"/>
          <p:cNvSpPr>
            <a:spLocks noGrp="1"/>
          </p:cNvSpPr>
          <p:nvPr>
            <p:ph type="body" idx="21"/>
          </p:nvPr>
        </p:nvSpPr>
        <p:spPr>
          <a:xfrm>
            <a:off x="4645025" y="1535112"/>
            <a:ext cx="4041775" cy="639763"/>
          </a:xfrm>
          <a:prstGeom prst="rect">
            <a:avLst/>
          </a:prstGeom>
        </p:spPr>
        <p:txBody>
          <a:bodyPr anchor="b"/>
          <a:lstStyle/>
          <a:p>
            <a:pPr marL="0" indent="0">
              <a:spcBef>
                <a:spcPts val="500"/>
              </a:spcBef>
              <a:buSzTx/>
              <a:buFontTx/>
              <a:buNone/>
              <a:defRPr sz="2400" b="1"/>
            </a:pPr>
          </a:p>
        </p:txBody>
      </p:sp>
      <p:sp>
        <p:nvSpPr>
          <p:cNvPr id="50" name="Slide Number"/>
          <p:cNvSpPr>
            <a:spLocks noGrp="1"/>
          </p:cNvSpPr>
          <p:nvPr>
            <p:ph type="sldNum" idx="2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Only">
    <p:spTree>
      <p:nvGrpSpPr>
        <p:cNvPr id="1" name=""/>
        <p:cNvGrpSpPr/>
        <p:nvPr/>
      </p:nvGrpSpPr>
      <p:grpSpPr/>
      <p:sp>
        <p:nvSpPr>
          <p:cNvPr id="57" name="Title Text"/>
          <p:cNvSpPr>
            <a:spLocks noGrp="1"/>
          </p:cNvSpPr>
          <p:nvPr>
            <p:ph type="title" hasCustomPrompt="1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t>Title Text</a:t>
            </a:r>
          </a:p>
        </p:txBody>
      </p:sp>
      <p:sp>
        <p:nvSpPr>
          <p:cNvPr id="58" name="Slide Number"/>
          <p:cNvSpPr>
            <a:spLocks noGrp="1"/>
          </p:cNvSpPr>
          <p:nvPr>
            <p:ph type="sldNum" idx="2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lank">
    <p:spTree>
      <p:nvGrpSpPr>
        <p:cNvPr id="1" name=""/>
        <p:cNvGrpSpPr/>
        <p:nvPr/>
      </p:nvGrpSpPr>
      <p:grpSpPr/>
      <p:sp>
        <p:nvSpPr>
          <p:cNvPr id="65" name="Slide Number"/>
          <p:cNvSpPr>
            <a:spLocks noGrp="1"/>
          </p:cNvSpPr>
          <p:nvPr>
            <p:ph type="sldNum" idx="2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ntent with Caption">
    <p:spTree>
      <p:nvGrpSpPr>
        <p:cNvPr id="1" name=""/>
        <p:cNvGrpSpPr/>
        <p:nvPr/>
      </p:nvGrpSpPr>
      <p:grpSpPr/>
      <p:sp>
        <p:nvSpPr>
          <p:cNvPr id="72" name="Title Text"/>
          <p:cNvSpPr>
            <a:spLocks noGrp="1"/>
          </p:cNvSpPr>
          <p:nvPr>
            <p:ph type="title" hasCustomPrompt="1"/>
          </p:nvPr>
        </p:nvSpPr>
        <p:spPr>
          <a:xfrm>
            <a:off x="457200" y="273050"/>
            <a:ext cx="3008314" cy="1162050"/>
          </a:xfrm>
          <a:prstGeom prst="rect">
            <a:avLst/>
          </a:prstGeom>
        </p:spPr>
        <p:txBody>
          <a:bodyPr anchor="b"/>
          <a:lstStyle>
            <a:lvl1pPr algn="l">
              <a:buNone/>
              <a:defRPr sz="2000" b="1"/>
            </a:lvl1pPr>
          </a:lstStyle>
          <a:p>
            <a:pPr>
              <a:buNone/>
            </a:pPr>
            <a:r>
              <a:t>Title Text</a:t>
            </a:r>
          </a:p>
        </p:txBody>
      </p:sp>
      <p:sp>
        <p:nvSpPr>
          <p:cNvPr id="73" name="Body Level One…"/>
          <p:cNvSpPr>
            <a:spLocks noGrp="1"/>
          </p:cNvSpPr>
          <p:nvPr>
            <p:ph type="body" idx="1" hasCustomPrompt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t>Body Level One</a:t>
            </a:r>
          </a:p>
          <a:p>
            <a:pPr lvl="1">
              <a:buNone/>
            </a:pPr>
            <a:r>
              <a:t>Body Level Two</a:t>
            </a:r>
          </a:p>
          <a:p>
            <a:pPr lvl="2">
              <a:buNone/>
            </a:pPr>
            <a:r>
              <a:t>Body Level Three</a:t>
            </a:r>
          </a:p>
          <a:p>
            <a:pPr lvl="3">
              <a:buNone/>
            </a:pPr>
            <a:r>
              <a:t>Body Level Four</a:t>
            </a:r>
          </a:p>
          <a:p>
            <a:pPr lvl="4">
              <a:buNone/>
            </a:pPr>
            <a:r>
              <a:t>Body Level Five</a:t>
            </a:r>
          </a:p>
        </p:txBody>
      </p:sp>
      <p:sp>
        <p:nvSpPr>
          <p:cNvPr id="74" name="Text Placeholder 3"/>
          <p:cNvSpPr>
            <a:spLocks noGrp="1"/>
          </p:cNvSpPr>
          <p:nvPr>
            <p:ph type="body" idx="21"/>
          </p:nvPr>
        </p:nvSpPr>
        <p:spPr>
          <a:xfrm>
            <a:off x="457199" y="1435100"/>
            <a:ext cx="3008315" cy="4691063"/>
          </a:xfrm>
          <a:prstGeom prst="rect">
            <a:avLst/>
          </a:prstGeom>
        </p:spPr>
        <p:txBody>
          <a:bodyPr/>
          <a:lstStyle/>
          <a:p>
            <a:pPr marL="0" indent="0">
              <a:spcBef>
                <a:spcPts val="300"/>
              </a:spcBef>
              <a:buSzTx/>
              <a:buFontTx/>
              <a:buNone/>
              <a:defRPr sz="1400"/>
            </a:pPr>
          </a:p>
        </p:txBody>
      </p:sp>
      <p:sp>
        <p:nvSpPr>
          <p:cNvPr id="75" name="Slide Number"/>
          <p:cNvSpPr>
            <a:spLocks noGrp="1"/>
          </p:cNvSpPr>
          <p:nvPr>
            <p:ph type="sldNum" idx="2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Picture with Caption">
    <p:spTree>
      <p:nvGrpSpPr>
        <p:cNvPr id="1" name=""/>
        <p:cNvGrpSpPr/>
        <p:nvPr/>
      </p:nvGrpSpPr>
      <p:grpSpPr/>
      <p:sp>
        <p:nvSpPr>
          <p:cNvPr id="82" name="Title Text"/>
          <p:cNvSpPr>
            <a:spLocks noGrp="1"/>
          </p:cNvSpPr>
          <p:nvPr>
            <p:ph type="title" hasCustomPrompt="1"/>
          </p:nvPr>
        </p:nvSpPr>
        <p:spPr>
          <a:xfrm>
            <a:off x="1792288" y="4800600"/>
            <a:ext cx="5486401" cy="566738"/>
          </a:xfrm>
          <a:prstGeom prst="rect">
            <a:avLst/>
          </a:prstGeom>
        </p:spPr>
        <p:txBody>
          <a:bodyPr anchor="b"/>
          <a:lstStyle>
            <a:lvl1pPr algn="l">
              <a:buNone/>
              <a:defRPr sz="2000" b="1"/>
            </a:lvl1pPr>
          </a:lstStyle>
          <a:p>
            <a:pPr>
              <a:buNone/>
            </a:pPr>
            <a:r>
              <a:t>Title Text</a:t>
            </a:r>
          </a:p>
        </p:txBody>
      </p:sp>
      <p:sp>
        <p:nvSpPr>
          <p:cNvPr id="83" name="Picture Placeholder 2"/>
          <p:cNvSpPr>
            <a:spLocks noGrp="1"/>
          </p:cNvSpPr>
          <p:nvPr>
            <p:ph type="pic" idx="21"/>
          </p:nvPr>
        </p:nvSpPr>
        <p:spPr>
          <a:xfrm>
            <a:off x="1792288" y="612775"/>
            <a:ext cx="5486401" cy="41148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buNone/>
            </a:pPr>
          </a:p>
        </p:txBody>
      </p:sp>
      <p:sp>
        <p:nvSpPr>
          <p:cNvPr id="84" name="Body Level One…"/>
          <p:cNvSpPr>
            <a:spLocks noGrp="1"/>
          </p:cNvSpPr>
          <p:nvPr>
            <p:ph type="body" idx="1" hasCustomPrompt="1"/>
          </p:nvPr>
        </p:nvSpPr>
        <p:spPr>
          <a:xfrm>
            <a:off x="1792288" y="5367337"/>
            <a:ext cx="5486401" cy="804863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  <a:lvl2pPr marL="0" indent="457200">
              <a:spcBef>
                <a:spcPts val="300"/>
              </a:spcBef>
              <a:buSzTx/>
              <a:buFontTx/>
              <a:buNone/>
              <a:defRPr sz="1400"/>
            </a:lvl2pPr>
            <a:lvl3pPr marL="0" indent="914400">
              <a:spcBef>
                <a:spcPts val="300"/>
              </a:spcBef>
              <a:buSzTx/>
              <a:buFontTx/>
              <a:buNone/>
              <a:defRPr sz="1400"/>
            </a:lvl3pPr>
            <a:lvl4pPr marL="0" indent="1371600">
              <a:spcBef>
                <a:spcPts val="300"/>
              </a:spcBef>
              <a:buSzTx/>
              <a:buFontTx/>
              <a:buNone/>
              <a:defRPr sz="1400"/>
            </a:lvl4pPr>
            <a:lvl5pPr marL="0" indent="1828800">
              <a:spcBef>
                <a:spcPts val="300"/>
              </a:spcBef>
              <a:buSzTx/>
              <a:buFontTx/>
              <a:buNone/>
              <a:defRPr sz="1400"/>
            </a:lvl5pPr>
          </a:lstStyle>
          <a:p>
            <a:pPr>
              <a:buNone/>
            </a:pPr>
            <a:r>
              <a:t>Body Level One</a:t>
            </a:r>
          </a:p>
          <a:p>
            <a:pPr lvl="1">
              <a:buNone/>
            </a:pPr>
            <a:r>
              <a:t>Body Level Two</a:t>
            </a:r>
          </a:p>
          <a:p>
            <a:pPr lvl="2">
              <a:buNone/>
            </a:pPr>
            <a:r>
              <a:t>Body Level Three</a:t>
            </a:r>
          </a:p>
          <a:p>
            <a:pPr lvl="3">
              <a:buNone/>
            </a:pPr>
            <a:r>
              <a:t>Body Level Four</a:t>
            </a:r>
          </a:p>
          <a:p>
            <a:pPr lvl="4">
              <a:buNone/>
            </a:pPr>
            <a:r>
              <a:t>Body Level Five</a:t>
            </a:r>
          </a:p>
        </p:txBody>
      </p:sp>
      <p:sp>
        <p:nvSpPr>
          <p:cNvPr id="85" name="Slide Number"/>
          <p:cNvSpPr>
            <a:spLocks noGrp="1"/>
          </p:cNvSpPr>
          <p:nvPr>
            <p:ph type="sldNum" idx="2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0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Text"/>
          <p:cNvSpPr>
            <a:spLocks noGrp="1"/>
          </p:cNvSpPr>
          <p:nvPr>
            <p:ph type="title"/>
          </p:nvPr>
        </p:nvSpPr>
        <p:spPr>
          <a:xfrm>
            <a:off x="608965" y="92074"/>
            <a:ext cx="10961370" cy="1508126"/>
          </a:xfrm>
          <a:prstGeom prst="rect">
            <a:avLst/>
          </a:prstGeom>
          <a:ln w="12700"/>
        </p:spPr>
        <p:txBody>
          <a:bodyPr lIns="45719" rIns="45719" anchor="ctr">
            <a:normAutofit/>
          </a:bodyPr>
          <a:lstStyle/>
          <a:p>
            <a:pPr>
              <a:buNone/>
            </a:pPr>
            <a:r>
              <a:t>Title Text</a:t>
            </a:r>
          </a:p>
        </p:txBody>
      </p:sp>
      <p:sp>
        <p:nvSpPr>
          <p:cNvPr id="3" name="Body Level One…"/>
          <p:cNvSpPr>
            <a:spLocks noGrp="1"/>
          </p:cNvSpPr>
          <p:nvPr>
            <p:ph type="body" idx="1"/>
          </p:nvPr>
        </p:nvSpPr>
        <p:spPr>
          <a:xfrm>
            <a:off x="608965" y="1600200"/>
            <a:ext cx="10961370" cy="5257800"/>
          </a:xfrm>
          <a:prstGeom prst="rect">
            <a:avLst/>
          </a:prstGeom>
          <a:ln w="12700"/>
        </p:spPr>
        <p:txBody>
          <a:bodyPr lIns="45719" rIns="45719">
            <a:normAutofit/>
          </a:bodyPr>
          <a:lstStyle/>
          <a:p>
            <a:pPr>
              <a:buNone/>
            </a:pPr>
            <a:r>
              <a:t>Body Level One</a:t>
            </a:r>
          </a:p>
          <a:p>
            <a:pPr lvl="1">
              <a:buNone/>
            </a:pPr>
            <a:r>
              <a:t>Body Level Two</a:t>
            </a:r>
          </a:p>
          <a:p>
            <a:pPr lvl="2">
              <a:buNone/>
            </a:pPr>
            <a:r>
              <a:t>Body Level Three</a:t>
            </a:r>
          </a:p>
          <a:p>
            <a:pPr lvl="3">
              <a:buNone/>
            </a:pPr>
            <a:r>
              <a:t>Body Level Four</a:t>
            </a:r>
          </a:p>
          <a:p>
            <a:pPr lvl="4">
              <a:buNone/>
            </a:pPr>
            <a:r>
              <a:t>Body Level Five</a:t>
            </a:r>
          </a:p>
        </p:txBody>
      </p:sp>
      <p:sp>
        <p:nvSpPr>
          <p:cNvPr id="4" name="Slide Number"/>
          <p:cNvSpPr>
            <a:spLocks noGrp="1"/>
          </p:cNvSpPr>
          <p:nvPr>
            <p:ph type="sldNum" idx="2"/>
          </p:nvPr>
        </p:nvSpPr>
        <p:spPr>
          <a:xfrm>
            <a:off x="8428176" y="6414760"/>
            <a:ext cx="258624" cy="248305"/>
          </a:xfrm>
          <a:prstGeom prst="rect">
            <a:avLst/>
          </a:prstGeom>
          <a:ln w="12700"/>
        </p:spPr>
        <p:txBody>
          <a:bodyPr wrap="none" lIns="45719" rIns="45719" anchor="ctr">
            <a:spAutoFit/>
          </a:bodyPr>
          <a:lstStyle>
            <a:lvl1pPr algn="r">
              <a:buNone/>
              <a:defRPr sz="1200">
                <a:solidFill>
                  <a:srgbClr val="888888"/>
                </a:solidFill>
              </a:defRPr>
            </a:lvl1pPr>
          </a:lstStyle>
          <a:p>
            <a:pPr>
              <a:buNone/>
            </a:p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txStyles>
    <p:titleStyle>
      <a:lvl1pPr marL="0" marR="0" indent="0" algn="ctr" defTabSz="4572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cap="none" spc="0" baseline="0">
          <a:solidFill>
            <a:srgbClr val="000000"/>
          </a:solidFill>
          <a:latin typeface="+mn-lt"/>
          <a:ea typeface="+mn-lt"/>
          <a:cs typeface="+mn-lt"/>
        </a:defRPr>
      </a:lvl1pPr>
      <a:lvl2pPr marL="0" marR="0" indent="0" algn="ctr" defTabSz="4572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cap="none" spc="0" baseline="0">
          <a:solidFill>
            <a:srgbClr val="000000"/>
          </a:solidFill>
          <a:latin typeface="+mn-lt"/>
          <a:ea typeface="+mn-lt"/>
          <a:cs typeface="+mn-lt"/>
        </a:defRPr>
      </a:lvl2pPr>
      <a:lvl3pPr marL="0" marR="0" indent="0" algn="ctr" defTabSz="4572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cap="none" spc="0" baseline="0">
          <a:solidFill>
            <a:srgbClr val="000000"/>
          </a:solidFill>
          <a:latin typeface="+mn-lt"/>
          <a:ea typeface="+mn-lt"/>
          <a:cs typeface="+mn-lt"/>
        </a:defRPr>
      </a:lvl3pPr>
      <a:lvl4pPr marL="0" marR="0" indent="0" algn="ctr" defTabSz="4572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cap="none" spc="0" baseline="0">
          <a:solidFill>
            <a:srgbClr val="000000"/>
          </a:solidFill>
          <a:latin typeface="+mn-lt"/>
          <a:ea typeface="+mn-lt"/>
          <a:cs typeface="+mn-lt"/>
        </a:defRPr>
      </a:lvl4pPr>
      <a:lvl5pPr marL="0" marR="0" indent="0" algn="ctr" defTabSz="4572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cap="none" spc="0" baseline="0">
          <a:solidFill>
            <a:srgbClr val="000000"/>
          </a:solidFill>
          <a:latin typeface="+mn-lt"/>
          <a:ea typeface="+mn-lt"/>
          <a:cs typeface="+mn-lt"/>
        </a:defRPr>
      </a:lvl5pPr>
      <a:lvl6pPr marL="0" marR="0" indent="0" algn="ctr" defTabSz="4572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cap="none" spc="0" baseline="0">
          <a:solidFill>
            <a:srgbClr val="000000"/>
          </a:solidFill>
          <a:latin typeface="+mn-lt"/>
          <a:ea typeface="+mn-lt"/>
          <a:cs typeface="+mn-lt"/>
        </a:defRPr>
      </a:lvl6pPr>
      <a:lvl7pPr marL="0" marR="0" indent="0" algn="ctr" defTabSz="4572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cap="none" spc="0" baseline="0">
          <a:solidFill>
            <a:srgbClr val="000000"/>
          </a:solidFill>
          <a:latin typeface="+mn-lt"/>
          <a:ea typeface="+mn-lt"/>
          <a:cs typeface="+mn-lt"/>
        </a:defRPr>
      </a:lvl7pPr>
      <a:lvl8pPr marL="0" marR="0" indent="0" algn="ctr" defTabSz="4572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cap="none" spc="0" baseline="0">
          <a:solidFill>
            <a:srgbClr val="000000"/>
          </a:solidFill>
          <a:latin typeface="+mn-lt"/>
          <a:ea typeface="+mn-lt"/>
          <a:cs typeface="+mn-lt"/>
        </a:defRPr>
      </a:lvl8pPr>
      <a:lvl9pPr marL="0" marR="0" indent="0" algn="ctr" defTabSz="4572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cap="none" spc="0" baseline="0">
          <a:solidFill>
            <a:srgbClr val="000000"/>
          </a:solidFill>
          <a:latin typeface="+mn-lt"/>
          <a:ea typeface="+mn-lt"/>
          <a:cs typeface="+mn-lt"/>
        </a:defRPr>
      </a:lvl9pPr>
    </p:titleStyle>
    <p:bodyStyle>
      <a:lvl1pPr marL="342900" marR="0" indent="-342900" algn="l" defTabSz="45720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•"/>
        <a:defRPr sz="3200" b="0" i="0" u="none" cap="none" spc="0" baseline="0">
          <a:solidFill>
            <a:srgbClr val="000000"/>
          </a:solidFill>
          <a:latin typeface="+mn-lt"/>
          <a:ea typeface="+mn-lt"/>
          <a:cs typeface="+mn-lt"/>
        </a:defRPr>
      </a:lvl1pPr>
      <a:lvl2pPr marL="783590" marR="0" indent="-326390" algn="l" defTabSz="45720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–"/>
        <a:defRPr sz="3200" b="0" i="0" u="none" cap="none" spc="0" baseline="0">
          <a:solidFill>
            <a:srgbClr val="000000"/>
          </a:solidFill>
          <a:latin typeface="+mn-lt"/>
          <a:ea typeface="+mn-lt"/>
          <a:cs typeface="+mn-lt"/>
        </a:defRPr>
      </a:lvl2pPr>
      <a:lvl3pPr marL="1219200" marR="0" indent="-304800" algn="l" defTabSz="45720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•"/>
        <a:defRPr sz="3200" b="0" i="0" u="none" cap="none" spc="0" baseline="0">
          <a:solidFill>
            <a:srgbClr val="000000"/>
          </a:solidFill>
          <a:latin typeface="+mn-lt"/>
          <a:ea typeface="+mn-lt"/>
          <a:cs typeface="+mn-lt"/>
        </a:defRPr>
      </a:lvl3pPr>
      <a:lvl4pPr marL="1737360" marR="0" indent="-365760" algn="l" defTabSz="45720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–"/>
        <a:defRPr sz="3200" b="0" i="0" u="none" cap="none" spc="0" baseline="0">
          <a:solidFill>
            <a:srgbClr val="000000"/>
          </a:solidFill>
          <a:latin typeface="+mn-lt"/>
          <a:ea typeface="+mn-lt"/>
          <a:cs typeface="+mn-lt"/>
        </a:defRPr>
      </a:lvl4pPr>
      <a:lvl5pPr marL="2194560" marR="0" indent="-365760" algn="l" defTabSz="45720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»"/>
        <a:defRPr sz="3200" b="0" i="0" u="none" cap="none" spc="0" baseline="0">
          <a:solidFill>
            <a:srgbClr val="000000"/>
          </a:solidFill>
          <a:latin typeface="+mn-lt"/>
          <a:ea typeface="+mn-lt"/>
          <a:cs typeface="+mn-lt"/>
        </a:defRPr>
      </a:lvl5pPr>
      <a:lvl6pPr marL="2651760" marR="0" indent="-365760" algn="l" defTabSz="45720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•"/>
        <a:defRPr sz="3200" b="0" i="0" u="none" cap="none" spc="0" baseline="0">
          <a:solidFill>
            <a:srgbClr val="000000"/>
          </a:solidFill>
          <a:latin typeface="+mn-lt"/>
          <a:ea typeface="+mn-lt"/>
          <a:cs typeface="+mn-lt"/>
        </a:defRPr>
      </a:lvl6pPr>
      <a:lvl7pPr marL="3108960" marR="0" indent="-365760" algn="l" defTabSz="45720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•"/>
        <a:defRPr sz="3200" b="0" i="0" u="none" cap="none" spc="0" baseline="0">
          <a:solidFill>
            <a:srgbClr val="000000"/>
          </a:solidFill>
          <a:latin typeface="+mn-lt"/>
          <a:ea typeface="+mn-lt"/>
          <a:cs typeface="+mn-lt"/>
        </a:defRPr>
      </a:lvl7pPr>
      <a:lvl8pPr marL="3566160" marR="0" indent="-365760" algn="l" defTabSz="45720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•"/>
        <a:defRPr sz="3200" b="0" i="0" u="none" cap="none" spc="0" baseline="0">
          <a:solidFill>
            <a:srgbClr val="000000"/>
          </a:solidFill>
          <a:latin typeface="+mn-lt"/>
          <a:ea typeface="+mn-lt"/>
          <a:cs typeface="+mn-lt"/>
        </a:defRPr>
      </a:lvl8pPr>
      <a:lvl9pPr marL="4023360" marR="0" indent="-365760" algn="l" defTabSz="45720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•"/>
        <a:defRPr sz="3200" b="0" i="0" u="none" cap="none" spc="0" baseline="0">
          <a:solidFill>
            <a:srgbClr val="000000"/>
          </a:solidFill>
          <a:latin typeface="+mn-lt"/>
          <a:ea typeface="+mn-lt"/>
          <a:cs typeface="+mn-lt"/>
        </a:defRPr>
      </a:lvl9pPr>
    </p:bodyStyle>
    <p:otherStyle>
      <a:lvl1pPr marL="0" marR="0" indent="0" algn="r" defTabSz="4572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cap="none" spc="0" baseline="0">
          <a:solidFill>
            <a:schemeClr val="tx1"/>
          </a:solidFill>
          <a:latin typeface="+mn-lt"/>
          <a:ea typeface="+mn-lt"/>
          <a:cs typeface="+mn-lt"/>
        </a:defRPr>
      </a:lvl1pPr>
      <a:lvl2pPr marL="0" marR="0" indent="457200" algn="r" defTabSz="4572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cap="none" spc="0" baseline="0">
          <a:solidFill>
            <a:schemeClr val="tx1"/>
          </a:solidFill>
          <a:latin typeface="+mn-lt"/>
          <a:ea typeface="+mn-lt"/>
          <a:cs typeface="+mn-lt"/>
        </a:defRPr>
      </a:lvl2pPr>
      <a:lvl3pPr marL="0" marR="0" indent="914400" algn="r" defTabSz="4572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cap="none" spc="0" baseline="0">
          <a:solidFill>
            <a:schemeClr val="tx1"/>
          </a:solidFill>
          <a:latin typeface="+mn-lt"/>
          <a:ea typeface="+mn-lt"/>
          <a:cs typeface="+mn-lt"/>
        </a:defRPr>
      </a:lvl3pPr>
      <a:lvl4pPr marL="0" marR="0" indent="1371600" algn="r" defTabSz="4572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cap="none" spc="0" baseline="0">
          <a:solidFill>
            <a:schemeClr val="tx1"/>
          </a:solidFill>
          <a:latin typeface="+mn-lt"/>
          <a:ea typeface="+mn-lt"/>
          <a:cs typeface="+mn-lt"/>
        </a:defRPr>
      </a:lvl4pPr>
      <a:lvl5pPr marL="0" marR="0" indent="1828800" algn="r" defTabSz="4572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cap="none" spc="0" baseline="0">
          <a:solidFill>
            <a:schemeClr val="tx1"/>
          </a:solidFill>
          <a:latin typeface="+mn-lt"/>
          <a:ea typeface="+mn-lt"/>
          <a:cs typeface="+mn-lt"/>
        </a:defRPr>
      </a:lvl5pPr>
      <a:lvl6pPr marL="0" marR="0" indent="2286000" algn="r" defTabSz="4572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cap="none" spc="0" baseline="0">
          <a:solidFill>
            <a:schemeClr val="tx1"/>
          </a:solidFill>
          <a:latin typeface="+mn-lt"/>
          <a:ea typeface="+mn-lt"/>
          <a:cs typeface="+mn-lt"/>
        </a:defRPr>
      </a:lvl6pPr>
      <a:lvl7pPr marL="0" marR="0" indent="2743200" algn="r" defTabSz="4572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cap="none" spc="0" baseline="0">
          <a:solidFill>
            <a:schemeClr val="tx1"/>
          </a:solidFill>
          <a:latin typeface="+mn-lt"/>
          <a:ea typeface="+mn-lt"/>
          <a:cs typeface="+mn-lt"/>
        </a:defRPr>
      </a:lvl7pPr>
      <a:lvl8pPr marL="0" marR="0" indent="3200400" algn="r" defTabSz="4572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cap="none" spc="0" baseline="0">
          <a:solidFill>
            <a:schemeClr val="tx1"/>
          </a:solidFill>
          <a:latin typeface="+mn-lt"/>
          <a:ea typeface="+mn-lt"/>
          <a:cs typeface="+mn-lt"/>
        </a:defRPr>
      </a:lvl8pPr>
      <a:lvl9pPr marL="0" marR="0" indent="3657600" algn="r" defTabSz="4572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cap="none" spc="0" baseline="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E4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3" name="Rectangle 32"/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D39216"/>
          </a:solidFill>
          <a:ln w="0">
            <a:solidFill>
              <a:srgbClr val="D39216"/>
            </a:solidFill>
            <a:prstDash val="solid"/>
          </a:ln>
        </p:spPr>
      </p:sp>
      <p:sp>
        <p:nvSpPr>
          <p:cNvPr id="2" name="Rounded Rectangle 1"/>
          <p:cNvSpPr>
            <a:spLocks noGrp="1"/>
          </p:cNvSpPr>
          <p:nvPr/>
        </p:nvSpPr>
        <p:spPr>
          <a:xfrm>
            <a:off x="438150" y="228600"/>
            <a:ext cx="1000125" cy="55245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</p:sp>
      <p:pic>
        <p:nvPicPr>
          <p:cNvPr id="35" name="Picture 3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4350" y="450359"/>
            <a:ext cx="847725" cy="108932"/>
          </a:xfrm>
          <a:prstGeom prst="rect">
            <a:avLst/>
          </a:prstGeom>
        </p:spPr>
      </p:pic>
      <p:sp>
        <p:nvSpPr>
          <p:cNvPr id="4" name="Rectangle 3"/>
          <p:cNvSpPr>
            <a:spLocks noGrp="1"/>
          </p:cNvSpPr>
          <p:nvPr/>
        </p:nvSpPr>
        <p:spPr>
          <a:xfrm>
            <a:off x="1676400" y="323850"/>
            <a:ext cx="9334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SIMATS ENGINEERING  |  DEPARTMENT OF COMPUTER SCIENCE AND ENGINEERING</a:t>
            </a:r>
            <a:endParaRPr sz="975" b="1">
              <a:solidFill>
                <a:srgbClr val="FFFFFF"/>
              </a:solidFill>
            </a:endParaRPr>
          </a:p>
        </p:txBody>
      </p:sp>
      <p:sp>
        <p:nvSpPr>
          <p:cNvPr id="5" name="Rectangle 4"/>
          <p:cNvSpPr>
            <a:spLocks noGrp="1"/>
          </p:cNvSpPr>
          <p:nvPr/>
        </p:nvSpPr>
        <p:spPr>
          <a:xfrm>
            <a:off x="1676400" y="628650"/>
            <a:ext cx="7620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75" b="1">
                <a:solidFill>
                  <a:srgbClr val="9DD7E8"/>
                </a:solidFill>
              </a:defRPr>
            </a:pPr>
            <a:r>
              <a:rPr sz="975" b="1">
                <a:solidFill>
                  <a:srgbClr val="9DD7E8"/>
                </a:solidFill>
              </a:rPr>
              <a:t>CSA15  |  CLOUD COMPUTING AND BIG DATA ANALYTICS</a:t>
            </a:r>
            <a:endParaRPr sz="975" b="1">
              <a:solidFill>
                <a:srgbClr val="9DD7E8"/>
              </a:solidFill>
            </a:endParaRPr>
          </a:p>
        </p:txBody>
      </p:sp>
      <p:sp>
        <p:nvSpPr>
          <p:cNvPr id="6" name="Rectangle 5"/>
          <p:cNvSpPr>
            <a:spLocks noGrp="1"/>
          </p:cNvSpPr>
          <p:nvPr/>
        </p:nvSpPr>
        <p:spPr>
          <a:xfrm>
            <a:off x="533400" y="1257300"/>
            <a:ext cx="7715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200" b="1">
                <a:solidFill>
                  <a:srgbClr val="D39216"/>
                </a:solidFill>
              </a:defRPr>
            </a:pPr>
            <a:r>
              <a:rPr sz="1200" b="1">
                <a:solidFill>
                  <a:srgbClr val="D39216"/>
                </a:solidFill>
              </a:rPr>
              <a:t>CAPSTONE PROJECT FINAL PRESENTATION</a:t>
            </a:r>
            <a:endParaRPr sz="1200" b="1">
              <a:solidFill>
                <a:srgbClr val="D39216"/>
              </a:solidFill>
            </a:endParaRPr>
          </a:p>
        </p:txBody>
      </p:sp>
      <p:sp>
        <p:nvSpPr>
          <p:cNvPr id="7" name="Rectangle 6"/>
          <p:cNvSpPr>
            <a:spLocks noGrp="1"/>
          </p:cNvSpPr>
          <p:nvPr/>
        </p:nvSpPr>
        <p:spPr>
          <a:xfrm>
            <a:off x="514350" y="1685925"/>
            <a:ext cx="1057275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CrowdCare: Cloud Event Safety Platform with Density Estimation and Incident Routing</a:t>
            </a:r>
            <a:endParaRPr sz="3150" b="1">
              <a:solidFill>
                <a:srgbClr val="FFFFFF"/>
              </a:solidFill>
            </a:endParaRPr>
          </a:p>
        </p:txBody>
      </p:sp>
      <p:sp>
        <p:nvSpPr>
          <p:cNvPr id="8" name="Rectangle 7"/>
          <p:cNvSpPr>
            <a:spLocks noGrp="1"/>
          </p:cNvSpPr>
          <p:nvPr/>
        </p:nvSpPr>
        <p:spPr>
          <a:xfrm>
            <a:off x="533400" y="2600325"/>
            <a:ext cx="1033462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425" b="0">
                <a:solidFill>
                  <a:srgbClr val="DCEAF3"/>
                </a:solidFill>
              </a:defRPr>
            </a:pPr>
            <a:r>
              <a:rPr sz="1425" b="0">
                <a:solidFill>
                  <a:srgbClr val="DCEAF3"/>
                </a:solidFill>
              </a:rPr>
              <a:t>Turning live event camera feeds into per-zone density alerts and auto-routed incident response, so organizers protect crowds before a crush happens.</a:t>
            </a:r>
            <a:endParaRPr sz="1425" b="0">
              <a:solidFill>
                <a:srgbClr val="DCEAF3"/>
              </a:solidFill>
            </a:endParaRPr>
          </a:p>
        </p:txBody>
      </p:sp>
      <p:sp>
        <p:nvSpPr>
          <p:cNvPr id="9" name="Rectangle 8"/>
          <p:cNvSpPr>
            <a:spLocks noGrp="1"/>
          </p:cNvSpPr>
          <p:nvPr/>
        </p:nvSpPr>
        <p:spPr>
          <a:xfrm>
            <a:off x="514350" y="3381375"/>
            <a:ext cx="2047875" cy="1066800"/>
          </a:xfrm>
          <a:prstGeom prst="rect">
            <a:avLst/>
          </a:prstGeom>
          <a:solidFill>
            <a:srgbClr val="1264A3"/>
          </a:solidFill>
          <a:ln w="0">
            <a:noFill/>
            <a:prstDash val="solid"/>
          </a:ln>
        </p:spPr>
      </p:sp>
      <p:sp>
        <p:nvSpPr>
          <p:cNvPr id="10" name="Rectangle 9"/>
          <p:cNvSpPr>
            <a:spLocks noGrp="1"/>
          </p:cNvSpPr>
          <p:nvPr/>
        </p:nvSpPr>
        <p:spPr>
          <a:xfrm>
            <a:off x="628650" y="3590925"/>
            <a:ext cx="1819275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PROBLEM</a:t>
            </a:r>
            <a:endParaRPr sz="1275" b="1">
              <a:solidFill>
                <a:srgbClr val="FFFFFF"/>
              </a:solidFill>
            </a:endParaRPr>
          </a:p>
        </p:txBody>
      </p:sp>
      <p:sp>
        <p:nvSpPr>
          <p:cNvPr id="11" name="Right Arrow 10"/>
          <p:cNvSpPr>
            <a:spLocks noGrp="1"/>
          </p:cNvSpPr>
          <p:nvPr/>
        </p:nvSpPr>
        <p:spPr>
          <a:xfrm>
            <a:off x="2590800" y="3743325"/>
            <a:ext cx="171450" cy="342900"/>
          </a:xfrm>
          <a:prstGeom prst="rightArrow">
            <a:avLst/>
          </a:prstGeom>
          <a:solidFill>
            <a:srgbClr val="D39216"/>
          </a:solidFill>
          <a:ln w="0">
            <a:solidFill>
              <a:srgbClr val="D39216"/>
            </a:solidFill>
            <a:prstDash val="solid"/>
          </a:ln>
        </p:spPr>
      </p:sp>
      <p:sp>
        <p:nvSpPr>
          <p:cNvPr id="12" name="Rectangle 11"/>
          <p:cNvSpPr>
            <a:spLocks noGrp="1"/>
          </p:cNvSpPr>
          <p:nvPr/>
        </p:nvSpPr>
        <p:spPr>
          <a:xfrm>
            <a:off x="2790825" y="3381375"/>
            <a:ext cx="2047875" cy="1066800"/>
          </a:xfrm>
          <a:prstGeom prst="rect">
            <a:avLst/>
          </a:prstGeom>
          <a:solidFill>
            <a:srgbClr val="0B7895"/>
          </a:solidFill>
          <a:ln w="0">
            <a:noFill/>
            <a:prstDash val="solid"/>
          </a:ln>
        </p:spPr>
      </p:sp>
      <p:sp>
        <p:nvSpPr>
          <p:cNvPr id="13" name="Rectangle 12"/>
          <p:cNvSpPr>
            <a:spLocks noGrp="1"/>
          </p:cNvSpPr>
          <p:nvPr/>
        </p:nvSpPr>
        <p:spPr>
          <a:xfrm>
            <a:off x="2905125" y="3590925"/>
            <a:ext cx="1819275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ARCHITECTURE</a:t>
            </a:r>
            <a:endParaRPr sz="1275" b="1">
              <a:solidFill>
                <a:srgbClr val="FFFFFF"/>
              </a:solidFill>
            </a:endParaRPr>
          </a:p>
        </p:txBody>
      </p:sp>
      <p:sp>
        <p:nvSpPr>
          <p:cNvPr id="14" name="Right Arrow 13"/>
          <p:cNvSpPr>
            <a:spLocks noGrp="1"/>
          </p:cNvSpPr>
          <p:nvPr/>
        </p:nvSpPr>
        <p:spPr>
          <a:xfrm>
            <a:off x="4867275" y="3743325"/>
            <a:ext cx="171450" cy="342900"/>
          </a:xfrm>
          <a:prstGeom prst="rightArrow">
            <a:avLst/>
          </a:prstGeom>
          <a:solidFill>
            <a:srgbClr val="D39216"/>
          </a:solidFill>
          <a:ln w="0">
            <a:solidFill>
              <a:srgbClr val="D39216"/>
            </a:solidFill>
            <a:prstDash val="solid"/>
          </a:ln>
        </p:spPr>
      </p:sp>
      <p:sp>
        <p:nvSpPr>
          <p:cNvPr id="15" name="Rectangle 14"/>
          <p:cNvSpPr>
            <a:spLocks noGrp="1"/>
          </p:cNvSpPr>
          <p:nvPr/>
        </p:nvSpPr>
        <p:spPr>
          <a:xfrm>
            <a:off x="5067300" y="3381375"/>
            <a:ext cx="2047875" cy="1066800"/>
          </a:xfrm>
          <a:prstGeom prst="rect">
            <a:avLst/>
          </a:prstGeom>
          <a:solidFill>
            <a:srgbClr val="245A85"/>
          </a:solidFill>
          <a:ln w="0">
            <a:noFill/>
            <a:prstDash val="solid"/>
          </a:ln>
        </p:spPr>
      </p:sp>
      <p:sp>
        <p:nvSpPr>
          <p:cNvPr id="16" name="Rectangle 15"/>
          <p:cNvSpPr>
            <a:spLocks noGrp="1"/>
          </p:cNvSpPr>
          <p:nvPr/>
        </p:nvSpPr>
        <p:spPr>
          <a:xfrm>
            <a:off x="5181600" y="3590925"/>
            <a:ext cx="1819275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BUILD</a:t>
            </a:r>
            <a:endParaRPr sz="1275" b="1">
              <a:solidFill>
                <a:srgbClr val="FFFFFF"/>
              </a:solidFill>
            </a:endParaRPr>
          </a:p>
        </p:txBody>
      </p:sp>
      <p:sp>
        <p:nvSpPr>
          <p:cNvPr id="17" name="Right Arrow 16"/>
          <p:cNvSpPr>
            <a:spLocks noGrp="1"/>
          </p:cNvSpPr>
          <p:nvPr/>
        </p:nvSpPr>
        <p:spPr>
          <a:xfrm>
            <a:off x="7143750" y="3743325"/>
            <a:ext cx="171450" cy="342900"/>
          </a:xfrm>
          <a:prstGeom prst="rightArrow">
            <a:avLst/>
          </a:prstGeom>
          <a:solidFill>
            <a:srgbClr val="D39216"/>
          </a:solidFill>
          <a:ln w="0">
            <a:solidFill>
              <a:srgbClr val="D39216"/>
            </a:solidFill>
            <a:prstDash val="solid"/>
          </a:ln>
        </p:spPr>
      </p:sp>
      <p:sp>
        <p:nvSpPr>
          <p:cNvPr id="18" name="Rectangle 17"/>
          <p:cNvSpPr>
            <a:spLocks noGrp="1"/>
          </p:cNvSpPr>
          <p:nvPr/>
        </p:nvSpPr>
        <p:spPr>
          <a:xfrm>
            <a:off x="7343775" y="3381375"/>
            <a:ext cx="2047875" cy="1066800"/>
          </a:xfrm>
          <a:prstGeom prst="rect">
            <a:avLst/>
          </a:prstGeom>
          <a:solidFill>
            <a:srgbClr val="1264A3"/>
          </a:solidFill>
          <a:ln w="0">
            <a:noFill/>
            <a:prstDash val="solid"/>
          </a:ln>
        </p:spPr>
      </p:sp>
      <p:sp>
        <p:nvSpPr>
          <p:cNvPr id="19" name="Rectangle 18"/>
          <p:cNvSpPr>
            <a:spLocks noGrp="1"/>
          </p:cNvSpPr>
          <p:nvPr/>
        </p:nvSpPr>
        <p:spPr>
          <a:xfrm>
            <a:off x="7458075" y="3590925"/>
            <a:ext cx="1819275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EVIDENCE</a:t>
            </a:r>
            <a:endParaRPr sz="1275" b="1">
              <a:solidFill>
                <a:srgbClr val="FFFFFF"/>
              </a:solidFill>
            </a:endParaRPr>
          </a:p>
        </p:txBody>
      </p:sp>
      <p:sp>
        <p:nvSpPr>
          <p:cNvPr id="20" name="Right Arrow 19"/>
          <p:cNvSpPr>
            <a:spLocks noGrp="1"/>
          </p:cNvSpPr>
          <p:nvPr/>
        </p:nvSpPr>
        <p:spPr>
          <a:xfrm>
            <a:off x="9420225" y="3743325"/>
            <a:ext cx="171450" cy="342900"/>
          </a:xfrm>
          <a:prstGeom prst="rightArrow">
            <a:avLst/>
          </a:prstGeom>
          <a:solidFill>
            <a:srgbClr val="D39216"/>
          </a:solidFill>
          <a:ln w="0">
            <a:solidFill>
              <a:srgbClr val="D39216"/>
            </a:solidFill>
            <a:prstDash val="solid"/>
          </a:ln>
        </p:spPr>
      </p:sp>
      <p:sp>
        <p:nvSpPr>
          <p:cNvPr id="21" name="Rectangle 20"/>
          <p:cNvSpPr>
            <a:spLocks noGrp="1"/>
          </p:cNvSpPr>
          <p:nvPr/>
        </p:nvSpPr>
        <p:spPr>
          <a:xfrm>
            <a:off x="9620250" y="3381375"/>
            <a:ext cx="2047875" cy="1066800"/>
          </a:xfrm>
          <a:prstGeom prst="rect">
            <a:avLst/>
          </a:prstGeom>
          <a:solidFill>
            <a:srgbClr val="0B7895"/>
          </a:solidFill>
          <a:ln w="0">
            <a:noFill/>
            <a:prstDash val="solid"/>
          </a:ln>
        </p:spPr>
      </p:sp>
      <p:sp>
        <p:nvSpPr>
          <p:cNvPr id="22" name="Rectangle 21"/>
          <p:cNvSpPr>
            <a:spLocks noGrp="1"/>
          </p:cNvSpPr>
          <p:nvPr/>
        </p:nvSpPr>
        <p:spPr>
          <a:xfrm>
            <a:off x="9734550" y="3590925"/>
            <a:ext cx="1819275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IMPACT</a:t>
            </a:r>
            <a:endParaRPr sz="1275" b="1">
              <a:solidFill>
                <a:srgbClr val="FFFFFF"/>
              </a:solidFill>
            </a:endParaRPr>
          </a:p>
        </p:txBody>
      </p:sp>
      <p:sp>
        <p:nvSpPr>
          <p:cNvPr id="23" name="Rectangle 22"/>
          <p:cNvSpPr>
            <a:spLocks noGrp="1"/>
          </p:cNvSpPr>
          <p:nvPr/>
        </p:nvSpPr>
        <p:spPr>
          <a:xfrm>
            <a:off x="514350" y="4695825"/>
            <a:ext cx="672465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6E2"/>
            </a:solidFill>
            <a:prstDash val="solid"/>
          </a:ln>
        </p:spPr>
      </p:sp>
      <p:sp>
        <p:nvSpPr>
          <p:cNvPr id="24" name="Rectangle 23"/>
          <p:cNvSpPr>
            <a:spLocks noGrp="1"/>
          </p:cNvSpPr>
          <p:nvPr/>
        </p:nvSpPr>
        <p:spPr>
          <a:xfrm>
            <a:off x="514350" y="4695825"/>
            <a:ext cx="57150" cy="1371600"/>
          </a:xfrm>
          <a:prstGeom prst="rect">
            <a:avLst/>
          </a:prstGeom>
          <a:solidFill>
            <a:srgbClr val="0B7895"/>
          </a:solidFill>
          <a:ln w="0">
            <a:solidFill>
              <a:srgbClr val="0B7895"/>
            </a:solidFill>
            <a:prstDash val="solid"/>
          </a:ln>
        </p:spPr>
      </p:sp>
      <p:sp>
        <p:nvSpPr>
          <p:cNvPr id="25" name="Rectangle 24"/>
          <p:cNvSpPr>
            <a:spLocks noGrp="1"/>
          </p:cNvSpPr>
          <p:nvPr/>
        </p:nvSpPr>
        <p:spPr>
          <a:xfrm>
            <a:off x="723900" y="4848225"/>
            <a:ext cx="63246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>
                <a:solidFill>
                  <a:srgbClr val="0B7895"/>
                </a:solidFill>
              </a:defRPr>
            </a:pPr>
            <a:r>
              <a:rPr sz="900" b="1">
                <a:solidFill>
                  <a:srgbClr val="0B7895"/>
                </a:solidFill>
              </a:rPr>
              <a:t>STUDENT TEAM DETAILS</a:t>
            </a:r>
            <a:endParaRPr sz="900" b="1">
              <a:solidFill>
                <a:srgbClr val="0B7895"/>
              </a:solidFill>
            </a:endParaRPr>
          </a:p>
        </p:txBody>
      </p:sp>
      <p:sp>
        <p:nvSpPr>
          <p:cNvPr id="26" name="Rectangle 25"/>
          <p:cNvSpPr>
            <a:spLocks noGrp="1"/>
          </p:cNvSpPr>
          <p:nvPr/>
        </p:nvSpPr>
        <p:spPr>
          <a:xfrm>
            <a:off x="723900" y="5153025"/>
            <a:ext cx="63246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850" b="0">
                <a:solidFill>
                  <a:srgbClr val="183247"/>
                </a:solidFill>
              </a:defRPr>
            </a:pPr>
            <a:r>
              <a:rPr sz="850" b="0">
                <a:solidFill>
                  <a:srgbClr val="183247"/>
                </a:solidFill>
              </a:rPr>
              <a:t>KISHORE K | 192321157 | Module 1 Lead – User &amp; Event Management | github.com/kishorek15</a:t>
            </a:r>
            <a:endParaRPr sz="850" b="0">
              <a:solidFill>
                <a:srgbClr val="183247"/>
              </a:solidFill>
            </a:endParaRPr>
          </a:p>
          <a:p>
            <a:pPr>
              <a:defRPr sz="850" b="0">
                <a:solidFill>
                  <a:srgbClr val="183247"/>
                </a:solidFill>
              </a:defRPr>
            </a:pPr>
            <a:r>
              <a:rPr sz="850" b="0">
                <a:solidFill>
                  <a:srgbClr val="183247"/>
                </a:solidFill>
              </a:rPr>
              <a:t>Jagadeesh A | 192521294 | Module 2 Lead – Crowd Monitoring &amp; Density Estimation | github.com/jagadeesh-a</a:t>
            </a:r>
            <a:endParaRPr sz="850" b="0">
              <a:solidFill>
                <a:srgbClr val="183247"/>
              </a:solidFill>
            </a:endParaRPr>
          </a:p>
          <a:p>
            <a:pPr>
              <a:defRPr sz="850" b="0">
                <a:solidFill>
                  <a:srgbClr val="183247"/>
                </a:solidFill>
              </a:defRPr>
            </a:pPr>
            <a:r>
              <a:rPr sz="850" b="0">
                <a:solidFill>
                  <a:srgbClr val="183247"/>
                </a:solidFill>
              </a:rPr>
              <a:t>Kavin R | 192511314 | Module 3 Lead – Incident Reporting &amp; Smart Routing | github.com/kavin-r</a:t>
            </a:r>
            <a:endParaRPr sz="850" b="0">
              <a:solidFill>
                <a:srgbClr val="183247"/>
              </a:solidFill>
            </a:endParaRPr>
          </a:p>
          <a:p>
            <a:pPr>
              <a:defRPr sz="850" b="0">
                <a:solidFill>
                  <a:srgbClr val="183247"/>
                </a:solidFill>
              </a:defRPr>
            </a:pPr>
            <a:r>
              <a:rPr sz="850" b="0">
                <a:solidFill>
                  <a:srgbClr val="183247"/>
                </a:solidFill>
              </a:rPr>
              <a:t>SUNIL KUMAR I S | 192324155 | Module 4 Lead – Analytics &amp; Admin Dashboard | github.com/sunilkumaris</a:t>
            </a:r>
            <a:endParaRPr sz="850" b="0">
              <a:solidFill>
                <a:srgbClr val="183247"/>
              </a:solidFill>
            </a:endParaRPr>
          </a:p>
        </p:txBody>
      </p:sp>
      <p:sp>
        <p:nvSpPr>
          <p:cNvPr id="27" name="Rectangle 26"/>
          <p:cNvSpPr>
            <a:spLocks noGrp="1"/>
          </p:cNvSpPr>
          <p:nvPr/>
        </p:nvSpPr>
        <p:spPr>
          <a:xfrm>
            <a:off x="7467600" y="4695825"/>
            <a:ext cx="4200525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6E2"/>
            </a:solidFill>
            <a:prstDash val="solid"/>
          </a:ln>
        </p:spPr>
      </p:sp>
      <p:sp>
        <p:nvSpPr>
          <p:cNvPr id="28" name="Rectangle 27"/>
          <p:cNvSpPr>
            <a:spLocks noGrp="1"/>
          </p:cNvSpPr>
          <p:nvPr/>
        </p:nvSpPr>
        <p:spPr>
          <a:xfrm>
            <a:off x="7467600" y="4695825"/>
            <a:ext cx="57150" cy="1371600"/>
          </a:xfrm>
          <a:prstGeom prst="rect">
            <a:avLst/>
          </a:prstGeom>
          <a:solidFill>
            <a:srgbClr val="D39216"/>
          </a:solidFill>
          <a:ln w="0">
            <a:solidFill>
              <a:srgbClr val="D39216"/>
            </a:solidFill>
            <a:prstDash val="solid"/>
          </a:ln>
        </p:spPr>
      </p:sp>
      <p:sp>
        <p:nvSpPr>
          <p:cNvPr id="29" name="Rectangle 28"/>
          <p:cNvSpPr>
            <a:spLocks noGrp="1"/>
          </p:cNvSpPr>
          <p:nvPr/>
        </p:nvSpPr>
        <p:spPr>
          <a:xfrm>
            <a:off x="7677150" y="4848225"/>
            <a:ext cx="380047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>
                <a:solidFill>
                  <a:srgbClr val="D39216"/>
                </a:solidFill>
              </a:defRPr>
            </a:pPr>
            <a:r>
              <a:rPr sz="900" b="1">
                <a:solidFill>
                  <a:srgbClr val="D39216"/>
                </a:solidFill>
              </a:rPr>
              <a:t>FACULTY AND PROJECT LINKS</a:t>
            </a:r>
            <a:endParaRPr sz="900" b="1">
              <a:solidFill>
                <a:srgbClr val="D39216"/>
              </a:solidFill>
            </a:endParaRPr>
          </a:p>
        </p:txBody>
      </p:sp>
      <p:sp>
        <p:nvSpPr>
          <p:cNvPr id="30" name="Rectangle 29"/>
          <p:cNvSpPr>
            <a:spLocks noGrp="1"/>
          </p:cNvSpPr>
          <p:nvPr/>
        </p:nvSpPr>
        <p:spPr>
          <a:xfrm>
            <a:off x="7677150" y="5153025"/>
            <a:ext cx="3800475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050" b="0">
                <a:solidFill>
                  <a:srgbClr val="183247"/>
                </a:solidFill>
              </a:defRPr>
            </a:pPr>
            <a:r>
              <a:rPr sz="1050" b="0">
                <a:solidFill>
                  <a:srgbClr val="183247"/>
                </a:solidFill>
              </a:rPr>
              <a:t>Faculty: Dr. C. Rajesh Babu | SSETSCS415</a:t>
            </a:r>
            <a:endParaRPr sz="1050" b="0">
              <a:solidFill>
                <a:srgbClr val="183247"/>
              </a:solidFill>
            </a:endParaRPr>
          </a:p>
          <a:p>
            <a:pPr>
              <a:defRPr sz="1050" b="0">
                <a:solidFill>
                  <a:srgbClr val="183247"/>
                </a:solidFill>
              </a:defRPr>
            </a:pPr>
            <a:r>
              <a:rPr sz="1050" b="0">
                <a:solidFill>
                  <a:srgbClr val="183247"/>
                </a:solidFill>
              </a:rPr>
              <a:t>github.com/crowdcare-team/crowdcare-platform</a:t>
            </a:r>
            <a:endParaRPr sz="1050" b="0">
              <a:solidFill>
                <a:srgbClr val="183247"/>
              </a:solidFill>
            </a:endParaRPr>
          </a:p>
          <a:p>
            <a:pPr>
              <a:defRPr sz="1050" b="0">
                <a:solidFill>
                  <a:srgbClr val="183247"/>
                </a:solidFill>
              </a:defRPr>
            </a:pPr>
            <a:r>
              <a:rPr sz="1050" b="0">
                <a:solidFill>
                  <a:srgbClr val="183247"/>
                </a:solidFill>
              </a:rPr>
              <a:t>crowdcare-demo.example.com</a:t>
            </a:r>
            <a:endParaRPr sz="1050" b="0">
              <a:solidFill>
                <a:srgbClr val="183247"/>
              </a:solidFill>
            </a:endParaRPr>
          </a:p>
        </p:txBody>
      </p:sp>
      <p:sp>
        <p:nvSpPr>
          <p:cNvPr id="31" name="Rectangle 30"/>
          <p:cNvSpPr>
            <a:spLocks noGrp="1"/>
          </p:cNvSpPr>
          <p:nvPr/>
        </p:nvSpPr>
        <p:spPr>
          <a:xfrm>
            <a:off x="533400" y="6400800"/>
            <a:ext cx="10668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FINAL DEFENSE TEMPLATE  |  Replace every bracketed field and delete all guidance rails before presenting.</a:t>
            </a:r>
            <a:endParaRPr sz="900" b="1">
              <a:solidFill>
                <a:srgbClr val="FFFFFF"/>
              </a:solidFill>
            </a:endParaRPr>
          </a:p>
        </p:txBody>
      </p:sp>
      <p:sp>
        <p:nvSpPr>
          <p:cNvPr id="32" name="Rectangle 31"/>
          <p:cNvSpPr>
            <a:spLocks noGrp="1"/>
          </p:cNvSpPr>
          <p:nvPr/>
        </p:nvSpPr>
        <p:spPr>
          <a:xfrm>
            <a:off x="4191000" y="6705600"/>
            <a:ext cx="3810000" cy="104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600" b="0">
                <a:solidFill>
                  <a:srgbClr val="BFD3E1"/>
                </a:solidFill>
              </a:defRPr>
            </a:pPr>
            <a:r>
              <a:rPr sz="600" b="0">
                <a:solidFill>
                  <a:srgbClr val="BFD3E1"/>
                </a:solidFill>
              </a:rPr>
              <a:t>Dr. C. Rajesh Babu | SSETSCS415</a:t>
            </a:r>
            <a:endParaRPr sz="600" b="0">
              <a:solidFill>
                <a:srgbClr val="BFD3E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5" name="Rectangle 24"/>
          <p:cNvSpPr>
            <a:spLocks noGrp="1"/>
          </p:cNvSpPr>
          <p:nvPr/>
        </p:nvSpPr>
        <p:spPr>
          <a:xfrm>
            <a:off x="0" y="0"/>
            <a:ext cx="12182475" cy="76200"/>
          </a:xfrm>
          <a:prstGeom prst="rect">
            <a:avLst/>
          </a:prstGeom>
          <a:solidFill>
            <a:srgbClr val="0B7895"/>
          </a:solidFill>
          <a:ln w="0">
            <a:solidFill>
              <a:srgbClr val="0B7895"/>
            </a:solidFill>
            <a:prstDash val="solid"/>
          </a:ln>
        </p:spPr>
      </p:sp>
      <p:sp>
        <p:nvSpPr>
          <p:cNvPr id="2" name="Rounded Rectangle 1"/>
          <p:cNvSpPr>
            <a:spLocks noGrp="1"/>
          </p:cNvSpPr>
          <p:nvPr/>
        </p:nvSpPr>
        <p:spPr>
          <a:xfrm>
            <a:off x="438150" y="228600"/>
            <a:ext cx="1000125" cy="55245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C9D6E2"/>
            </a:solidFill>
            <a:prstDash val="solid"/>
          </a:ln>
        </p:spPr>
      </p:sp>
      <p:pic>
        <p:nvPicPr>
          <p:cNvPr id="27" name="Picture 2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4350" y="450359"/>
            <a:ext cx="847725" cy="108932"/>
          </a:xfrm>
          <a:prstGeom prst="rect">
            <a:avLst/>
          </a:prstGeom>
        </p:spPr>
      </p:pic>
      <p:sp>
        <p:nvSpPr>
          <p:cNvPr id="4" name="Rectangle 3"/>
          <p:cNvSpPr>
            <a:spLocks noGrp="1"/>
          </p:cNvSpPr>
          <p:nvPr/>
        </p:nvSpPr>
        <p:spPr>
          <a:xfrm>
            <a:off x="1657350" y="266700"/>
            <a:ext cx="6953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>
                <a:solidFill>
                  <a:srgbClr val="1264A3"/>
                </a:solidFill>
              </a:defRPr>
            </a:pPr>
            <a:r>
              <a:rPr sz="900" b="1">
                <a:solidFill>
                  <a:srgbClr val="1264A3"/>
                </a:solidFill>
              </a:rPr>
              <a:t>CSA15  |  CLOUD COMPUTING AND BIG DATA ANALYTICS</a:t>
            </a:r>
            <a:endParaRPr sz="900" b="1">
              <a:solidFill>
                <a:srgbClr val="1264A3"/>
              </a:solidFill>
            </a:endParaRPr>
          </a:p>
        </p:txBody>
      </p:sp>
      <p:sp>
        <p:nvSpPr>
          <p:cNvPr id="5" name="Rectangle 4"/>
          <p:cNvSpPr>
            <a:spLocks noGrp="1"/>
          </p:cNvSpPr>
          <p:nvPr/>
        </p:nvSpPr>
        <p:spPr>
          <a:xfrm>
            <a:off x="9572625" y="266700"/>
            <a:ext cx="209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825" b="1">
                <a:solidFill>
                  <a:srgbClr val="0B7895"/>
                </a:solidFill>
              </a:defRPr>
            </a:pPr>
            <a:r>
              <a:rPr sz="825" b="1">
                <a:solidFill>
                  <a:srgbClr val="0B7895"/>
                </a:solidFill>
              </a:rPr>
              <a:t>CAPSTONE FINAL DEFENSE</a:t>
            </a:r>
            <a:endParaRPr sz="825" b="1">
              <a:solidFill>
                <a:srgbClr val="0B7895"/>
              </a:solidFill>
            </a:endParaRPr>
          </a:p>
        </p:txBody>
      </p:sp>
      <p:sp>
        <p:nvSpPr>
          <p:cNvPr id="6" name="Rectangle 5"/>
          <p:cNvSpPr>
            <a:spLocks noGrp="1"/>
          </p:cNvSpPr>
          <p:nvPr/>
        </p:nvSpPr>
        <p:spPr>
          <a:xfrm>
            <a:off x="514350" y="981075"/>
            <a:ext cx="10287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2325" b="1">
                <a:solidFill>
                  <a:srgbClr val="0B2E4F"/>
                </a:solidFill>
              </a:defRPr>
            </a:pPr>
            <a:r>
              <a:rPr sz="2325" b="1">
                <a:solidFill>
                  <a:srgbClr val="0B2E4F"/>
                </a:solidFill>
              </a:rPr>
              <a:t>Executive Summary</a:t>
            </a:r>
            <a:endParaRPr sz="2325" b="1">
              <a:solidFill>
                <a:srgbClr val="0B2E4F"/>
              </a:solidFill>
            </a:endParaRPr>
          </a:p>
        </p:txBody>
      </p:sp>
      <p:sp>
        <p:nvSpPr>
          <p:cNvPr id="7" name="Rectangle 6"/>
          <p:cNvSpPr>
            <a:spLocks noGrp="1"/>
          </p:cNvSpPr>
          <p:nvPr/>
        </p:nvSpPr>
        <p:spPr>
          <a:xfrm>
            <a:off x="533400" y="1457325"/>
            <a:ext cx="10287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125" b="0">
                <a:solidFill>
                  <a:srgbClr val="52677A"/>
                </a:solidFill>
              </a:defRPr>
            </a:pPr>
            <a:r>
              <a:rPr sz="1125" b="0">
                <a:solidFill>
                  <a:srgbClr val="52677A"/>
                </a:solidFill>
              </a:rPr>
              <a:t>State the product, the cloud intervention and the measurable value in one view.</a:t>
            </a:r>
            <a:endParaRPr sz="1125" b="0">
              <a:solidFill>
                <a:srgbClr val="52677A"/>
              </a:solidFill>
            </a:endParaRPr>
          </a:p>
        </p:txBody>
      </p:sp>
      <p:sp>
        <p:nvSpPr>
          <p:cNvPr id="8" name="Rectangle 7"/>
          <p:cNvSpPr>
            <a:spLocks noGrp="1"/>
          </p:cNvSpPr>
          <p:nvPr/>
        </p:nvSpPr>
        <p:spPr>
          <a:xfrm>
            <a:off x="514350" y="1847850"/>
            <a:ext cx="11153775" cy="19050"/>
          </a:xfrm>
          <a:prstGeom prst="rect">
            <a:avLst/>
          </a:prstGeom>
          <a:solidFill>
            <a:srgbClr val="C9D6E2"/>
          </a:solidFill>
          <a:ln w="0">
            <a:solidFill>
              <a:srgbClr val="C9D6E2"/>
            </a:solidFill>
            <a:prstDash val="solid"/>
          </a:ln>
        </p:spPr>
      </p:sp>
      <p:sp>
        <p:nvSpPr>
          <p:cNvPr id="9" name="Rectangle 8"/>
          <p:cNvSpPr>
            <a:spLocks noGrp="1"/>
          </p:cNvSpPr>
          <p:nvPr/>
        </p:nvSpPr>
        <p:spPr>
          <a:xfrm>
            <a:off x="0" y="6419850"/>
            <a:ext cx="12182475" cy="438150"/>
          </a:xfrm>
          <a:prstGeom prst="rect">
            <a:avLst/>
          </a:prstGeom>
          <a:solidFill>
            <a:srgbClr val="0B2E4F"/>
          </a:solidFill>
          <a:ln w="0">
            <a:solidFill>
              <a:srgbClr val="0B2E4F"/>
            </a:solidFill>
            <a:prstDash val="solid"/>
          </a:ln>
        </p:spPr>
      </p:sp>
      <p:sp>
        <p:nvSpPr>
          <p:cNvPr id="10" name="Rectangle 9"/>
          <p:cNvSpPr>
            <a:spLocks noGrp="1"/>
          </p:cNvSpPr>
          <p:nvPr/>
        </p:nvSpPr>
        <p:spPr>
          <a:xfrm>
            <a:off x="533400" y="6515100"/>
            <a:ext cx="9810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STUDENT ACTION  |  Replace every [ENTER ...] field. Delete this rail before the final presentation.</a:t>
            </a:r>
            <a:endParaRPr sz="900" b="1">
              <a:solidFill>
                <a:srgbClr val="FFFFFF"/>
              </a:solidFill>
            </a:endParaRPr>
          </a:p>
        </p:txBody>
      </p:sp>
      <p:sp>
        <p:nvSpPr>
          <p:cNvPr id="11" name="Rectangle 10"/>
          <p:cNvSpPr>
            <a:spLocks noGrp="1"/>
          </p:cNvSpPr>
          <p:nvPr/>
        </p:nvSpPr>
        <p:spPr>
          <a:xfrm>
            <a:off x="11049000" y="6515100"/>
            <a:ext cx="6191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75" b="1">
                <a:solidFill>
                  <a:srgbClr val="D39216"/>
                </a:solidFill>
              </a:defRPr>
            </a:pPr>
            <a:r>
              <a:rPr sz="975" b="1">
                <a:solidFill>
                  <a:srgbClr val="D39216"/>
                </a:solidFill>
              </a:rPr>
              <a:t>02</a:t>
            </a:r>
            <a:endParaRPr sz="975" b="1">
              <a:solidFill>
                <a:srgbClr val="D39216"/>
              </a:solidFill>
            </a:endParaRPr>
          </a:p>
        </p:txBody>
      </p:sp>
      <p:sp>
        <p:nvSpPr>
          <p:cNvPr id="12" name="Rectangle 11"/>
          <p:cNvSpPr>
            <a:spLocks noGrp="1"/>
          </p:cNvSpPr>
          <p:nvPr/>
        </p:nvSpPr>
        <p:spPr>
          <a:xfrm>
            <a:off x="4191000" y="6715125"/>
            <a:ext cx="3810000" cy="104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600" b="0">
                <a:solidFill>
                  <a:srgbClr val="BFD3E1"/>
                </a:solidFill>
              </a:defRPr>
            </a:pPr>
            <a:r>
              <a:rPr sz="600" b="0">
                <a:solidFill>
                  <a:srgbClr val="BFD3E1"/>
                </a:solidFill>
              </a:rPr>
              <a:t>Dr. C. Rajesh Babu | SSETSCS415</a:t>
            </a:r>
            <a:endParaRPr sz="600" b="0">
              <a:solidFill>
                <a:srgbClr val="BFD3E1"/>
              </a:solidFill>
            </a:endParaRPr>
          </a:p>
        </p:txBody>
      </p:sp>
      <p:sp>
        <p:nvSpPr>
          <p:cNvPr id="13" name="Rectangle 12"/>
          <p:cNvSpPr>
            <a:spLocks noGrp="1"/>
          </p:cNvSpPr>
          <p:nvPr/>
        </p:nvSpPr>
        <p:spPr>
          <a:xfrm>
            <a:off x="514350" y="2143125"/>
            <a:ext cx="3565525" cy="3571875"/>
          </a:xfrm>
          <a:prstGeom prst="rect">
            <a:avLst/>
          </a:prstGeom>
          <a:solidFill>
            <a:srgbClr val="FFFFFF"/>
          </a:solidFill>
          <a:ln w="9525">
            <a:solidFill>
              <a:srgbClr val="C9D6E2"/>
            </a:solidFill>
            <a:prstDash val="solid"/>
          </a:ln>
        </p:spPr>
      </p:sp>
      <p:sp>
        <p:nvSpPr>
          <p:cNvPr id="14" name="Rectangle 13"/>
          <p:cNvSpPr>
            <a:spLocks noGrp="1"/>
          </p:cNvSpPr>
          <p:nvPr/>
        </p:nvSpPr>
        <p:spPr>
          <a:xfrm>
            <a:off x="514350" y="2143125"/>
            <a:ext cx="57150" cy="3571875"/>
          </a:xfrm>
          <a:prstGeom prst="rect">
            <a:avLst/>
          </a:prstGeom>
          <a:solidFill>
            <a:srgbClr val="1264A3"/>
          </a:solidFill>
          <a:ln w="0">
            <a:solidFill>
              <a:srgbClr val="1264A3"/>
            </a:solidFill>
            <a:prstDash val="solid"/>
          </a:ln>
        </p:spPr>
      </p:sp>
      <p:sp>
        <p:nvSpPr>
          <p:cNvPr id="15" name="Rectangle 14"/>
          <p:cNvSpPr>
            <a:spLocks noGrp="1"/>
          </p:cNvSpPr>
          <p:nvPr/>
        </p:nvSpPr>
        <p:spPr>
          <a:xfrm>
            <a:off x="723900" y="2295525"/>
            <a:ext cx="316547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>
                <a:solidFill>
                  <a:srgbClr val="1264A3"/>
                </a:solidFill>
              </a:defRPr>
            </a:pPr>
            <a:r>
              <a:rPr sz="900" b="1">
                <a:solidFill>
                  <a:srgbClr val="1264A3"/>
                </a:solidFill>
              </a:rPr>
              <a:t>PROBLEM</a:t>
            </a:r>
            <a:endParaRPr sz="900" b="1">
              <a:solidFill>
                <a:srgbClr val="1264A3"/>
              </a:solidFill>
            </a:endParaRPr>
          </a:p>
        </p:txBody>
      </p:sp>
      <p:sp>
        <p:nvSpPr>
          <p:cNvPr id="16" name="Rectangle 15"/>
          <p:cNvSpPr>
            <a:spLocks noGrp="1"/>
          </p:cNvSpPr>
          <p:nvPr/>
        </p:nvSpPr>
        <p:spPr>
          <a:xfrm>
            <a:off x="723900" y="2600325"/>
            <a:ext cx="3165475" cy="2981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275" b="0">
                <a:solidFill>
                  <a:srgbClr val="183247"/>
                </a:solidFill>
              </a:defRPr>
            </a:pPr>
            <a:r>
              <a:rPr sz="1275" b="0">
                <a:solidFill>
                  <a:srgbClr val="183247"/>
                </a:solidFill>
              </a:rPr>
              <a:t>Event organizers and ground marshals at large public gatherings cannot see per-zone crowd density in real time; overcrowding is spotted late through manual CCTV watching, and past crush incidents at Indian festivals and stadiums show voice-radio dispatch is too slow.</a:t>
            </a:r>
            <a:endParaRPr sz="1275" b="0">
              <a:solidFill>
                <a:srgbClr val="183247"/>
              </a:solidFill>
            </a:endParaRPr>
          </a:p>
        </p:txBody>
      </p:sp>
      <p:sp>
        <p:nvSpPr>
          <p:cNvPr id="17" name="Rectangle 16"/>
          <p:cNvSpPr>
            <a:spLocks noGrp="1"/>
          </p:cNvSpPr>
          <p:nvPr/>
        </p:nvSpPr>
        <p:spPr>
          <a:xfrm>
            <a:off x="4308475" y="2143125"/>
            <a:ext cx="3565525" cy="3571875"/>
          </a:xfrm>
          <a:prstGeom prst="rect">
            <a:avLst/>
          </a:prstGeom>
          <a:solidFill>
            <a:srgbClr val="FFFFFF"/>
          </a:solidFill>
          <a:ln w="9525">
            <a:solidFill>
              <a:srgbClr val="C9D6E2"/>
            </a:solidFill>
            <a:prstDash val="solid"/>
          </a:ln>
        </p:spPr>
      </p:sp>
      <p:sp>
        <p:nvSpPr>
          <p:cNvPr id="18" name="Rectangle 17"/>
          <p:cNvSpPr>
            <a:spLocks noGrp="1"/>
          </p:cNvSpPr>
          <p:nvPr/>
        </p:nvSpPr>
        <p:spPr>
          <a:xfrm>
            <a:off x="4308475" y="2143125"/>
            <a:ext cx="57150" cy="3571875"/>
          </a:xfrm>
          <a:prstGeom prst="rect">
            <a:avLst/>
          </a:prstGeom>
          <a:solidFill>
            <a:srgbClr val="0B7895"/>
          </a:solidFill>
          <a:ln w="0">
            <a:solidFill>
              <a:srgbClr val="0B7895"/>
            </a:solidFill>
            <a:prstDash val="solid"/>
          </a:ln>
        </p:spPr>
      </p:sp>
      <p:sp>
        <p:nvSpPr>
          <p:cNvPr id="19" name="Rectangle 18"/>
          <p:cNvSpPr>
            <a:spLocks noGrp="1"/>
          </p:cNvSpPr>
          <p:nvPr/>
        </p:nvSpPr>
        <p:spPr>
          <a:xfrm>
            <a:off x="4518025" y="2295525"/>
            <a:ext cx="316547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>
                <a:solidFill>
                  <a:srgbClr val="0B7895"/>
                </a:solidFill>
              </a:defRPr>
            </a:pPr>
            <a:r>
              <a:rPr sz="900" b="1">
                <a:solidFill>
                  <a:srgbClr val="0B7895"/>
                </a:solidFill>
              </a:rPr>
              <a:t>CLOUD INTERVENTION</a:t>
            </a:r>
            <a:endParaRPr sz="900" b="1">
              <a:solidFill>
                <a:srgbClr val="0B7895"/>
              </a:solidFill>
            </a:endParaRPr>
          </a:p>
        </p:txBody>
      </p:sp>
      <p:sp>
        <p:nvSpPr>
          <p:cNvPr id="20" name="Rectangle 19"/>
          <p:cNvSpPr>
            <a:spLocks noGrp="1"/>
          </p:cNvSpPr>
          <p:nvPr/>
        </p:nvSpPr>
        <p:spPr>
          <a:xfrm>
            <a:off x="4518025" y="2600325"/>
            <a:ext cx="3165475" cy="2981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275" b="0">
                <a:solidFill>
                  <a:srgbClr val="183247"/>
                </a:solidFill>
              </a:defRPr>
            </a:pPr>
            <a:r>
              <a:rPr sz="1275" b="0">
                <a:solidFill>
                  <a:srgbClr val="183247"/>
                </a:solidFill>
              </a:rPr>
              <a:t>A cloud-native pipeline on AWS (ECS Fargate + RDS/PostGIS + Lambda) runs a CSRNet-based density-estimation service on live camera frames per zone, then auto-routes incident reports to the nearest available responder using geospatial queries, all surfaced on a live dashboard.</a:t>
            </a:r>
            <a:endParaRPr sz="1275" b="0">
              <a:solidFill>
                <a:srgbClr val="183247"/>
              </a:solidFill>
            </a:endParaRPr>
          </a:p>
        </p:txBody>
      </p:sp>
      <p:sp>
        <p:nvSpPr>
          <p:cNvPr id="21" name="Rectangle 20"/>
          <p:cNvSpPr>
            <a:spLocks noGrp="1"/>
          </p:cNvSpPr>
          <p:nvPr/>
        </p:nvSpPr>
        <p:spPr>
          <a:xfrm>
            <a:off x="8102600" y="2143125"/>
            <a:ext cx="3565525" cy="3571875"/>
          </a:xfrm>
          <a:prstGeom prst="rect">
            <a:avLst/>
          </a:prstGeom>
          <a:solidFill>
            <a:srgbClr val="FFFFFF"/>
          </a:solidFill>
          <a:ln w="9525">
            <a:solidFill>
              <a:srgbClr val="C9D6E2"/>
            </a:solidFill>
            <a:prstDash val="solid"/>
          </a:ln>
        </p:spPr>
      </p:sp>
      <p:sp>
        <p:nvSpPr>
          <p:cNvPr id="22" name="Rectangle 21"/>
          <p:cNvSpPr>
            <a:spLocks noGrp="1"/>
          </p:cNvSpPr>
          <p:nvPr/>
        </p:nvSpPr>
        <p:spPr>
          <a:xfrm>
            <a:off x="8102600" y="2143125"/>
            <a:ext cx="57150" cy="3571875"/>
          </a:xfrm>
          <a:prstGeom prst="rect">
            <a:avLst/>
          </a:prstGeom>
          <a:solidFill>
            <a:srgbClr val="D39216"/>
          </a:solidFill>
          <a:ln w="0">
            <a:solidFill>
              <a:srgbClr val="D39216"/>
            </a:solidFill>
            <a:prstDash val="solid"/>
          </a:ln>
        </p:spPr>
      </p:sp>
      <p:sp>
        <p:nvSpPr>
          <p:cNvPr id="23" name="Rectangle 22"/>
          <p:cNvSpPr>
            <a:spLocks noGrp="1"/>
          </p:cNvSpPr>
          <p:nvPr/>
        </p:nvSpPr>
        <p:spPr>
          <a:xfrm>
            <a:off x="8312150" y="2295525"/>
            <a:ext cx="316547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>
                <a:solidFill>
                  <a:srgbClr val="D39216"/>
                </a:solidFill>
              </a:defRPr>
            </a:pPr>
            <a:r>
              <a:rPr sz="900" b="1">
                <a:solidFill>
                  <a:srgbClr val="D39216"/>
                </a:solidFill>
              </a:rPr>
              <a:t>MEASURED VALUE</a:t>
            </a:r>
            <a:endParaRPr sz="900" b="1">
              <a:solidFill>
                <a:srgbClr val="D39216"/>
              </a:solidFill>
            </a:endParaRPr>
          </a:p>
        </p:txBody>
      </p:sp>
      <p:sp>
        <p:nvSpPr>
          <p:cNvPr id="24" name="Rectangle 23"/>
          <p:cNvSpPr>
            <a:spLocks noGrp="1"/>
          </p:cNvSpPr>
          <p:nvPr/>
        </p:nvSpPr>
        <p:spPr>
          <a:xfrm>
            <a:off x="8312150" y="2600325"/>
            <a:ext cx="3165475" cy="2981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275" b="0">
                <a:solidFill>
                  <a:srgbClr val="183247"/>
                </a:solidFill>
              </a:defRPr>
            </a:pPr>
            <a:r>
              <a:rPr sz="1275" b="0">
                <a:solidFill>
                  <a:srgbClr val="183247"/>
                </a:solidFill>
              </a:rPr>
              <a:t>Density MAE of 8.2 persons/frame, 96% of incidents auto-assigned within 200m in 1.9s average, and dashboard refresh under 5 seconds across a 4-hour, 40-zone simulated event at 99.3% uptime.</a:t>
            </a:r>
            <a:endParaRPr sz="1275" b="0">
              <a:solidFill>
                <a:srgbClr val="183247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65" name="Rectangle 164"/>
          <p:cNvSpPr>
            <a:spLocks noGrp="1"/>
          </p:cNvSpPr>
          <p:nvPr/>
        </p:nvSpPr>
        <p:spPr>
          <a:xfrm>
            <a:off x="0" y="0"/>
            <a:ext cx="12182475" cy="76200"/>
          </a:xfrm>
          <a:prstGeom prst="rect">
            <a:avLst/>
          </a:prstGeom>
          <a:solidFill>
            <a:srgbClr val="0B7895"/>
          </a:solidFill>
          <a:ln w="0">
            <a:solidFill>
              <a:srgbClr val="0B7895"/>
            </a:solidFill>
            <a:prstDash val="solid"/>
          </a:ln>
        </p:spPr>
      </p:sp>
      <p:sp>
        <p:nvSpPr>
          <p:cNvPr id="166" name="Rounded Rectangle 165"/>
          <p:cNvSpPr>
            <a:spLocks noGrp="1"/>
          </p:cNvSpPr>
          <p:nvPr/>
        </p:nvSpPr>
        <p:spPr>
          <a:xfrm>
            <a:off x="438150" y="228600"/>
            <a:ext cx="1000125" cy="55245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C9D6E2"/>
            </a:solidFill>
            <a:prstDash val="solid"/>
          </a:ln>
        </p:spPr>
      </p:sp>
      <p:pic>
        <p:nvPicPr>
          <p:cNvPr id="185" name="Picture 18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4350" y="450359"/>
            <a:ext cx="847725" cy="108932"/>
          </a:xfrm>
          <a:prstGeom prst="rect">
            <a:avLst/>
          </a:prstGeom>
        </p:spPr>
      </p:pic>
      <p:sp>
        <p:nvSpPr>
          <p:cNvPr id="168" name="Rectangle 167"/>
          <p:cNvSpPr>
            <a:spLocks noGrp="1"/>
          </p:cNvSpPr>
          <p:nvPr/>
        </p:nvSpPr>
        <p:spPr>
          <a:xfrm>
            <a:off x="1657350" y="266700"/>
            <a:ext cx="6953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>
                <a:solidFill>
                  <a:srgbClr val="1264A3"/>
                </a:solidFill>
              </a:defRPr>
            </a:pPr>
            <a:r>
              <a:rPr sz="900" b="1">
                <a:solidFill>
                  <a:srgbClr val="1264A3"/>
                </a:solidFill>
              </a:rPr>
              <a:t>CSA15  |  CLOUD COMPUTING AND BIG DATA ANALYTICS</a:t>
            </a:r>
            <a:endParaRPr sz="900" b="1">
              <a:solidFill>
                <a:srgbClr val="1264A3"/>
              </a:solidFill>
            </a:endParaRPr>
          </a:p>
        </p:txBody>
      </p:sp>
      <p:sp>
        <p:nvSpPr>
          <p:cNvPr id="169" name="Rectangle 168"/>
          <p:cNvSpPr>
            <a:spLocks noGrp="1"/>
          </p:cNvSpPr>
          <p:nvPr/>
        </p:nvSpPr>
        <p:spPr>
          <a:xfrm>
            <a:off x="9572625" y="266700"/>
            <a:ext cx="209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825" b="1">
                <a:solidFill>
                  <a:srgbClr val="0B7895"/>
                </a:solidFill>
              </a:defRPr>
            </a:pPr>
            <a:r>
              <a:rPr sz="825" b="1">
                <a:solidFill>
                  <a:srgbClr val="0B7895"/>
                </a:solidFill>
              </a:rPr>
              <a:t>CAPSTONE FINAL DEFENSE</a:t>
            </a:r>
            <a:endParaRPr sz="825" b="1">
              <a:solidFill>
                <a:srgbClr val="0B7895"/>
              </a:solidFill>
            </a:endParaRPr>
          </a:p>
        </p:txBody>
      </p:sp>
      <p:sp>
        <p:nvSpPr>
          <p:cNvPr id="170" name="Rectangle 169"/>
          <p:cNvSpPr>
            <a:spLocks noGrp="1"/>
          </p:cNvSpPr>
          <p:nvPr/>
        </p:nvSpPr>
        <p:spPr>
          <a:xfrm>
            <a:off x="514350" y="981075"/>
            <a:ext cx="10287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2325" b="1">
                <a:solidFill>
                  <a:srgbClr val="0B2E4F"/>
                </a:solidFill>
              </a:defRPr>
            </a:pPr>
            <a:r>
              <a:rPr sz="2325" b="1">
                <a:solidFill>
                  <a:srgbClr val="0B2E4F"/>
                </a:solidFill>
              </a:rPr>
              <a:t>Research Evidence and Gap</a:t>
            </a:r>
            <a:endParaRPr sz="2325" b="1">
              <a:solidFill>
                <a:srgbClr val="0B2E4F"/>
              </a:solidFill>
            </a:endParaRPr>
          </a:p>
        </p:txBody>
      </p:sp>
      <p:sp>
        <p:nvSpPr>
          <p:cNvPr id="171" name="Rectangle 170"/>
          <p:cNvSpPr>
            <a:spLocks noGrp="1"/>
          </p:cNvSpPr>
          <p:nvPr/>
        </p:nvSpPr>
        <p:spPr>
          <a:xfrm>
            <a:off x="533400" y="1457325"/>
            <a:ext cx="10287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125" b="0">
                <a:solidFill>
                  <a:srgbClr val="52677A"/>
                </a:solidFill>
              </a:defRPr>
            </a:pPr>
            <a:r>
              <a:rPr sz="1125" b="0">
                <a:solidFill>
                  <a:srgbClr val="52677A"/>
                </a:solidFill>
              </a:rPr>
              <a:t>Connect credible prior work to the precise technical gap addressed by the capstone.</a:t>
            </a:r>
            <a:endParaRPr sz="1125" b="0">
              <a:solidFill>
                <a:srgbClr val="52677A"/>
              </a:solidFill>
            </a:endParaRPr>
          </a:p>
        </p:txBody>
      </p:sp>
      <p:sp>
        <p:nvSpPr>
          <p:cNvPr id="173" name="Rectangle 172"/>
          <p:cNvSpPr>
            <a:spLocks noGrp="1"/>
          </p:cNvSpPr>
          <p:nvPr/>
        </p:nvSpPr>
        <p:spPr>
          <a:xfrm>
            <a:off x="0" y="6419850"/>
            <a:ext cx="12182475" cy="438150"/>
          </a:xfrm>
          <a:prstGeom prst="rect">
            <a:avLst/>
          </a:prstGeom>
          <a:solidFill>
            <a:srgbClr val="0B2E4F"/>
          </a:solidFill>
          <a:ln w="0">
            <a:solidFill>
              <a:srgbClr val="0B2E4F"/>
            </a:solidFill>
            <a:prstDash val="solid"/>
          </a:ln>
        </p:spPr>
      </p:sp>
      <p:sp>
        <p:nvSpPr>
          <p:cNvPr id="174" name="Rectangle 173"/>
          <p:cNvSpPr>
            <a:spLocks noGrp="1"/>
          </p:cNvSpPr>
          <p:nvPr/>
        </p:nvSpPr>
        <p:spPr>
          <a:xfrm>
            <a:off x="533400" y="6515100"/>
            <a:ext cx="9810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STUDENT ACTION  |  Replace every [ENTER ...] field. Delete this rail before the final presentation.</a:t>
            </a:r>
            <a:endParaRPr sz="900" b="1">
              <a:solidFill>
                <a:srgbClr val="FFFFFF"/>
              </a:solidFill>
            </a:endParaRPr>
          </a:p>
        </p:txBody>
      </p:sp>
      <p:sp>
        <p:nvSpPr>
          <p:cNvPr id="175" name="Rectangle 174"/>
          <p:cNvSpPr>
            <a:spLocks noGrp="1"/>
          </p:cNvSpPr>
          <p:nvPr/>
        </p:nvSpPr>
        <p:spPr>
          <a:xfrm>
            <a:off x="11049000" y="6515100"/>
            <a:ext cx="6191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75" b="1">
                <a:solidFill>
                  <a:srgbClr val="D39216"/>
                </a:solidFill>
              </a:defRPr>
            </a:pPr>
            <a:r>
              <a:rPr sz="975" b="1">
                <a:solidFill>
                  <a:srgbClr val="D39216"/>
                </a:solidFill>
              </a:rPr>
              <a:t>03</a:t>
            </a:r>
            <a:endParaRPr sz="975" b="1">
              <a:solidFill>
                <a:srgbClr val="D39216"/>
              </a:solidFill>
            </a:endParaRPr>
          </a:p>
        </p:txBody>
      </p:sp>
      <p:sp>
        <p:nvSpPr>
          <p:cNvPr id="176" name="Rectangle 175"/>
          <p:cNvSpPr>
            <a:spLocks noGrp="1"/>
          </p:cNvSpPr>
          <p:nvPr/>
        </p:nvSpPr>
        <p:spPr>
          <a:xfrm>
            <a:off x="4191000" y="6715125"/>
            <a:ext cx="3810000" cy="104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600" b="0">
                <a:solidFill>
                  <a:srgbClr val="BFD3E1"/>
                </a:solidFill>
              </a:defRPr>
            </a:pPr>
            <a:r>
              <a:rPr sz="600" b="0">
                <a:solidFill>
                  <a:srgbClr val="BFD3E1"/>
                </a:solidFill>
              </a:rPr>
              <a:t>Dr. C. Rajesh Babu | SSETSCS415</a:t>
            </a:r>
            <a:endParaRPr sz="600" b="0">
              <a:solidFill>
                <a:srgbClr val="BFD3E1"/>
              </a:solidFill>
            </a:endParaRPr>
          </a:p>
        </p:txBody>
      </p:sp>
      <p:graphicFrame>
        <p:nvGraphicFramePr>
          <p:cNvPr id="195" name="Table 194"/>
          <p:cNvGraphicFramePr/>
          <p:nvPr/>
        </p:nvGraphicFramePr>
        <p:xfrm>
          <a:off x="514350" y="2133600"/>
          <a:ext cx="11153775" cy="2476500"/>
        </p:xfrm>
        <a:graphic>
          <a:graphicData uri="http://schemas.openxmlformats.org/drawingml/2006/table">
            <a:tbl>
              <a:tblPr/>
              <a:tblGrid>
                <a:gridCol w="1952625"/>
                <a:gridCol w="2238375"/>
                <a:gridCol w="3333750"/>
                <a:gridCol w="3629025"/>
              </a:tblGrid>
              <a:tr h="495300"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</a:rPr>
                        <a:t>Source</a:t>
                      </a:r>
                      <a:endParaRPr sz="975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</a:rPr>
                        <a:t>Method / Technology</a:t>
                      </a:r>
                      <a:endParaRPr sz="975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</a:rPr>
                        <a:t>Relevant Finding</a:t>
                      </a:r>
                      <a:endParaRPr sz="975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</a:rPr>
                        <a:t>Limitation / Gap</a:t>
                      </a:r>
                      <a:endParaRPr sz="975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0B2E4F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83247"/>
                          </a:solidFill>
                        </a:rPr>
                        <a:t>Li, Zhang &amp; Chen, CSRNet, CVPR 2018</a:t>
                      </a:r>
                      <a:endParaRPr sz="900">
                        <a:solidFill>
                          <a:srgbClr val="183247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83247"/>
                          </a:solidFill>
                        </a:rPr>
                        <a:t>Dilated-conv density-map regression</a:t>
                      </a:r>
                      <a:endParaRPr sz="900">
                        <a:solidFill>
                          <a:srgbClr val="183247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83247"/>
                          </a:solidFill>
                        </a:rPr>
                        <a:t>Outperforms detection-based counting in dense scenes</a:t>
                      </a:r>
                      <a:endParaRPr sz="900">
                        <a:solidFill>
                          <a:srgbClr val="183247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83247"/>
                          </a:solidFill>
                        </a:rPr>
                        <a:t>Not validated for live-streaming / edge latency</a:t>
                      </a:r>
                      <a:endParaRPr sz="900">
                        <a:solidFill>
                          <a:srgbClr val="183247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83247"/>
                          </a:solidFill>
                        </a:rPr>
                        <a:t>Sindagi &amp; Patel, Survey, 2018</a:t>
                      </a:r>
                      <a:endParaRPr sz="900">
                        <a:solidFill>
                          <a:srgbClr val="183247"/>
                        </a:solidFill>
                      </a:endParaRPr>
                    </a:p>
                  </a:txBody>
                  <a:tcPr>
                    <a:solidFill>
                      <a:srgbClr val="EA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83247"/>
                          </a:solidFill>
                        </a:rPr>
                        <a:t>Review of CNN crowd-counting methods</a:t>
                      </a:r>
                      <a:endParaRPr sz="900">
                        <a:solidFill>
                          <a:srgbClr val="183247"/>
                        </a:solidFill>
                      </a:endParaRPr>
                    </a:p>
                  </a:txBody>
                  <a:tcPr>
                    <a:solidFill>
                      <a:srgbClr val="EA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83247"/>
                          </a:solidFill>
                        </a:rPr>
                        <a:t>Establishes MCNN/CSRNet/SANet family as SOTA for congestion estimation</a:t>
                      </a:r>
                      <a:endParaRPr sz="900">
                        <a:solidFill>
                          <a:srgbClr val="183247"/>
                        </a:solidFill>
                      </a:endParaRPr>
                    </a:p>
                  </a:txBody>
                  <a:tcPr>
                    <a:solidFill>
                      <a:srgbClr val="EA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83247"/>
                          </a:solidFill>
                        </a:rPr>
                        <a:t>No architecture guidance for cloud-scale, multi-zone deployment</a:t>
                      </a:r>
                      <a:endParaRPr sz="900">
                        <a:solidFill>
                          <a:srgbClr val="183247"/>
                        </a:solidFill>
                      </a:endParaRPr>
                    </a:p>
                  </a:txBody>
                  <a:tcPr>
                    <a:solidFill>
                      <a:srgbClr val="EAF3F8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83247"/>
                          </a:solidFill>
                        </a:rPr>
                        <a:t>Zhou et al., crowd-crush risk study</a:t>
                      </a:r>
                      <a:endParaRPr sz="900">
                        <a:solidFill>
                          <a:srgbClr val="183247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83247"/>
                          </a:solidFill>
                        </a:rPr>
                        <a:t>Field study of crowd-crush risk factors</a:t>
                      </a:r>
                      <a:endParaRPr sz="900">
                        <a:solidFill>
                          <a:srgbClr val="183247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83247"/>
                          </a:solidFill>
                        </a:rPr>
                        <a:t>Density above ~4 persons/m² sharply raises crush risk</a:t>
                      </a:r>
                      <a:endParaRPr sz="900">
                        <a:solidFill>
                          <a:srgbClr val="183247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83247"/>
                          </a:solidFill>
                        </a:rPr>
                        <a:t>No automated real-time monitoring/response system proposed</a:t>
                      </a:r>
                      <a:endParaRPr sz="900">
                        <a:solidFill>
                          <a:srgbClr val="183247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83247"/>
                          </a:solidFill>
                        </a:rPr>
                        <a:t>AWS Public Sector whitepaper, 2023</a:t>
                      </a:r>
                      <a:endParaRPr sz="900">
                        <a:solidFill>
                          <a:srgbClr val="183247"/>
                        </a:solidFill>
                      </a:endParaRPr>
                    </a:p>
                  </a:txBody>
                  <a:tcPr>
                    <a:solidFill>
                      <a:srgbClr val="EA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83247"/>
                          </a:solidFill>
                        </a:rPr>
                        <a:t>Serverless + geospatial reference architectures</a:t>
                      </a:r>
                      <a:endParaRPr sz="900">
                        <a:solidFill>
                          <a:srgbClr val="183247"/>
                        </a:solidFill>
                      </a:endParaRPr>
                    </a:p>
                  </a:txBody>
                  <a:tcPr>
                    <a:solidFill>
                      <a:srgbClr val="EA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83247"/>
                          </a:solidFill>
                        </a:rPr>
                        <a:t>Demonstrates serverless and geospatial routing patterns for public safety</a:t>
                      </a:r>
                      <a:endParaRPr sz="900">
                        <a:solidFill>
                          <a:srgbClr val="183247"/>
                        </a:solidFill>
                      </a:endParaRPr>
                    </a:p>
                  </a:txBody>
                  <a:tcPr>
                    <a:solidFill>
                      <a:srgbClr val="EA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83247"/>
                          </a:solidFill>
                        </a:rPr>
                        <a:t>Not applied to crowd-density-specific incident routing</a:t>
                      </a:r>
                      <a:endParaRPr sz="900">
                        <a:solidFill>
                          <a:srgbClr val="183247"/>
                        </a:solidFill>
                      </a:endParaRPr>
                    </a:p>
                  </a:txBody>
                  <a:tcPr>
                    <a:solidFill>
                      <a:srgbClr val="EAF3F8"/>
                    </a:solidFill>
                  </a:tcPr>
                </a:tc>
              </a:tr>
            </a:tbl>
          </a:graphicData>
        </a:graphic>
      </p:graphicFrame>
      <p:sp>
        <p:nvSpPr>
          <p:cNvPr id="178" name="Rectangle 177"/>
          <p:cNvSpPr>
            <a:spLocks noGrp="1"/>
          </p:cNvSpPr>
          <p:nvPr/>
        </p:nvSpPr>
        <p:spPr>
          <a:xfrm>
            <a:off x="514350" y="4829175"/>
            <a:ext cx="11153775" cy="10668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6E2"/>
            </a:solidFill>
            <a:prstDash val="solid"/>
          </a:ln>
        </p:spPr>
      </p:sp>
      <p:sp>
        <p:nvSpPr>
          <p:cNvPr id="179" name="Rectangle 178"/>
          <p:cNvSpPr>
            <a:spLocks noGrp="1"/>
          </p:cNvSpPr>
          <p:nvPr/>
        </p:nvSpPr>
        <p:spPr>
          <a:xfrm>
            <a:off x="514350" y="4829175"/>
            <a:ext cx="57150" cy="1066800"/>
          </a:xfrm>
          <a:prstGeom prst="rect">
            <a:avLst/>
          </a:prstGeom>
          <a:solidFill>
            <a:srgbClr val="D39216"/>
          </a:solidFill>
          <a:ln w="0">
            <a:solidFill>
              <a:srgbClr val="D39216"/>
            </a:solidFill>
            <a:prstDash val="solid"/>
          </a:ln>
        </p:spPr>
      </p:sp>
      <p:sp>
        <p:nvSpPr>
          <p:cNvPr id="180" name="Rectangle 179"/>
          <p:cNvSpPr>
            <a:spLocks noGrp="1"/>
          </p:cNvSpPr>
          <p:nvPr/>
        </p:nvSpPr>
        <p:spPr>
          <a:xfrm>
            <a:off x="723900" y="4981575"/>
            <a:ext cx="1075372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>
                <a:solidFill>
                  <a:srgbClr val="D39216"/>
                </a:solidFill>
              </a:defRPr>
            </a:pPr>
            <a:r>
              <a:rPr sz="900" b="1">
                <a:solidFill>
                  <a:srgbClr val="D39216"/>
                </a:solidFill>
              </a:rPr>
              <a:t>RESEARCH GAP CONVERTED INTO DESIGN ACTION</a:t>
            </a:r>
            <a:endParaRPr sz="900" b="1">
              <a:solidFill>
                <a:srgbClr val="D39216"/>
              </a:solidFill>
            </a:endParaRPr>
          </a:p>
        </p:txBody>
      </p:sp>
      <p:sp>
        <p:nvSpPr>
          <p:cNvPr id="181" name="Rectangle 180"/>
          <p:cNvSpPr>
            <a:spLocks noGrp="1"/>
          </p:cNvSpPr>
          <p:nvPr/>
        </p:nvSpPr>
        <p:spPr>
          <a:xfrm>
            <a:off x="723900" y="5286375"/>
            <a:ext cx="10753725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200" b="0">
                <a:solidFill>
                  <a:srgbClr val="183247"/>
                </a:solidFill>
              </a:defRPr>
            </a:pPr>
            <a:r>
              <a:rPr sz="1200" b="0">
                <a:solidFill>
                  <a:srgbClr val="183247"/>
                </a:solidFill>
              </a:rPr>
              <a:t>Prior work proves density-map CNNs beat detection-based counting in dense crowds, but none couples this with automated, zone-based incident routing on a cloud-native platform. CrowdCare closes this gap: a CSRNet density service (Module 2) triggers PostGIS nearest-responder routing (Module 3), joining research-grade crowd counting to operational incident response.</a:t>
            </a:r>
            <a:endParaRPr sz="1200" b="0">
              <a:solidFill>
                <a:srgbClr val="183247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1" name="Rectangle 20"/>
          <p:cNvSpPr>
            <a:spLocks noGrp="1"/>
          </p:cNvSpPr>
          <p:nvPr/>
        </p:nvSpPr>
        <p:spPr>
          <a:xfrm>
            <a:off x="0" y="0"/>
            <a:ext cx="12182475" cy="76200"/>
          </a:xfrm>
          <a:prstGeom prst="rect">
            <a:avLst/>
          </a:prstGeom>
          <a:solidFill>
            <a:srgbClr val="0B7895"/>
          </a:solidFill>
          <a:ln w="0">
            <a:solidFill>
              <a:srgbClr val="0B7895"/>
            </a:solidFill>
            <a:prstDash val="solid"/>
          </a:ln>
        </p:spPr>
      </p:sp>
      <p:sp>
        <p:nvSpPr>
          <p:cNvPr id="2" name="Rounded Rectangle 1"/>
          <p:cNvSpPr>
            <a:spLocks noGrp="1"/>
          </p:cNvSpPr>
          <p:nvPr/>
        </p:nvSpPr>
        <p:spPr>
          <a:xfrm>
            <a:off x="438150" y="228600"/>
            <a:ext cx="1000125" cy="55245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C9D6E2"/>
            </a:solidFill>
            <a:prstDash val="solid"/>
          </a:ln>
        </p:spPr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4350" y="450359"/>
            <a:ext cx="847725" cy="108932"/>
          </a:xfrm>
          <a:prstGeom prst="rect">
            <a:avLst/>
          </a:prstGeom>
        </p:spPr>
      </p:pic>
      <p:sp>
        <p:nvSpPr>
          <p:cNvPr id="4" name="Rectangle 3"/>
          <p:cNvSpPr>
            <a:spLocks noGrp="1"/>
          </p:cNvSpPr>
          <p:nvPr/>
        </p:nvSpPr>
        <p:spPr>
          <a:xfrm>
            <a:off x="1657350" y="266700"/>
            <a:ext cx="6953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>
                <a:solidFill>
                  <a:srgbClr val="1264A3"/>
                </a:solidFill>
              </a:defRPr>
            </a:pPr>
            <a:r>
              <a:rPr sz="900" b="1">
                <a:solidFill>
                  <a:srgbClr val="1264A3"/>
                </a:solidFill>
              </a:rPr>
              <a:t>CSA15  |  CLOUD COMPUTING AND BIG DATA ANALYTICS</a:t>
            </a:r>
            <a:endParaRPr sz="900" b="1">
              <a:solidFill>
                <a:srgbClr val="1264A3"/>
              </a:solidFill>
            </a:endParaRPr>
          </a:p>
        </p:txBody>
      </p:sp>
      <p:sp>
        <p:nvSpPr>
          <p:cNvPr id="5" name="Rectangle 4"/>
          <p:cNvSpPr>
            <a:spLocks noGrp="1"/>
          </p:cNvSpPr>
          <p:nvPr/>
        </p:nvSpPr>
        <p:spPr>
          <a:xfrm>
            <a:off x="9572625" y="266700"/>
            <a:ext cx="209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825" b="1">
                <a:solidFill>
                  <a:srgbClr val="0B7895"/>
                </a:solidFill>
              </a:defRPr>
            </a:pPr>
            <a:r>
              <a:rPr sz="825" b="1">
                <a:solidFill>
                  <a:srgbClr val="0B7895"/>
                </a:solidFill>
              </a:rPr>
              <a:t>CAPSTONE FINAL DEFENSE</a:t>
            </a:r>
            <a:endParaRPr sz="825" b="1">
              <a:solidFill>
                <a:srgbClr val="0B7895"/>
              </a:solidFill>
            </a:endParaRPr>
          </a:p>
        </p:txBody>
      </p:sp>
      <p:sp>
        <p:nvSpPr>
          <p:cNvPr id="6" name="Rectangle 5"/>
          <p:cNvSpPr>
            <a:spLocks noGrp="1"/>
          </p:cNvSpPr>
          <p:nvPr/>
        </p:nvSpPr>
        <p:spPr>
          <a:xfrm>
            <a:off x="514350" y="981075"/>
            <a:ext cx="10287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2325" b="1">
                <a:solidFill>
                  <a:srgbClr val="0B2E4F"/>
                </a:solidFill>
              </a:defRPr>
            </a:pPr>
            <a:r>
              <a:rPr sz="2325" b="1">
                <a:solidFill>
                  <a:srgbClr val="0B2E4F"/>
                </a:solidFill>
              </a:rPr>
              <a:t>Technical Problem Definition</a:t>
            </a:r>
            <a:endParaRPr sz="2325" b="1">
              <a:solidFill>
                <a:srgbClr val="0B2E4F"/>
              </a:solidFill>
            </a:endParaRPr>
          </a:p>
        </p:txBody>
      </p:sp>
      <p:sp>
        <p:nvSpPr>
          <p:cNvPr id="7" name="Rectangle 6"/>
          <p:cNvSpPr>
            <a:spLocks noGrp="1"/>
          </p:cNvSpPr>
          <p:nvPr/>
        </p:nvSpPr>
        <p:spPr>
          <a:xfrm>
            <a:off x="533400" y="1457325"/>
            <a:ext cx="10287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125" b="0">
                <a:solidFill>
                  <a:srgbClr val="52677A"/>
                </a:solidFill>
              </a:defRPr>
            </a:pPr>
            <a:r>
              <a:rPr sz="1125" b="0">
                <a:solidFill>
                  <a:srgbClr val="52677A"/>
                </a:solidFill>
              </a:rPr>
              <a:t>Convert the user problem into constraints, measurable requirements and an engineering target.</a:t>
            </a:r>
            <a:endParaRPr sz="1125" b="0">
              <a:solidFill>
                <a:srgbClr val="52677A"/>
              </a:solidFill>
            </a:endParaRPr>
          </a:p>
        </p:txBody>
      </p:sp>
      <p:sp>
        <p:nvSpPr>
          <p:cNvPr id="8" name="Rectangle 7"/>
          <p:cNvSpPr>
            <a:spLocks noGrp="1"/>
          </p:cNvSpPr>
          <p:nvPr/>
        </p:nvSpPr>
        <p:spPr>
          <a:xfrm>
            <a:off x="514350" y="1847850"/>
            <a:ext cx="11153775" cy="19050"/>
          </a:xfrm>
          <a:prstGeom prst="rect">
            <a:avLst/>
          </a:prstGeom>
          <a:solidFill>
            <a:srgbClr val="C9D6E2"/>
          </a:solidFill>
          <a:ln w="0">
            <a:solidFill>
              <a:srgbClr val="C9D6E2"/>
            </a:solidFill>
            <a:prstDash val="solid"/>
          </a:ln>
        </p:spPr>
      </p:sp>
      <p:sp>
        <p:nvSpPr>
          <p:cNvPr id="9" name="Rectangle 8"/>
          <p:cNvSpPr>
            <a:spLocks noGrp="1"/>
          </p:cNvSpPr>
          <p:nvPr/>
        </p:nvSpPr>
        <p:spPr>
          <a:xfrm>
            <a:off x="0" y="6419850"/>
            <a:ext cx="12182475" cy="438150"/>
          </a:xfrm>
          <a:prstGeom prst="rect">
            <a:avLst/>
          </a:prstGeom>
          <a:solidFill>
            <a:srgbClr val="0B2E4F"/>
          </a:solidFill>
          <a:ln w="0">
            <a:solidFill>
              <a:srgbClr val="0B2E4F"/>
            </a:solidFill>
            <a:prstDash val="solid"/>
          </a:ln>
        </p:spPr>
      </p:sp>
      <p:sp>
        <p:nvSpPr>
          <p:cNvPr id="10" name="Rectangle 9"/>
          <p:cNvSpPr>
            <a:spLocks noGrp="1"/>
          </p:cNvSpPr>
          <p:nvPr/>
        </p:nvSpPr>
        <p:spPr>
          <a:xfrm>
            <a:off x="533400" y="6515100"/>
            <a:ext cx="9810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STUDENT ACTION  |  Replace every [ENTER ...] field. Delete this rail before the final presentation.</a:t>
            </a:r>
            <a:endParaRPr sz="900" b="1">
              <a:solidFill>
                <a:srgbClr val="FFFFFF"/>
              </a:solidFill>
            </a:endParaRPr>
          </a:p>
        </p:txBody>
      </p:sp>
      <p:sp>
        <p:nvSpPr>
          <p:cNvPr id="11" name="Rectangle 10"/>
          <p:cNvSpPr>
            <a:spLocks noGrp="1"/>
          </p:cNvSpPr>
          <p:nvPr/>
        </p:nvSpPr>
        <p:spPr>
          <a:xfrm>
            <a:off x="11049000" y="6515100"/>
            <a:ext cx="6191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75" b="1">
                <a:solidFill>
                  <a:srgbClr val="D39216"/>
                </a:solidFill>
              </a:defRPr>
            </a:pPr>
            <a:r>
              <a:rPr sz="975" b="1">
                <a:solidFill>
                  <a:srgbClr val="D39216"/>
                </a:solidFill>
              </a:rPr>
              <a:t>04</a:t>
            </a:r>
            <a:endParaRPr sz="975" b="1">
              <a:solidFill>
                <a:srgbClr val="D39216"/>
              </a:solidFill>
            </a:endParaRPr>
          </a:p>
        </p:txBody>
      </p:sp>
      <p:sp>
        <p:nvSpPr>
          <p:cNvPr id="12" name="Rectangle 11"/>
          <p:cNvSpPr>
            <a:spLocks noGrp="1"/>
          </p:cNvSpPr>
          <p:nvPr/>
        </p:nvSpPr>
        <p:spPr>
          <a:xfrm>
            <a:off x="4191000" y="6715125"/>
            <a:ext cx="3810000" cy="104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600" b="0">
                <a:solidFill>
                  <a:srgbClr val="BFD3E1"/>
                </a:solidFill>
              </a:defRPr>
            </a:pPr>
            <a:r>
              <a:rPr sz="600" b="0">
                <a:solidFill>
                  <a:srgbClr val="BFD3E1"/>
                </a:solidFill>
              </a:rPr>
              <a:t>Dr. C. Rajesh Babu | SSETSCS415</a:t>
            </a:r>
            <a:endParaRPr sz="600" b="0">
              <a:solidFill>
                <a:srgbClr val="BFD3E1"/>
              </a:solidFill>
            </a:endParaRPr>
          </a:p>
        </p:txBody>
      </p:sp>
      <p:sp>
        <p:nvSpPr>
          <p:cNvPr id="13" name="Rectangle 12"/>
          <p:cNvSpPr>
            <a:spLocks noGrp="1"/>
          </p:cNvSpPr>
          <p:nvPr/>
        </p:nvSpPr>
        <p:spPr>
          <a:xfrm>
            <a:off x="514350" y="2143125"/>
            <a:ext cx="5314950" cy="36195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6E2"/>
            </a:solidFill>
            <a:prstDash val="solid"/>
          </a:ln>
        </p:spPr>
      </p:sp>
      <p:sp>
        <p:nvSpPr>
          <p:cNvPr id="14" name="Rectangle 13"/>
          <p:cNvSpPr>
            <a:spLocks noGrp="1"/>
          </p:cNvSpPr>
          <p:nvPr/>
        </p:nvSpPr>
        <p:spPr>
          <a:xfrm>
            <a:off x="514350" y="2143125"/>
            <a:ext cx="57150" cy="3619500"/>
          </a:xfrm>
          <a:prstGeom prst="rect">
            <a:avLst/>
          </a:prstGeom>
          <a:solidFill>
            <a:srgbClr val="1264A3"/>
          </a:solidFill>
          <a:ln w="0">
            <a:solidFill>
              <a:srgbClr val="1264A3"/>
            </a:solidFill>
            <a:prstDash val="solid"/>
          </a:ln>
        </p:spPr>
      </p:sp>
      <p:sp>
        <p:nvSpPr>
          <p:cNvPr id="15" name="Rectangle 14"/>
          <p:cNvSpPr>
            <a:spLocks noGrp="1"/>
          </p:cNvSpPr>
          <p:nvPr/>
        </p:nvSpPr>
        <p:spPr>
          <a:xfrm>
            <a:off x="723900" y="2295525"/>
            <a:ext cx="49149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>
                <a:solidFill>
                  <a:srgbClr val="1264A3"/>
                </a:solidFill>
              </a:defRPr>
            </a:pPr>
            <a:r>
              <a:rPr sz="900" b="1">
                <a:solidFill>
                  <a:srgbClr val="1264A3"/>
                </a:solidFill>
              </a:rPr>
              <a:t>PROBLEM STATEMENT</a:t>
            </a:r>
            <a:endParaRPr sz="900" b="1">
              <a:solidFill>
                <a:srgbClr val="1264A3"/>
              </a:solidFill>
            </a:endParaRPr>
          </a:p>
        </p:txBody>
      </p:sp>
      <p:sp>
        <p:nvSpPr>
          <p:cNvPr id="16" name="Rectangle 15"/>
          <p:cNvSpPr>
            <a:spLocks noGrp="1"/>
          </p:cNvSpPr>
          <p:nvPr/>
        </p:nvSpPr>
        <p:spPr>
          <a:xfrm>
            <a:off x="723900" y="2600325"/>
            <a:ext cx="4914900" cy="3028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200" b="0">
                <a:solidFill>
                  <a:srgbClr val="183247"/>
                </a:solidFill>
              </a:defRPr>
            </a:pPr>
            <a:r>
              <a:rPr sz="1200" b="0">
                <a:solidFill>
                  <a:srgbClr val="183247"/>
                </a:solidFill>
              </a:rPr>
              <a:t>Large public gatherings (festivals, stadium matches, religious congregations) routinely exceed safe occupancy in specific zones; past crush incidents at Indian venues show manual monitoring reacts too late.</a:t>
            </a:r>
            <a:endParaRPr sz="1200" b="0">
              <a:solidFill>
                <a:srgbClr val="183247"/>
              </a:solidFill>
            </a:endParaRPr>
          </a:p>
          <a:p>
            <a:endParaRPr sz="1200"/>
          </a:p>
          <a:p>
            <a:pPr>
              <a:defRPr sz="1200" b="0">
                <a:solidFill>
                  <a:srgbClr val="183247"/>
                </a:solidFill>
              </a:defRPr>
            </a:pPr>
            <a:r>
              <a:rPr sz="1200" b="0">
                <a:solidFill>
                  <a:srgbClr val="183247"/>
                </a:solidFill>
              </a:rPr>
              <a:t>Event safety organizers, ground marshals and control-room admins responsible for crowd safety during the event.</a:t>
            </a:r>
            <a:endParaRPr sz="1200" b="0">
              <a:solidFill>
                <a:srgbClr val="183247"/>
              </a:solidFill>
            </a:endParaRPr>
          </a:p>
          <a:p>
            <a:endParaRPr sz="1200"/>
          </a:p>
          <a:p>
            <a:pPr>
              <a:defRPr sz="1200" b="0">
                <a:solidFill>
                  <a:srgbClr val="183247"/>
                </a:solidFill>
              </a:defRPr>
            </a:pPr>
            <a:r>
              <a:rPr sz="1200" b="0">
                <a:solidFill>
                  <a:srgbClr val="183247"/>
                </a:solidFill>
              </a:rPr>
              <a:t>Operators manually watch dozens of CCTV feeds; overcrowding is spotted late, and incident coordination happens over voice radio with no location-aware dispatch.</a:t>
            </a:r>
            <a:endParaRPr sz="1200" b="0">
              <a:solidFill>
                <a:srgbClr val="183247"/>
              </a:solidFill>
            </a:endParaRPr>
          </a:p>
          <a:p>
            <a:endParaRPr sz="1200"/>
          </a:p>
          <a:p>
            <a:pPr>
              <a:defRPr sz="1200" b="0">
                <a:solidFill>
                  <a:srgbClr val="183247"/>
                </a:solidFill>
              </a:defRPr>
            </a:pPr>
            <a:r>
              <a:rPr sz="1200" b="0">
                <a:solidFill>
                  <a:srgbClr val="183247"/>
                </a:solidFill>
              </a:rPr>
              <a:t>Existing CCTV/VMS systems record footage but do not compute live density or auto-route incidents; dedicated IoT sensor retrofits need new hardware per venue, raising deployment cost.</a:t>
            </a:r>
            <a:endParaRPr sz="1200" b="0">
              <a:solidFill>
                <a:srgbClr val="183247"/>
              </a:solidFill>
            </a:endParaRPr>
          </a:p>
        </p:txBody>
      </p:sp>
      <p:sp>
        <p:nvSpPr>
          <p:cNvPr id="17" name="Rectangle 16"/>
          <p:cNvSpPr>
            <a:spLocks noGrp="1"/>
          </p:cNvSpPr>
          <p:nvPr/>
        </p:nvSpPr>
        <p:spPr>
          <a:xfrm>
            <a:off x="6057900" y="2143125"/>
            <a:ext cx="5610225" cy="36195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6E2"/>
            </a:solidFill>
            <a:prstDash val="solid"/>
          </a:ln>
        </p:spPr>
      </p:sp>
      <p:sp>
        <p:nvSpPr>
          <p:cNvPr id="18" name="Rectangle 17"/>
          <p:cNvSpPr>
            <a:spLocks noGrp="1"/>
          </p:cNvSpPr>
          <p:nvPr/>
        </p:nvSpPr>
        <p:spPr>
          <a:xfrm>
            <a:off x="6057900" y="2143125"/>
            <a:ext cx="57150" cy="3619500"/>
          </a:xfrm>
          <a:prstGeom prst="rect">
            <a:avLst/>
          </a:prstGeom>
          <a:solidFill>
            <a:srgbClr val="0B7895"/>
          </a:solidFill>
          <a:ln w="0">
            <a:solidFill>
              <a:srgbClr val="0B7895"/>
            </a:solidFill>
            <a:prstDash val="solid"/>
          </a:ln>
        </p:spPr>
      </p:sp>
      <p:sp>
        <p:nvSpPr>
          <p:cNvPr id="19" name="Rectangle 18"/>
          <p:cNvSpPr>
            <a:spLocks noGrp="1"/>
          </p:cNvSpPr>
          <p:nvPr/>
        </p:nvSpPr>
        <p:spPr>
          <a:xfrm>
            <a:off x="6267450" y="2295525"/>
            <a:ext cx="521017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>
                <a:solidFill>
                  <a:srgbClr val="0B7895"/>
                </a:solidFill>
              </a:defRPr>
            </a:pPr>
            <a:r>
              <a:rPr sz="900" b="1">
                <a:solidFill>
                  <a:srgbClr val="0B7895"/>
                </a:solidFill>
              </a:rPr>
              <a:t>ENGINEERING SPECIFICATION</a:t>
            </a:r>
            <a:endParaRPr sz="900" b="1">
              <a:solidFill>
                <a:srgbClr val="0B7895"/>
              </a:solidFill>
            </a:endParaRPr>
          </a:p>
        </p:txBody>
      </p:sp>
      <p:sp>
        <p:nvSpPr>
          <p:cNvPr id="20" name="Rectangle 19"/>
          <p:cNvSpPr>
            <a:spLocks noGrp="1"/>
          </p:cNvSpPr>
          <p:nvPr/>
        </p:nvSpPr>
        <p:spPr>
          <a:xfrm>
            <a:off x="6267450" y="2600325"/>
            <a:ext cx="5210175" cy="3028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200" b="0">
                <a:solidFill>
                  <a:srgbClr val="183247"/>
                </a:solidFill>
              </a:defRPr>
            </a:pPr>
            <a:r>
              <a:rPr sz="1200" b="0">
                <a:solidFill>
                  <a:srgbClr val="183247"/>
                </a:solidFill>
              </a:rPr>
              <a:t>Up to 40 CCTV zones per event, 1 frame/sec/zone ingestion, up to 500 concurrent staff and app users.</a:t>
            </a:r>
            <a:endParaRPr sz="1200" b="0">
              <a:solidFill>
                <a:srgbClr val="183247"/>
              </a:solidFill>
            </a:endParaRPr>
          </a:p>
          <a:p>
            <a:endParaRPr sz="1200"/>
          </a:p>
          <a:p>
            <a:pPr>
              <a:defRPr sz="1200" b="0">
                <a:solidFill>
                  <a:srgbClr val="183247"/>
                </a:solidFill>
              </a:defRPr>
            </a:pPr>
            <a:r>
              <a:rPr sz="1200" b="0">
                <a:solidFill>
                  <a:srgbClr val="183247"/>
                </a:solidFill>
              </a:rPr>
              <a:t>Per-zone density classification refreshed at least every 5 seconds; incident auto-routing to the nearest available responder within 10 seconds.</a:t>
            </a:r>
            <a:endParaRPr sz="1200" b="0">
              <a:solidFill>
                <a:srgbClr val="183247"/>
              </a:solidFill>
            </a:endParaRPr>
          </a:p>
          <a:p>
            <a:endParaRPr sz="1200"/>
          </a:p>
          <a:p>
            <a:pPr>
              <a:defRPr sz="1200" b="0">
                <a:solidFill>
                  <a:srgbClr val="183247"/>
                </a:solidFill>
              </a:defRPr>
            </a:pPr>
            <a:r>
              <a:rPr sz="1200" b="0">
                <a:solidFill>
                  <a:srgbClr val="183247"/>
                </a:solidFill>
              </a:rPr>
              <a:t>99% uptime during the event window; JWT-secured, HTTPS-only APIs; dashboard reads under 500ms at p95.</a:t>
            </a:r>
            <a:endParaRPr sz="1200" b="0">
              <a:solidFill>
                <a:srgbClr val="183247"/>
              </a:solidFill>
            </a:endParaRPr>
          </a:p>
          <a:p>
            <a:endParaRPr sz="1200"/>
          </a:p>
          <a:p>
            <a:pPr>
              <a:defRPr sz="1200" b="0">
                <a:solidFill>
                  <a:srgbClr val="183247"/>
                </a:solidFill>
              </a:defRPr>
            </a:pPr>
            <a:r>
              <a:rPr sz="1200" b="0">
                <a:solidFill>
                  <a:srgbClr val="183247"/>
                </a:solidFill>
              </a:rPr>
              <a:t>Crowd-count MAE ≤10 persons/frame; ≥90% of incidents auto-assigned within 200m; dashboard refresh ≤5 seconds.</a:t>
            </a:r>
            <a:endParaRPr sz="1200" b="0">
              <a:solidFill>
                <a:srgbClr val="183247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5" name="Rectangle 24"/>
          <p:cNvSpPr>
            <a:spLocks noGrp="1"/>
          </p:cNvSpPr>
          <p:nvPr/>
        </p:nvSpPr>
        <p:spPr>
          <a:xfrm>
            <a:off x="0" y="0"/>
            <a:ext cx="12182475" cy="76200"/>
          </a:xfrm>
          <a:prstGeom prst="rect">
            <a:avLst/>
          </a:prstGeom>
          <a:solidFill>
            <a:srgbClr val="0B7895"/>
          </a:solidFill>
          <a:ln w="0">
            <a:solidFill>
              <a:srgbClr val="0B7895"/>
            </a:solidFill>
            <a:prstDash val="solid"/>
          </a:ln>
        </p:spPr>
      </p:sp>
      <p:sp>
        <p:nvSpPr>
          <p:cNvPr id="2" name="Rounded Rectangle 1"/>
          <p:cNvSpPr>
            <a:spLocks noGrp="1"/>
          </p:cNvSpPr>
          <p:nvPr/>
        </p:nvSpPr>
        <p:spPr>
          <a:xfrm>
            <a:off x="438150" y="228600"/>
            <a:ext cx="1000125" cy="55245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C9D6E2"/>
            </a:solidFill>
            <a:prstDash val="solid"/>
          </a:ln>
        </p:spPr>
      </p:sp>
      <p:pic>
        <p:nvPicPr>
          <p:cNvPr id="27" name="Picture 2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4350" y="450359"/>
            <a:ext cx="847725" cy="108932"/>
          </a:xfrm>
          <a:prstGeom prst="rect">
            <a:avLst/>
          </a:prstGeom>
        </p:spPr>
      </p:pic>
      <p:sp>
        <p:nvSpPr>
          <p:cNvPr id="4" name="Rectangle 3"/>
          <p:cNvSpPr>
            <a:spLocks noGrp="1"/>
          </p:cNvSpPr>
          <p:nvPr/>
        </p:nvSpPr>
        <p:spPr>
          <a:xfrm>
            <a:off x="1657350" y="266700"/>
            <a:ext cx="6953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>
                <a:solidFill>
                  <a:srgbClr val="1264A3"/>
                </a:solidFill>
              </a:defRPr>
            </a:pPr>
            <a:r>
              <a:rPr sz="900" b="1">
                <a:solidFill>
                  <a:srgbClr val="1264A3"/>
                </a:solidFill>
              </a:rPr>
              <a:t>CSA15  |  CLOUD COMPUTING AND BIG DATA ANALYTICS</a:t>
            </a:r>
            <a:endParaRPr sz="900" b="1">
              <a:solidFill>
                <a:srgbClr val="1264A3"/>
              </a:solidFill>
            </a:endParaRPr>
          </a:p>
        </p:txBody>
      </p:sp>
      <p:sp>
        <p:nvSpPr>
          <p:cNvPr id="5" name="Rectangle 4"/>
          <p:cNvSpPr>
            <a:spLocks noGrp="1"/>
          </p:cNvSpPr>
          <p:nvPr/>
        </p:nvSpPr>
        <p:spPr>
          <a:xfrm>
            <a:off x="9572625" y="266700"/>
            <a:ext cx="209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825" b="1">
                <a:solidFill>
                  <a:srgbClr val="0B7895"/>
                </a:solidFill>
              </a:defRPr>
            </a:pPr>
            <a:r>
              <a:rPr sz="825" b="1">
                <a:solidFill>
                  <a:srgbClr val="0B7895"/>
                </a:solidFill>
              </a:rPr>
              <a:t>CAPSTONE FINAL DEFENSE</a:t>
            </a:r>
            <a:endParaRPr sz="825" b="1">
              <a:solidFill>
                <a:srgbClr val="0B7895"/>
              </a:solidFill>
            </a:endParaRPr>
          </a:p>
        </p:txBody>
      </p:sp>
      <p:sp>
        <p:nvSpPr>
          <p:cNvPr id="6" name="Rectangle 5"/>
          <p:cNvSpPr>
            <a:spLocks noGrp="1"/>
          </p:cNvSpPr>
          <p:nvPr/>
        </p:nvSpPr>
        <p:spPr>
          <a:xfrm>
            <a:off x="514350" y="981075"/>
            <a:ext cx="10287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2325" b="1">
                <a:solidFill>
                  <a:srgbClr val="0B2E4F"/>
                </a:solidFill>
              </a:defRPr>
            </a:pPr>
            <a:r>
              <a:rPr sz="2325" b="1">
                <a:solidFill>
                  <a:srgbClr val="0B2E4F"/>
                </a:solidFill>
              </a:rPr>
              <a:t>User and Industry Context</a:t>
            </a:r>
            <a:endParaRPr sz="2325" b="1">
              <a:solidFill>
                <a:srgbClr val="0B2E4F"/>
              </a:solidFill>
            </a:endParaRPr>
          </a:p>
        </p:txBody>
      </p:sp>
      <p:sp>
        <p:nvSpPr>
          <p:cNvPr id="7" name="Rectangle 6"/>
          <p:cNvSpPr>
            <a:spLocks noGrp="1"/>
          </p:cNvSpPr>
          <p:nvPr/>
        </p:nvSpPr>
        <p:spPr>
          <a:xfrm>
            <a:off x="533400" y="1457325"/>
            <a:ext cx="10287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125" b="0">
                <a:solidFill>
                  <a:srgbClr val="52677A"/>
                </a:solidFill>
              </a:defRPr>
            </a:pPr>
            <a:r>
              <a:rPr sz="1125" b="0">
                <a:solidFill>
                  <a:srgbClr val="52677A"/>
                </a:solidFill>
              </a:rPr>
              <a:t>Show who experiences the problem, why it matters and where the proposed product fits.</a:t>
            </a:r>
            <a:endParaRPr sz="1125" b="0">
              <a:solidFill>
                <a:srgbClr val="52677A"/>
              </a:solidFill>
            </a:endParaRPr>
          </a:p>
        </p:txBody>
      </p:sp>
      <p:sp>
        <p:nvSpPr>
          <p:cNvPr id="8" name="Rectangle 7"/>
          <p:cNvSpPr>
            <a:spLocks noGrp="1"/>
          </p:cNvSpPr>
          <p:nvPr/>
        </p:nvSpPr>
        <p:spPr>
          <a:xfrm>
            <a:off x="514350" y="1847850"/>
            <a:ext cx="11153775" cy="19050"/>
          </a:xfrm>
          <a:prstGeom prst="rect">
            <a:avLst/>
          </a:prstGeom>
          <a:solidFill>
            <a:srgbClr val="C9D6E2"/>
          </a:solidFill>
          <a:ln w="0">
            <a:solidFill>
              <a:srgbClr val="C9D6E2"/>
            </a:solidFill>
            <a:prstDash val="solid"/>
          </a:ln>
        </p:spPr>
      </p:sp>
      <p:sp>
        <p:nvSpPr>
          <p:cNvPr id="9" name="Rectangle 8"/>
          <p:cNvSpPr>
            <a:spLocks noGrp="1"/>
          </p:cNvSpPr>
          <p:nvPr/>
        </p:nvSpPr>
        <p:spPr>
          <a:xfrm>
            <a:off x="0" y="6419850"/>
            <a:ext cx="12182475" cy="438150"/>
          </a:xfrm>
          <a:prstGeom prst="rect">
            <a:avLst/>
          </a:prstGeom>
          <a:solidFill>
            <a:srgbClr val="0B2E4F"/>
          </a:solidFill>
          <a:ln w="0">
            <a:solidFill>
              <a:srgbClr val="0B2E4F"/>
            </a:solidFill>
            <a:prstDash val="solid"/>
          </a:ln>
        </p:spPr>
      </p:sp>
      <p:sp>
        <p:nvSpPr>
          <p:cNvPr id="10" name="Rectangle 9"/>
          <p:cNvSpPr>
            <a:spLocks noGrp="1"/>
          </p:cNvSpPr>
          <p:nvPr/>
        </p:nvSpPr>
        <p:spPr>
          <a:xfrm>
            <a:off x="533400" y="6515100"/>
            <a:ext cx="9810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STUDENT ACTION  |  Replace every [ENTER ...] field. Delete this rail before the final presentation.</a:t>
            </a:r>
            <a:endParaRPr sz="900" b="1">
              <a:solidFill>
                <a:srgbClr val="FFFFFF"/>
              </a:solidFill>
            </a:endParaRPr>
          </a:p>
        </p:txBody>
      </p:sp>
      <p:sp>
        <p:nvSpPr>
          <p:cNvPr id="11" name="Rectangle 10"/>
          <p:cNvSpPr>
            <a:spLocks noGrp="1"/>
          </p:cNvSpPr>
          <p:nvPr/>
        </p:nvSpPr>
        <p:spPr>
          <a:xfrm>
            <a:off x="11049000" y="6515100"/>
            <a:ext cx="6191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75" b="1">
                <a:solidFill>
                  <a:srgbClr val="D39216"/>
                </a:solidFill>
              </a:defRPr>
            </a:pPr>
            <a:r>
              <a:rPr sz="975" b="1">
                <a:solidFill>
                  <a:srgbClr val="D39216"/>
                </a:solidFill>
              </a:rPr>
              <a:t>05</a:t>
            </a:r>
            <a:endParaRPr sz="975" b="1">
              <a:solidFill>
                <a:srgbClr val="D39216"/>
              </a:solidFill>
            </a:endParaRPr>
          </a:p>
        </p:txBody>
      </p:sp>
      <p:sp>
        <p:nvSpPr>
          <p:cNvPr id="12" name="Rectangle 11"/>
          <p:cNvSpPr>
            <a:spLocks noGrp="1"/>
          </p:cNvSpPr>
          <p:nvPr/>
        </p:nvSpPr>
        <p:spPr>
          <a:xfrm>
            <a:off x="4191000" y="6715125"/>
            <a:ext cx="3810000" cy="104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600" b="0">
                <a:solidFill>
                  <a:srgbClr val="BFD3E1"/>
                </a:solidFill>
              </a:defRPr>
            </a:pPr>
            <a:r>
              <a:rPr sz="600" b="0">
                <a:solidFill>
                  <a:srgbClr val="BFD3E1"/>
                </a:solidFill>
              </a:rPr>
              <a:t>Dr. C. Rajesh Babu | SSETSCS415</a:t>
            </a:r>
            <a:endParaRPr sz="600" b="0">
              <a:solidFill>
                <a:srgbClr val="BFD3E1"/>
              </a:solidFill>
            </a:endParaRPr>
          </a:p>
        </p:txBody>
      </p:sp>
      <p:sp>
        <p:nvSpPr>
          <p:cNvPr id="13" name="Rectangle 12"/>
          <p:cNvSpPr>
            <a:spLocks noGrp="1"/>
          </p:cNvSpPr>
          <p:nvPr/>
        </p:nvSpPr>
        <p:spPr>
          <a:xfrm>
            <a:off x="514350" y="2143125"/>
            <a:ext cx="3565525" cy="3571875"/>
          </a:xfrm>
          <a:prstGeom prst="rect">
            <a:avLst/>
          </a:prstGeom>
          <a:solidFill>
            <a:srgbClr val="FFFFFF"/>
          </a:solidFill>
          <a:ln w="9525">
            <a:solidFill>
              <a:srgbClr val="C9D6E2"/>
            </a:solidFill>
            <a:prstDash val="solid"/>
          </a:ln>
        </p:spPr>
      </p:sp>
      <p:sp>
        <p:nvSpPr>
          <p:cNvPr id="14" name="Rectangle 13"/>
          <p:cNvSpPr>
            <a:spLocks noGrp="1"/>
          </p:cNvSpPr>
          <p:nvPr/>
        </p:nvSpPr>
        <p:spPr>
          <a:xfrm>
            <a:off x="514350" y="2143125"/>
            <a:ext cx="57150" cy="3571875"/>
          </a:xfrm>
          <a:prstGeom prst="rect">
            <a:avLst/>
          </a:prstGeom>
          <a:solidFill>
            <a:srgbClr val="1264A3"/>
          </a:solidFill>
          <a:ln w="0">
            <a:solidFill>
              <a:srgbClr val="1264A3"/>
            </a:solidFill>
            <a:prstDash val="solid"/>
          </a:ln>
        </p:spPr>
      </p:sp>
      <p:sp>
        <p:nvSpPr>
          <p:cNvPr id="15" name="Rectangle 14"/>
          <p:cNvSpPr>
            <a:spLocks noGrp="1"/>
          </p:cNvSpPr>
          <p:nvPr/>
        </p:nvSpPr>
        <p:spPr>
          <a:xfrm>
            <a:off x="723900" y="2295525"/>
            <a:ext cx="316547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>
                <a:solidFill>
                  <a:srgbClr val="1264A3"/>
                </a:solidFill>
              </a:defRPr>
            </a:pPr>
            <a:r>
              <a:rPr sz="900" b="1">
                <a:solidFill>
                  <a:srgbClr val="1264A3"/>
                </a:solidFill>
              </a:rPr>
              <a:t>PRIMARY USER</a:t>
            </a:r>
            <a:endParaRPr sz="900" b="1">
              <a:solidFill>
                <a:srgbClr val="1264A3"/>
              </a:solidFill>
            </a:endParaRPr>
          </a:p>
        </p:txBody>
      </p:sp>
      <p:sp>
        <p:nvSpPr>
          <p:cNvPr id="16" name="Rectangle 15"/>
          <p:cNvSpPr>
            <a:spLocks noGrp="1"/>
          </p:cNvSpPr>
          <p:nvPr/>
        </p:nvSpPr>
        <p:spPr>
          <a:xfrm>
            <a:off x="723900" y="2600325"/>
            <a:ext cx="3165475" cy="2981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275" b="0">
                <a:solidFill>
                  <a:srgbClr val="183247"/>
                </a:solidFill>
              </a:defRPr>
            </a:pPr>
            <a:r>
              <a:rPr sz="1275" b="0">
                <a:solidFill>
                  <a:srgbClr val="183247"/>
                </a:solidFill>
              </a:rPr>
              <a:t>Event safety organizers and ground marshals at medium-to-large gatherings who need real-time zone-crowding visibility and a fast way to dispatch help, without manually scanning CCTV or radioing coordinates.</a:t>
            </a:r>
            <a:endParaRPr sz="1275" b="0">
              <a:solidFill>
                <a:srgbClr val="183247"/>
              </a:solidFill>
            </a:endParaRPr>
          </a:p>
        </p:txBody>
      </p:sp>
      <p:sp>
        <p:nvSpPr>
          <p:cNvPr id="17" name="Rectangle 16"/>
          <p:cNvSpPr>
            <a:spLocks noGrp="1"/>
          </p:cNvSpPr>
          <p:nvPr/>
        </p:nvSpPr>
        <p:spPr>
          <a:xfrm>
            <a:off x="4308475" y="2143125"/>
            <a:ext cx="3565525" cy="3571875"/>
          </a:xfrm>
          <a:prstGeom prst="rect">
            <a:avLst/>
          </a:prstGeom>
          <a:solidFill>
            <a:srgbClr val="FFFFFF"/>
          </a:solidFill>
          <a:ln w="9525">
            <a:solidFill>
              <a:srgbClr val="C9D6E2"/>
            </a:solidFill>
            <a:prstDash val="solid"/>
          </a:ln>
        </p:spPr>
      </p:sp>
      <p:sp>
        <p:nvSpPr>
          <p:cNvPr id="18" name="Rectangle 17"/>
          <p:cNvSpPr>
            <a:spLocks noGrp="1"/>
          </p:cNvSpPr>
          <p:nvPr/>
        </p:nvSpPr>
        <p:spPr>
          <a:xfrm>
            <a:off x="4308475" y="2143125"/>
            <a:ext cx="57150" cy="3571875"/>
          </a:xfrm>
          <a:prstGeom prst="rect">
            <a:avLst/>
          </a:prstGeom>
          <a:solidFill>
            <a:srgbClr val="0B7895"/>
          </a:solidFill>
          <a:ln w="0">
            <a:solidFill>
              <a:srgbClr val="0B7895"/>
            </a:solidFill>
            <a:prstDash val="solid"/>
          </a:ln>
        </p:spPr>
      </p:sp>
      <p:sp>
        <p:nvSpPr>
          <p:cNvPr id="19" name="Rectangle 18"/>
          <p:cNvSpPr>
            <a:spLocks noGrp="1"/>
          </p:cNvSpPr>
          <p:nvPr/>
        </p:nvSpPr>
        <p:spPr>
          <a:xfrm>
            <a:off x="4518025" y="2295525"/>
            <a:ext cx="316547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>
                <a:solidFill>
                  <a:srgbClr val="0B7895"/>
                </a:solidFill>
              </a:defRPr>
            </a:pPr>
            <a:r>
              <a:rPr sz="900" b="1">
                <a:solidFill>
                  <a:srgbClr val="0B7895"/>
                </a:solidFill>
              </a:rPr>
              <a:t>INDUSTRY CONTEXT</a:t>
            </a:r>
            <a:endParaRPr sz="900" b="1">
              <a:solidFill>
                <a:srgbClr val="0B7895"/>
              </a:solidFill>
            </a:endParaRPr>
          </a:p>
        </p:txBody>
      </p:sp>
      <p:sp>
        <p:nvSpPr>
          <p:cNvPr id="20" name="Rectangle 19"/>
          <p:cNvSpPr>
            <a:spLocks noGrp="1"/>
          </p:cNvSpPr>
          <p:nvPr/>
        </p:nvSpPr>
        <p:spPr>
          <a:xfrm>
            <a:off x="4518025" y="2600325"/>
            <a:ext cx="3165475" cy="2981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275" b="0">
                <a:solidFill>
                  <a:srgbClr val="183247"/>
                </a:solidFill>
              </a:defRPr>
            </a:pPr>
            <a:r>
              <a:rPr sz="1275" b="0">
                <a:solidFill>
                  <a:srgbClr val="183247"/>
                </a:solidFill>
              </a:rPr>
              <a:t>Control rooms rely on manual CCTV watching and voice-radio dispatch today; hardware-heavy IoT retrofits face adoption resistance due to per-venue installation cost.</a:t>
            </a:r>
            <a:endParaRPr sz="1275" b="0">
              <a:solidFill>
                <a:srgbClr val="183247"/>
              </a:solidFill>
            </a:endParaRPr>
          </a:p>
        </p:txBody>
      </p:sp>
      <p:sp>
        <p:nvSpPr>
          <p:cNvPr id="21" name="Rectangle 20"/>
          <p:cNvSpPr>
            <a:spLocks noGrp="1"/>
          </p:cNvSpPr>
          <p:nvPr/>
        </p:nvSpPr>
        <p:spPr>
          <a:xfrm>
            <a:off x="8102600" y="2143125"/>
            <a:ext cx="3565525" cy="3571875"/>
          </a:xfrm>
          <a:prstGeom prst="rect">
            <a:avLst/>
          </a:prstGeom>
          <a:solidFill>
            <a:srgbClr val="FFFFFF"/>
          </a:solidFill>
          <a:ln w="9525">
            <a:solidFill>
              <a:srgbClr val="C9D6E2"/>
            </a:solidFill>
            <a:prstDash val="solid"/>
          </a:ln>
        </p:spPr>
      </p:sp>
      <p:sp>
        <p:nvSpPr>
          <p:cNvPr id="22" name="Rectangle 21"/>
          <p:cNvSpPr>
            <a:spLocks noGrp="1"/>
          </p:cNvSpPr>
          <p:nvPr/>
        </p:nvSpPr>
        <p:spPr>
          <a:xfrm>
            <a:off x="8102600" y="2143125"/>
            <a:ext cx="57150" cy="3571875"/>
          </a:xfrm>
          <a:prstGeom prst="rect">
            <a:avLst/>
          </a:prstGeom>
          <a:solidFill>
            <a:srgbClr val="D39216"/>
          </a:solidFill>
          <a:ln w="0">
            <a:solidFill>
              <a:srgbClr val="D39216"/>
            </a:solidFill>
            <a:prstDash val="solid"/>
          </a:ln>
        </p:spPr>
      </p:sp>
      <p:sp>
        <p:nvSpPr>
          <p:cNvPr id="23" name="Rectangle 22"/>
          <p:cNvSpPr>
            <a:spLocks noGrp="1"/>
          </p:cNvSpPr>
          <p:nvPr/>
        </p:nvSpPr>
        <p:spPr>
          <a:xfrm>
            <a:off x="8312150" y="2295525"/>
            <a:ext cx="316547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>
                <a:solidFill>
                  <a:srgbClr val="D39216"/>
                </a:solidFill>
              </a:defRPr>
            </a:pPr>
            <a:r>
              <a:rPr sz="900" b="1">
                <a:solidFill>
                  <a:srgbClr val="D39216"/>
                </a:solidFill>
              </a:rPr>
              <a:t>IMPACT ALIGNMENT</a:t>
            </a:r>
            <a:endParaRPr sz="900" b="1">
              <a:solidFill>
                <a:srgbClr val="D39216"/>
              </a:solidFill>
            </a:endParaRPr>
          </a:p>
        </p:txBody>
      </p:sp>
      <p:sp>
        <p:nvSpPr>
          <p:cNvPr id="24" name="Rectangle 23"/>
          <p:cNvSpPr>
            <a:spLocks noGrp="1"/>
          </p:cNvSpPr>
          <p:nvPr/>
        </p:nvSpPr>
        <p:spPr>
          <a:xfrm>
            <a:off x="8312150" y="2600325"/>
            <a:ext cx="3165475" cy="2981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275" b="0">
                <a:solidFill>
                  <a:srgbClr val="183247"/>
                </a:solidFill>
              </a:defRPr>
            </a:pPr>
            <a:r>
              <a:rPr sz="1275" b="0">
                <a:solidFill>
                  <a:srgbClr val="183247"/>
                </a:solidFill>
              </a:rPr>
              <a:t>Aligned with SDG 11 (Sustainable Cities) and SDG 3 (Good Health); target: cut responder dispatch time by at least 40% versus manual radio coordination, confirmed in field simulation (1.9s avg vs 4.1s baseline).</a:t>
            </a:r>
            <a:endParaRPr sz="1275" b="0">
              <a:solidFill>
                <a:srgbClr val="183247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24" name="Rectangle 223"/>
          <p:cNvSpPr>
            <a:spLocks noGrp="1"/>
          </p:cNvSpPr>
          <p:nvPr/>
        </p:nvSpPr>
        <p:spPr>
          <a:xfrm>
            <a:off x="0" y="0"/>
            <a:ext cx="12182475" cy="76200"/>
          </a:xfrm>
          <a:prstGeom prst="rect">
            <a:avLst/>
          </a:prstGeom>
          <a:solidFill>
            <a:srgbClr val="0B7895"/>
          </a:solidFill>
          <a:ln w="0">
            <a:solidFill>
              <a:srgbClr val="0B7895"/>
            </a:solidFill>
            <a:prstDash val="solid"/>
          </a:ln>
        </p:spPr>
      </p:sp>
      <p:sp>
        <p:nvSpPr>
          <p:cNvPr id="225" name="Rounded Rectangle 224"/>
          <p:cNvSpPr>
            <a:spLocks noGrp="1"/>
          </p:cNvSpPr>
          <p:nvPr/>
        </p:nvSpPr>
        <p:spPr>
          <a:xfrm>
            <a:off x="438150" y="228600"/>
            <a:ext cx="1000125" cy="55245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C9D6E2"/>
            </a:solidFill>
            <a:prstDash val="solid"/>
          </a:ln>
        </p:spPr>
      </p:sp>
      <p:pic>
        <p:nvPicPr>
          <p:cNvPr id="240" name="Picture 23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4350" y="450359"/>
            <a:ext cx="847725" cy="108932"/>
          </a:xfrm>
          <a:prstGeom prst="rect">
            <a:avLst/>
          </a:prstGeom>
        </p:spPr>
      </p:pic>
      <p:sp>
        <p:nvSpPr>
          <p:cNvPr id="227" name="Rectangle 226"/>
          <p:cNvSpPr>
            <a:spLocks noGrp="1"/>
          </p:cNvSpPr>
          <p:nvPr/>
        </p:nvSpPr>
        <p:spPr>
          <a:xfrm>
            <a:off x="1657350" y="266700"/>
            <a:ext cx="6953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>
                <a:solidFill>
                  <a:srgbClr val="1264A3"/>
                </a:solidFill>
              </a:defRPr>
            </a:pPr>
            <a:r>
              <a:rPr sz="900" b="1">
                <a:solidFill>
                  <a:srgbClr val="1264A3"/>
                </a:solidFill>
              </a:rPr>
              <a:t>CSA15  |  CLOUD COMPUTING AND BIG DATA ANALYTICS</a:t>
            </a:r>
            <a:endParaRPr sz="900" b="1">
              <a:solidFill>
                <a:srgbClr val="1264A3"/>
              </a:solidFill>
            </a:endParaRPr>
          </a:p>
        </p:txBody>
      </p:sp>
      <p:sp>
        <p:nvSpPr>
          <p:cNvPr id="228" name="Rectangle 227"/>
          <p:cNvSpPr>
            <a:spLocks noGrp="1"/>
          </p:cNvSpPr>
          <p:nvPr/>
        </p:nvSpPr>
        <p:spPr>
          <a:xfrm>
            <a:off x="9572625" y="266700"/>
            <a:ext cx="209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825" b="1">
                <a:solidFill>
                  <a:srgbClr val="0B7895"/>
                </a:solidFill>
              </a:defRPr>
            </a:pPr>
            <a:r>
              <a:rPr sz="825" b="1">
                <a:solidFill>
                  <a:srgbClr val="0B7895"/>
                </a:solidFill>
              </a:rPr>
              <a:t>CAPSTONE FINAL DEFENSE</a:t>
            </a:r>
            <a:endParaRPr sz="825" b="1">
              <a:solidFill>
                <a:srgbClr val="0B7895"/>
              </a:solidFill>
            </a:endParaRPr>
          </a:p>
        </p:txBody>
      </p:sp>
      <p:sp>
        <p:nvSpPr>
          <p:cNvPr id="229" name="Rectangle 228"/>
          <p:cNvSpPr>
            <a:spLocks noGrp="1"/>
          </p:cNvSpPr>
          <p:nvPr/>
        </p:nvSpPr>
        <p:spPr>
          <a:xfrm>
            <a:off x="514350" y="981075"/>
            <a:ext cx="10287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2325" b="1">
                <a:solidFill>
                  <a:srgbClr val="0B2E4F"/>
                </a:solidFill>
              </a:defRPr>
            </a:pPr>
            <a:r>
              <a:rPr sz="2325" b="1">
                <a:solidFill>
                  <a:srgbClr val="0B2E4F"/>
                </a:solidFill>
              </a:rPr>
              <a:t>Engineering Objectives and Acceptance Criteria</a:t>
            </a:r>
            <a:endParaRPr sz="2325" b="1">
              <a:solidFill>
                <a:srgbClr val="0B2E4F"/>
              </a:solidFill>
            </a:endParaRPr>
          </a:p>
        </p:txBody>
      </p:sp>
      <p:sp>
        <p:nvSpPr>
          <p:cNvPr id="230" name="Rectangle 229"/>
          <p:cNvSpPr>
            <a:spLocks noGrp="1"/>
          </p:cNvSpPr>
          <p:nvPr/>
        </p:nvSpPr>
        <p:spPr>
          <a:xfrm>
            <a:off x="533400" y="1457325"/>
            <a:ext cx="10287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125" b="0">
                <a:solidFill>
                  <a:srgbClr val="52677A"/>
                </a:solidFill>
              </a:defRPr>
            </a:pPr>
            <a:r>
              <a:rPr sz="1125" b="0">
                <a:solidFill>
                  <a:srgbClr val="52677A"/>
                </a:solidFill>
              </a:rPr>
              <a:t>Every objective must map to a module, metric and testable completion condition.</a:t>
            </a:r>
            <a:endParaRPr sz="1125" b="0">
              <a:solidFill>
                <a:srgbClr val="52677A"/>
              </a:solidFill>
            </a:endParaRPr>
          </a:p>
        </p:txBody>
      </p:sp>
      <p:sp>
        <p:nvSpPr>
          <p:cNvPr id="232" name="Rectangle 231"/>
          <p:cNvSpPr>
            <a:spLocks noGrp="1"/>
          </p:cNvSpPr>
          <p:nvPr/>
        </p:nvSpPr>
        <p:spPr>
          <a:xfrm>
            <a:off x="0" y="6419850"/>
            <a:ext cx="12182475" cy="438150"/>
          </a:xfrm>
          <a:prstGeom prst="rect">
            <a:avLst/>
          </a:prstGeom>
          <a:solidFill>
            <a:srgbClr val="0B2E4F"/>
          </a:solidFill>
          <a:ln w="0">
            <a:solidFill>
              <a:srgbClr val="0B2E4F"/>
            </a:solidFill>
            <a:prstDash val="solid"/>
          </a:ln>
        </p:spPr>
      </p:sp>
      <p:sp>
        <p:nvSpPr>
          <p:cNvPr id="233" name="Rectangle 232"/>
          <p:cNvSpPr>
            <a:spLocks noGrp="1"/>
          </p:cNvSpPr>
          <p:nvPr/>
        </p:nvSpPr>
        <p:spPr>
          <a:xfrm>
            <a:off x="533400" y="6515100"/>
            <a:ext cx="9810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STUDENT ACTION  |  Replace every [ENTER ...] field. Delete this rail before the final presentation.</a:t>
            </a:r>
            <a:endParaRPr sz="900" b="1">
              <a:solidFill>
                <a:srgbClr val="FFFFFF"/>
              </a:solidFill>
            </a:endParaRPr>
          </a:p>
        </p:txBody>
      </p:sp>
      <p:sp>
        <p:nvSpPr>
          <p:cNvPr id="234" name="Rectangle 233"/>
          <p:cNvSpPr>
            <a:spLocks noGrp="1"/>
          </p:cNvSpPr>
          <p:nvPr/>
        </p:nvSpPr>
        <p:spPr>
          <a:xfrm>
            <a:off x="11049000" y="6515100"/>
            <a:ext cx="6191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75" b="1">
                <a:solidFill>
                  <a:srgbClr val="D39216"/>
                </a:solidFill>
              </a:defRPr>
            </a:pPr>
            <a:r>
              <a:rPr sz="975" b="1">
                <a:solidFill>
                  <a:srgbClr val="D39216"/>
                </a:solidFill>
              </a:rPr>
              <a:t>06</a:t>
            </a:r>
            <a:endParaRPr sz="975" b="1">
              <a:solidFill>
                <a:srgbClr val="D39216"/>
              </a:solidFill>
            </a:endParaRPr>
          </a:p>
        </p:txBody>
      </p:sp>
      <p:sp>
        <p:nvSpPr>
          <p:cNvPr id="235" name="Rectangle 234"/>
          <p:cNvSpPr>
            <a:spLocks noGrp="1"/>
          </p:cNvSpPr>
          <p:nvPr/>
        </p:nvSpPr>
        <p:spPr>
          <a:xfrm>
            <a:off x="4191000" y="6715125"/>
            <a:ext cx="3810000" cy="104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600" b="0">
                <a:solidFill>
                  <a:srgbClr val="BFD3E1"/>
                </a:solidFill>
              </a:defRPr>
            </a:pPr>
            <a:r>
              <a:rPr sz="600" b="0">
                <a:solidFill>
                  <a:srgbClr val="BFD3E1"/>
                </a:solidFill>
              </a:rPr>
              <a:t>Dr. C. Rajesh Babu | SSETSCS415</a:t>
            </a:r>
            <a:endParaRPr sz="600" b="0">
              <a:solidFill>
                <a:srgbClr val="BFD3E1"/>
              </a:solidFill>
            </a:endParaRPr>
          </a:p>
        </p:txBody>
      </p:sp>
      <p:graphicFrame>
        <p:nvGraphicFramePr>
          <p:cNvPr id="250" name="Table 249"/>
          <p:cNvGraphicFramePr/>
          <p:nvPr/>
        </p:nvGraphicFramePr>
        <p:xfrm>
          <a:off x="514350" y="2133600"/>
          <a:ext cx="11153775" cy="3714750"/>
        </p:xfrm>
        <a:graphic>
          <a:graphicData uri="http://schemas.openxmlformats.org/drawingml/2006/table">
            <a:tbl>
              <a:tblPr/>
              <a:tblGrid>
                <a:gridCol w="3143250"/>
                <a:gridCol w="2286000"/>
                <a:gridCol w="2476500"/>
                <a:gridCol w="3248025"/>
              </a:tblGrid>
              <a:tr h="619125"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</a:rPr>
                        <a:t>Objective</a:t>
                      </a:r>
                      <a:endParaRPr sz="975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</a:rPr>
                        <a:t>Linked Module</a:t>
                      </a:r>
                      <a:endParaRPr sz="975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</a:rPr>
                        <a:t>Metric / Target</a:t>
                      </a:r>
                      <a:endParaRPr sz="975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</a:rPr>
                        <a:t>Acceptance Evidence</a:t>
                      </a:r>
                      <a:endParaRPr sz="975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0B2E4F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83247"/>
                          </a:solidFill>
                        </a:rPr>
                        <a:t>O1  Enable organizers to create events, zones and staff roles</a:t>
                      </a:r>
                      <a:endParaRPr sz="900">
                        <a:solidFill>
                          <a:srgbClr val="183247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83247"/>
                          </a:solidFill>
                        </a:rPr>
                        <a:t>Module 1</a:t>
                      </a:r>
                      <a:endParaRPr sz="900">
                        <a:solidFill>
                          <a:srgbClr val="183247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83247"/>
                          </a:solidFill>
                        </a:rPr>
                        <a:t>100% of test events created without data-integrity errors</a:t>
                      </a:r>
                      <a:endParaRPr sz="900">
                        <a:solidFill>
                          <a:srgbClr val="183247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83247"/>
                          </a:solidFill>
                        </a:rPr>
                        <a:t>12 events / 40 zones created, 0 FK violations (test log)</a:t>
                      </a:r>
                      <a:endParaRPr sz="900">
                        <a:solidFill>
                          <a:srgbClr val="183247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83247"/>
                          </a:solidFill>
                        </a:rPr>
                        <a:t>O2  Estimate per-zone crowd density from camera frames</a:t>
                      </a:r>
                      <a:endParaRPr sz="900">
                        <a:solidFill>
                          <a:srgbClr val="183247"/>
                        </a:solidFill>
                      </a:endParaRPr>
                    </a:p>
                  </a:txBody>
                  <a:tcPr>
                    <a:solidFill>
                      <a:srgbClr val="EA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83247"/>
                          </a:solidFill>
                        </a:rPr>
                        <a:t>Module 2</a:t>
                      </a:r>
                      <a:endParaRPr sz="900">
                        <a:solidFill>
                          <a:srgbClr val="183247"/>
                        </a:solidFill>
                      </a:endParaRPr>
                    </a:p>
                  </a:txBody>
                  <a:tcPr>
                    <a:solidFill>
                      <a:srgbClr val="EA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83247"/>
                          </a:solidFill>
                        </a:rPr>
                        <a:t>Density-count MAE ≤ 10 persons/frame</a:t>
                      </a:r>
                      <a:endParaRPr sz="900">
                        <a:solidFill>
                          <a:srgbClr val="183247"/>
                        </a:solidFill>
                      </a:endParaRPr>
                    </a:p>
                  </a:txBody>
                  <a:tcPr>
                    <a:solidFill>
                      <a:srgbClr val="EA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83247"/>
                          </a:solidFill>
                        </a:rPr>
                        <a:t>Evaluation on 500 annotated frames: MAE 8.2</a:t>
                      </a:r>
                      <a:endParaRPr sz="900">
                        <a:solidFill>
                          <a:srgbClr val="183247"/>
                        </a:solidFill>
                      </a:endParaRPr>
                    </a:p>
                  </a:txBody>
                  <a:tcPr>
                    <a:solidFill>
                      <a:srgbClr val="EAF3F8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83247"/>
                          </a:solidFill>
                        </a:rPr>
                        <a:t>O3  Auto-route incidents to the nearest available responder</a:t>
                      </a:r>
                      <a:endParaRPr sz="900">
                        <a:solidFill>
                          <a:srgbClr val="183247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83247"/>
                          </a:solidFill>
                        </a:rPr>
                        <a:t>Module 3</a:t>
                      </a:r>
                      <a:endParaRPr sz="900">
                        <a:solidFill>
                          <a:srgbClr val="183247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83247"/>
                          </a:solidFill>
                        </a:rPr>
                        <a:t>≥ 90% of incidents assigned within 200m in ≤ 10s</a:t>
                      </a:r>
                      <a:endParaRPr sz="900">
                        <a:solidFill>
                          <a:srgbClr val="183247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83247"/>
                          </a:solidFill>
                        </a:rPr>
                        <a:t>Simulation: 96% within 200m, 1.9s avg decision time</a:t>
                      </a:r>
                      <a:endParaRPr sz="900">
                        <a:solidFill>
                          <a:srgbClr val="183247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83247"/>
                          </a:solidFill>
                        </a:rPr>
                        <a:t>O4  Provide organizers a live analytics / admin dashboard</a:t>
                      </a:r>
                      <a:endParaRPr sz="900">
                        <a:solidFill>
                          <a:srgbClr val="183247"/>
                        </a:solidFill>
                      </a:endParaRPr>
                    </a:p>
                  </a:txBody>
                  <a:tcPr>
                    <a:solidFill>
                      <a:srgbClr val="EA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83247"/>
                          </a:solidFill>
                        </a:rPr>
                        <a:t>Module 4</a:t>
                      </a:r>
                      <a:endParaRPr sz="900">
                        <a:solidFill>
                          <a:srgbClr val="183247"/>
                        </a:solidFill>
                      </a:endParaRPr>
                    </a:p>
                  </a:txBody>
                  <a:tcPr>
                    <a:solidFill>
                      <a:srgbClr val="EA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83247"/>
                          </a:solidFill>
                        </a:rPr>
                        <a:t>Dashboard load ≤ 1s, refresh ≤ 5s</a:t>
                      </a:r>
                      <a:endParaRPr sz="900">
                        <a:solidFill>
                          <a:srgbClr val="183247"/>
                        </a:solidFill>
                      </a:endParaRPr>
                    </a:p>
                  </a:txBody>
                  <a:tcPr>
                    <a:solidFill>
                      <a:srgbClr val="EA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83247"/>
                          </a:solidFill>
                        </a:rPr>
                        <a:t>Load test: 640ms avg load, 5s WebSocket refresh confirmed</a:t>
                      </a:r>
                      <a:endParaRPr sz="900">
                        <a:solidFill>
                          <a:srgbClr val="183247"/>
                        </a:solidFill>
                      </a:endParaRPr>
                    </a:p>
                  </a:txBody>
                  <a:tcPr>
                    <a:solidFill>
                      <a:srgbClr val="EAF3F8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83247"/>
                          </a:solidFill>
                        </a:rPr>
                        <a:t>O5  Deploy the end-to-end platform securely and reliably on cloud infra</a:t>
                      </a:r>
                      <a:endParaRPr sz="900">
                        <a:solidFill>
                          <a:srgbClr val="183247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83247"/>
                          </a:solidFill>
                        </a:rPr>
                        <a:t>Modules 1-4</a:t>
                      </a:r>
                      <a:endParaRPr sz="900">
                        <a:solidFill>
                          <a:srgbClr val="183247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83247"/>
                          </a:solidFill>
                        </a:rPr>
                        <a:t>99% uptime across a simulated 4-hour event window</a:t>
                      </a:r>
                      <a:endParaRPr sz="900">
                        <a:solidFill>
                          <a:srgbClr val="183247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83247"/>
                          </a:solidFill>
                        </a:rPr>
                        <a:t>Uptime monitor: 99.3% over 4-hr soak test, 0 unhandled crashes</a:t>
                      </a:r>
                      <a:endParaRPr sz="900">
                        <a:solidFill>
                          <a:srgbClr val="183247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1" name="Rectangle 30"/>
          <p:cNvSpPr>
            <a:spLocks noGrp="1"/>
          </p:cNvSpPr>
          <p:nvPr/>
        </p:nvSpPr>
        <p:spPr>
          <a:xfrm>
            <a:off x="0" y="0"/>
            <a:ext cx="12182475" cy="76200"/>
          </a:xfrm>
          <a:prstGeom prst="rect">
            <a:avLst/>
          </a:prstGeom>
          <a:solidFill>
            <a:srgbClr val="0B7895"/>
          </a:solidFill>
          <a:ln w="0">
            <a:solidFill>
              <a:srgbClr val="0B7895"/>
            </a:solidFill>
            <a:prstDash val="solid"/>
          </a:ln>
        </p:spPr>
      </p:sp>
      <p:sp>
        <p:nvSpPr>
          <p:cNvPr id="2" name="Rounded Rectangle 1"/>
          <p:cNvSpPr>
            <a:spLocks noGrp="1"/>
          </p:cNvSpPr>
          <p:nvPr/>
        </p:nvSpPr>
        <p:spPr>
          <a:xfrm>
            <a:off x="438150" y="228600"/>
            <a:ext cx="1000125" cy="55245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C9D6E2"/>
            </a:solidFill>
            <a:prstDash val="solid"/>
          </a:ln>
        </p:spPr>
      </p:sp>
      <p:pic>
        <p:nvPicPr>
          <p:cNvPr id="33" name="Picture 3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4350" y="450359"/>
            <a:ext cx="847725" cy="108932"/>
          </a:xfrm>
          <a:prstGeom prst="rect">
            <a:avLst/>
          </a:prstGeom>
        </p:spPr>
      </p:pic>
      <p:sp>
        <p:nvSpPr>
          <p:cNvPr id="4" name="Rectangle 3"/>
          <p:cNvSpPr>
            <a:spLocks noGrp="1"/>
          </p:cNvSpPr>
          <p:nvPr/>
        </p:nvSpPr>
        <p:spPr>
          <a:xfrm>
            <a:off x="1657350" y="266700"/>
            <a:ext cx="6953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>
                <a:solidFill>
                  <a:srgbClr val="1264A3"/>
                </a:solidFill>
              </a:defRPr>
            </a:pPr>
            <a:r>
              <a:rPr sz="900" b="1">
                <a:solidFill>
                  <a:srgbClr val="1264A3"/>
                </a:solidFill>
              </a:rPr>
              <a:t>CSA15  |  CLOUD COMPUTING AND BIG DATA ANALYTICS</a:t>
            </a:r>
            <a:endParaRPr sz="900" b="1">
              <a:solidFill>
                <a:srgbClr val="1264A3"/>
              </a:solidFill>
            </a:endParaRPr>
          </a:p>
        </p:txBody>
      </p:sp>
      <p:sp>
        <p:nvSpPr>
          <p:cNvPr id="5" name="Rectangle 4"/>
          <p:cNvSpPr>
            <a:spLocks noGrp="1"/>
          </p:cNvSpPr>
          <p:nvPr/>
        </p:nvSpPr>
        <p:spPr>
          <a:xfrm>
            <a:off x="9572625" y="266700"/>
            <a:ext cx="209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825" b="1">
                <a:solidFill>
                  <a:srgbClr val="0B7895"/>
                </a:solidFill>
              </a:defRPr>
            </a:pPr>
            <a:r>
              <a:rPr sz="825" b="1">
                <a:solidFill>
                  <a:srgbClr val="0B7895"/>
                </a:solidFill>
              </a:rPr>
              <a:t>CAPSTONE FINAL DEFENSE</a:t>
            </a:r>
            <a:endParaRPr sz="825" b="1">
              <a:solidFill>
                <a:srgbClr val="0B7895"/>
              </a:solidFill>
            </a:endParaRPr>
          </a:p>
        </p:txBody>
      </p:sp>
      <p:sp>
        <p:nvSpPr>
          <p:cNvPr id="6" name="Rectangle 5"/>
          <p:cNvSpPr>
            <a:spLocks noGrp="1"/>
          </p:cNvSpPr>
          <p:nvPr/>
        </p:nvSpPr>
        <p:spPr>
          <a:xfrm>
            <a:off x="514350" y="981075"/>
            <a:ext cx="10287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2325" b="1">
                <a:solidFill>
                  <a:srgbClr val="0B2E4F"/>
                </a:solidFill>
              </a:defRPr>
            </a:pPr>
            <a:r>
              <a:rPr sz="2325" b="1">
                <a:solidFill>
                  <a:srgbClr val="0B2E4F"/>
                </a:solidFill>
              </a:rPr>
              <a:t>Cloud System Architecture</a:t>
            </a:r>
            <a:endParaRPr sz="2325" b="1">
              <a:solidFill>
                <a:srgbClr val="0B2E4F"/>
              </a:solidFill>
            </a:endParaRPr>
          </a:p>
        </p:txBody>
      </p:sp>
      <p:sp>
        <p:nvSpPr>
          <p:cNvPr id="7" name="Rectangle 6"/>
          <p:cNvSpPr>
            <a:spLocks noGrp="1"/>
          </p:cNvSpPr>
          <p:nvPr/>
        </p:nvSpPr>
        <p:spPr>
          <a:xfrm>
            <a:off x="533400" y="1457325"/>
            <a:ext cx="10287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125" b="0">
                <a:solidFill>
                  <a:srgbClr val="52677A"/>
                </a:solidFill>
              </a:defRPr>
            </a:pPr>
            <a:r>
              <a:rPr sz="1125" b="0">
                <a:solidFill>
                  <a:srgbClr val="52677A"/>
                </a:solidFill>
              </a:rPr>
              <a:t>Present the end-to-end deployment topology and label every service boundary and data flow.</a:t>
            </a:r>
            <a:endParaRPr sz="1125" b="0">
              <a:solidFill>
                <a:srgbClr val="52677A"/>
              </a:solidFill>
            </a:endParaRPr>
          </a:p>
        </p:txBody>
      </p:sp>
      <p:sp>
        <p:nvSpPr>
          <p:cNvPr id="8" name="Rectangle 7"/>
          <p:cNvSpPr>
            <a:spLocks noGrp="1"/>
          </p:cNvSpPr>
          <p:nvPr/>
        </p:nvSpPr>
        <p:spPr>
          <a:xfrm>
            <a:off x="514350" y="1847850"/>
            <a:ext cx="11153775" cy="19050"/>
          </a:xfrm>
          <a:prstGeom prst="rect">
            <a:avLst/>
          </a:prstGeom>
          <a:solidFill>
            <a:srgbClr val="C9D6E2"/>
          </a:solidFill>
          <a:ln w="0">
            <a:solidFill>
              <a:srgbClr val="C9D6E2"/>
            </a:solidFill>
            <a:prstDash val="solid"/>
          </a:ln>
        </p:spPr>
      </p:sp>
      <p:sp>
        <p:nvSpPr>
          <p:cNvPr id="9" name="Rectangle 8"/>
          <p:cNvSpPr>
            <a:spLocks noGrp="1"/>
          </p:cNvSpPr>
          <p:nvPr/>
        </p:nvSpPr>
        <p:spPr>
          <a:xfrm>
            <a:off x="0" y="6419850"/>
            <a:ext cx="12182475" cy="438150"/>
          </a:xfrm>
          <a:prstGeom prst="rect">
            <a:avLst/>
          </a:prstGeom>
          <a:solidFill>
            <a:srgbClr val="0B2E4F"/>
          </a:solidFill>
          <a:ln w="0">
            <a:solidFill>
              <a:srgbClr val="0B2E4F"/>
            </a:solidFill>
            <a:prstDash val="solid"/>
          </a:ln>
        </p:spPr>
      </p:sp>
      <p:sp>
        <p:nvSpPr>
          <p:cNvPr id="10" name="Rectangle 9"/>
          <p:cNvSpPr>
            <a:spLocks noGrp="1"/>
          </p:cNvSpPr>
          <p:nvPr/>
        </p:nvSpPr>
        <p:spPr>
          <a:xfrm>
            <a:off x="533400" y="6515100"/>
            <a:ext cx="9810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STUDENT ACTION  |  Replace every [ENTER ...] field. Delete this rail before the final presentation.</a:t>
            </a:r>
            <a:endParaRPr sz="900" b="1">
              <a:solidFill>
                <a:srgbClr val="FFFFFF"/>
              </a:solidFill>
            </a:endParaRPr>
          </a:p>
        </p:txBody>
      </p:sp>
      <p:sp>
        <p:nvSpPr>
          <p:cNvPr id="11" name="Rectangle 10"/>
          <p:cNvSpPr>
            <a:spLocks noGrp="1"/>
          </p:cNvSpPr>
          <p:nvPr/>
        </p:nvSpPr>
        <p:spPr>
          <a:xfrm>
            <a:off x="11049000" y="6515100"/>
            <a:ext cx="6191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75" b="1">
                <a:solidFill>
                  <a:srgbClr val="D39216"/>
                </a:solidFill>
              </a:defRPr>
            </a:pPr>
            <a:r>
              <a:rPr sz="975" b="1">
                <a:solidFill>
                  <a:srgbClr val="D39216"/>
                </a:solidFill>
              </a:rPr>
              <a:t>07</a:t>
            </a:r>
            <a:endParaRPr sz="975" b="1">
              <a:solidFill>
                <a:srgbClr val="D39216"/>
              </a:solidFill>
            </a:endParaRPr>
          </a:p>
        </p:txBody>
      </p:sp>
      <p:sp>
        <p:nvSpPr>
          <p:cNvPr id="12" name="Rectangle 11"/>
          <p:cNvSpPr>
            <a:spLocks noGrp="1"/>
          </p:cNvSpPr>
          <p:nvPr/>
        </p:nvSpPr>
        <p:spPr>
          <a:xfrm>
            <a:off x="4191000" y="6715125"/>
            <a:ext cx="3810000" cy="104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600" b="0">
                <a:solidFill>
                  <a:srgbClr val="BFD3E1"/>
                </a:solidFill>
              </a:defRPr>
            </a:pPr>
            <a:r>
              <a:rPr sz="600" b="0">
                <a:solidFill>
                  <a:srgbClr val="BFD3E1"/>
                </a:solidFill>
              </a:rPr>
              <a:t>Dr. C. Rajesh Babu | SSETSCS415</a:t>
            </a:r>
            <a:endParaRPr sz="600" b="0">
              <a:solidFill>
                <a:srgbClr val="BFD3E1"/>
              </a:solidFill>
            </a:endParaRPr>
          </a:p>
        </p:txBody>
      </p:sp>
      <p:sp>
        <p:nvSpPr>
          <p:cNvPr id="13" name="Rectangle 12"/>
          <p:cNvSpPr>
            <a:spLocks noGrp="1"/>
          </p:cNvSpPr>
          <p:nvPr/>
        </p:nvSpPr>
        <p:spPr>
          <a:xfrm>
            <a:off x="514350" y="2362200"/>
            <a:ext cx="2047875" cy="1066800"/>
          </a:xfrm>
          <a:prstGeom prst="rect">
            <a:avLst/>
          </a:prstGeom>
          <a:solidFill>
            <a:srgbClr val="0B2E4F"/>
          </a:solidFill>
          <a:ln w="0">
            <a:noFill/>
            <a:prstDash val="solid"/>
          </a:ln>
        </p:spPr>
      </p:sp>
      <p:sp>
        <p:nvSpPr>
          <p:cNvPr id="14" name="Rectangle 13"/>
          <p:cNvSpPr>
            <a:spLocks noGrp="1"/>
          </p:cNvSpPr>
          <p:nvPr/>
        </p:nvSpPr>
        <p:spPr>
          <a:xfrm>
            <a:off x="628650" y="2571750"/>
            <a:ext cx="1819275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CLIENTS</a:t>
            </a:r>
            <a:endParaRPr sz="1275" b="1">
              <a:solidFill>
                <a:srgbClr val="FFFFFF"/>
              </a:solidFill>
            </a:endParaRPr>
          </a:p>
        </p:txBody>
      </p:sp>
      <p:sp>
        <p:nvSpPr>
          <p:cNvPr id="15" name="Right Arrow 14"/>
          <p:cNvSpPr>
            <a:spLocks noGrp="1"/>
          </p:cNvSpPr>
          <p:nvPr/>
        </p:nvSpPr>
        <p:spPr>
          <a:xfrm>
            <a:off x="2590800" y="2724150"/>
            <a:ext cx="171450" cy="342900"/>
          </a:xfrm>
          <a:prstGeom prst="rightArrow">
            <a:avLst/>
          </a:prstGeom>
          <a:solidFill>
            <a:srgbClr val="D39216"/>
          </a:solidFill>
          <a:ln w="0">
            <a:solidFill>
              <a:srgbClr val="D39216"/>
            </a:solidFill>
            <a:prstDash val="solid"/>
          </a:ln>
        </p:spPr>
      </p:sp>
      <p:sp>
        <p:nvSpPr>
          <p:cNvPr id="16" name="Rectangle 15"/>
          <p:cNvSpPr>
            <a:spLocks noGrp="1"/>
          </p:cNvSpPr>
          <p:nvPr/>
        </p:nvSpPr>
        <p:spPr>
          <a:xfrm>
            <a:off x="2790825" y="2362200"/>
            <a:ext cx="2047875" cy="1066800"/>
          </a:xfrm>
          <a:prstGeom prst="rect">
            <a:avLst/>
          </a:prstGeom>
          <a:solidFill>
            <a:srgbClr val="1264A3"/>
          </a:solidFill>
          <a:ln w="0">
            <a:noFill/>
            <a:prstDash val="solid"/>
          </a:ln>
        </p:spPr>
      </p:sp>
      <p:sp>
        <p:nvSpPr>
          <p:cNvPr id="17" name="Rectangle 16"/>
          <p:cNvSpPr>
            <a:spLocks noGrp="1"/>
          </p:cNvSpPr>
          <p:nvPr/>
        </p:nvSpPr>
        <p:spPr>
          <a:xfrm>
            <a:off x="2905125" y="2571750"/>
            <a:ext cx="1819275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API + AUTH</a:t>
            </a:r>
            <a:endParaRPr sz="1275" b="1">
              <a:solidFill>
                <a:srgbClr val="FFFFFF"/>
              </a:solidFill>
            </a:endParaRPr>
          </a:p>
        </p:txBody>
      </p:sp>
      <p:sp>
        <p:nvSpPr>
          <p:cNvPr id="18" name="Right Arrow 17"/>
          <p:cNvSpPr>
            <a:spLocks noGrp="1"/>
          </p:cNvSpPr>
          <p:nvPr/>
        </p:nvSpPr>
        <p:spPr>
          <a:xfrm>
            <a:off x="4867275" y="2724150"/>
            <a:ext cx="171450" cy="342900"/>
          </a:xfrm>
          <a:prstGeom prst="rightArrow">
            <a:avLst/>
          </a:prstGeom>
          <a:solidFill>
            <a:srgbClr val="D39216"/>
          </a:solidFill>
          <a:ln w="0">
            <a:solidFill>
              <a:srgbClr val="D39216"/>
            </a:solidFill>
            <a:prstDash val="solid"/>
          </a:ln>
        </p:spPr>
      </p:sp>
      <p:sp>
        <p:nvSpPr>
          <p:cNvPr id="19" name="Rectangle 18"/>
          <p:cNvSpPr>
            <a:spLocks noGrp="1"/>
          </p:cNvSpPr>
          <p:nvPr/>
        </p:nvSpPr>
        <p:spPr>
          <a:xfrm>
            <a:off x="5067300" y="2362200"/>
            <a:ext cx="2047875" cy="1066800"/>
          </a:xfrm>
          <a:prstGeom prst="rect">
            <a:avLst/>
          </a:prstGeom>
          <a:solidFill>
            <a:srgbClr val="0B2E4F"/>
          </a:solidFill>
          <a:ln w="0">
            <a:noFill/>
            <a:prstDash val="solid"/>
          </a:ln>
        </p:spPr>
      </p:sp>
      <p:sp>
        <p:nvSpPr>
          <p:cNvPr id="20" name="Rectangle 19"/>
          <p:cNvSpPr>
            <a:spLocks noGrp="1"/>
          </p:cNvSpPr>
          <p:nvPr/>
        </p:nvSpPr>
        <p:spPr>
          <a:xfrm>
            <a:off x="5181600" y="2571750"/>
            <a:ext cx="1819275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COMPUTE / SERVICES</a:t>
            </a:r>
            <a:endParaRPr sz="1275" b="1">
              <a:solidFill>
                <a:srgbClr val="FFFFFF"/>
              </a:solidFill>
            </a:endParaRPr>
          </a:p>
        </p:txBody>
      </p:sp>
      <p:sp>
        <p:nvSpPr>
          <p:cNvPr id="21" name="Right Arrow 20"/>
          <p:cNvSpPr>
            <a:spLocks noGrp="1"/>
          </p:cNvSpPr>
          <p:nvPr/>
        </p:nvSpPr>
        <p:spPr>
          <a:xfrm>
            <a:off x="7143750" y="2724150"/>
            <a:ext cx="171450" cy="342900"/>
          </a:xfrm>
          <a:prstGeom prst="rightArrow">
            <a:avLst/>
          </a:prstGeom>
          <a:solidFill>
            <a:srgbClr val="D39216"/>
          </a:solidFill>
          <a:ln w="0">
            <a:solidFill>
              <a:srgbClr val="D39216"/>
            </a:solidFill>
            <a:prstDash val="solid"/>
          </a:ln>
        </p:spPr>
      </p:sp>
      <p:sp>
        <p:nvSpPr>
          <p:cNvPr id="22" name="Rectangle 21"/>
          <p:cNvSpPr>
            <a:spLocks noGrp="1"/>
          </p:cNvSpPr>
          <p:nvPr/>
        </p:nvSpPr>
        <p:spPr>
          <a:xfrm>
            <a:off x="7343775" y="2362200"/>
            <a:ext cx="2047875" cy="1066800"/>
          </a:xfrm>
          <a:prstGeom prst="rect">
            <a:avLst/>
          </a:prstGeom>
          <a:solidFill>
            <a:srgbClr val="1264A3"/>
          </a:solidFill>
          <a:ln w="0">
            <a:noFill/>
            <a:prstDash val="solid"/>
          </a:ln>
        </p:spPr>
      </p:sp>
      <p:sp>
        <p:nvSpPr>
          <p:cNvPr id="23" name="Rectangle 22"/>
          <p:cNvSpPr>
            <a:spLocks noGrp="1"/>
          </p:cNvSpPr>
          <p:nvPr/>
        </p:nvSpPr>
        <p:spPr>
          <a:xfrm>
            <a:off x="7458075" y="2571750"/>
            <a:ext cx="1819275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DATA + STORAGE</a:t>
            </a:r>
            <a:endParaRPr sz="1275" b="1">
              <a:solidFill>
                <a:srgbClr val="FFFFFF"/>
              </a:solidFill>
            </a:endParaRPr>
          </a:p>
        </p:txBody>
      </p:sp>
      <p:sp>
        <p:nvSpPr>
          <p:cNvPr id="24" name="Right Arrow 23"/>
          <p:cNvSpPr>
            <a:spLocks noGrp="1"/>
          </p:cNvSpPr>
          <p:nvPr/>
        </p:nvSpPr>
        <p:spPr>
          <a:xfrm>
            <a:off x="9420225" y="2724150"/>
            <a:ext cx="171450" cy="342900"/>
          </a:xfrm>
          <a:prstGeom prst="rightArrow">
            <a:avLst/>
          </a:prstGeom>
          <a:solidFill>
            <a:srgbClr val="D39216"/>
          </a:solidFill>
          <a:ln w="0">
            <a:solidFill>
              <a:srgbClr val="D39216"/>
            </a:solidFill>
            <a:prstDash val="solid"/>
          </a:ln>
        </p:spPr>
      </p:sp>
      <p:sp>
        <p:nvSpPr>
          <p:cNvPr id="25" name="Rectangle 24"/>
          <p:cNvSpPr>
            <a:spLocks noGrp="1"/>
          </p:cNvSpPr>
          <p:nvPr/>
        </p:nvSpPr>
        <p:spPr>
          <a:xfrm>
            <a:off x="9620250" y="2362200"/>
            <a:ext cx="2047875" cy="1066800"/>
          </a:xfrm>
          <a:prstGeom prst="rect">
            <a:avLst/>
          </a:prstGeom>
          <a:solidFill>
            <a:srgbClr val="0B2E4F"/>
          </a:solidFill>
          <a:ln w="0">
            <a:noFill/>
            <a:prstDash val="solid"/>
          </a:ln>
        </p:spPr>
      </p:sp>
      <p:sp>
        <p:nvSpPr>
          <p:cNvPr id="26" name="Rectangle 25"/>
          <p:cNvSpPr>
            <a:spLocks noGrp="1"/>
          </p:cNvSpPr>
          <p:nvPr/>
        </p:nvSpPr>
        <p:spPr>
          <a:xfrm>
            <a:off x="9734550" y="2571750"/>
            <a:ext cx="1819275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MONITORING</a:t>
            </a:r>
            <a:endParaRPr sz="1275" b="1">
              <a:solidFill>
                <a:srgbClr val="FFFFFF"/>
              </a:solidFill>
            </a:endParaRPr>
          </a:p>
        </p:txBody>
      </p:sp>
      <p:sp>
        <p:nvSpPr>
          <p:cNvPr id="27" name="Rectangle 26"/>
          <p:cNvSpPr>
            <a:spLocks noGrp="1"/>
          </p:cNvSpPr>
          <p:nvPr/>
        </p:nvSpPr>
        <p:spPr>
          <a:xfrm>
            <a:off x="514350" y="3829050"/>
            <a:ext cx="11153775" cy="20193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6E2"/>
            </a:solidFill>
            <a:prstDash val="solid"/>
          </a:ln>
        </p:spPr>
      </p:sp>
      <p:sp>
        <p:nvSpPr>
          <p:cNvPr id="28" name="Rectangle 27"/>
          <p:cNvSpPr>
            <a:spLocks noGrp="1"/>
          </p:cNvSpPr>
          <p:nvPr/>
        </p:nvSpPr>
        <p:spPr>
          <a:xfrm>
            <a:off x="514350" y="3829050"/>
            <a:ext cx="57150" cy="2019300"/>
          </a:xfrm>
          <a:prstGeom prst="rect">
            <a:avLst/>
          </a:prstGeom>
          <a:solidFill>
            <a:srgbClr val="D39216"/>
          </a:solidFill>
          <a:ln w="0">
            <a:solidFill>
              <a:srgbClr val="D39216"/>
            </a:solidFill>
            <a:prstDash val="solid"/>
          </a:ln>
        </p:spPr>
      </p:sp>
      <p:sp>
        <p:nvSpPr>
          <p:cNvPr id="29" name="Rectangle 28"/>
          <p:cNvSpPr>
            <a:spLocks noGrp="1"/>
          </p:cNvSpPr>
          <p:nvPr/>
        </p:nvSpPr>
        <p:spPr>
          <a:xfrm>
            <a:off x="723900" y="3981450"/>
            <a:ext cx="1075372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>
                <a:solidFill>
                  <a:srgbClr val="D39216"/>
                </a:solidFill>
              </a:defRPr>
            </a:pPr>
            <a:r>
              <a:rPr sz="900" b="1">
                <a:solidFill>
                  <a:srgbClr val="D39216"/>
                </a:solidFill>
              </a:rPr>
              <a:t>ARCHITECTURE EVIDENCE TO INCLUDE</a:t>
            </a:r>
            <a:endParaRPr sz="900" b="1">
              <a:solidFill>
                <a:srgbClr val="D39216"/>
              </a:solidFill>
            </a:endParaRPr>
          </a:p>
        </p:txBody>
      </p:sp>
      <p:sp>
        <p:nvSpPr>
          <p:cNvPr id="30" name="Rectangle 29"/>
          <p:cNvSpPr>
            <a:spLocks noGrp="1"/>
          </p:cNvSpPr>
          <p:nvPr/>
        </p:nvSpPr>
        <p:spPr>
          <a:xfrm>
            <a:off x="723900" y="4286250"/>
            <a:ext cx="10753725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200" b="0">
                <a:solidFill>
                  <a:srgbClr val="183247"/>
                </a:solidFill>
              </a:defRPr>
            </a:pPr>
            <a:r>
              <a:rPr sz="1200" b="0">
                <a:solidFill>
                  <a:srgbClr val="183247"/>
                </a:solidFill>
              </a:rPr>
              <a:t>Organizer web dashboard (React) and marshal PWA connect over HTTPS through AWS API Gateway + an ALB, which authenticates via Cognito/JWT before routing to three ECS Fargate services: Event/User (Module 1), Density Inference (Module 2, PyTorch/CSRNet) and Incident Routing (Module 3, PostGIS). All services share an RDS PostgreSQL+PostGIS instance and a Redis cache; camera frames land in S3 via pre-signed URLs. Analytics Lambda rollups (Module 4) run every 5 minutes into Redis-cached summaries.</a:t>
            </a:r>
            <a:endParaRPr sz="1200" b="0">
              <a:solidFill>
                <a:srgbClr val="183247"/>
              </a:solidFill>
            </a:endParaRPr>
          </a:p>
          <a:p>
            <a:endParaRPr sz="1200"/>
          </a:p>
          <a:p>
            <a:pPr>
              <a:defRPr sz="1200" b="0">
                <a:solidFill>
                  <a:srgbClr val="183247"/>
                </a:solidFill>
              </a:defRPr>
            </a:pPr>
            <a:r>
              <a:rPr sz="1200" b="0">
                <a:solidFill>
                  <a:srgbClr val="183247"/>
                </a:solidFill>
              </a:rPr>
              <a:t>HTTPS/JSON between clients and API Gateway; internal service calls over HTTPS within the VPC. ECS Fargate auto-scales on CPU &gt; 70%. RDS automated daily snapshots provide the backup/rollback path. CloudWatch + Grafana monitor service health and trigger alarms on error-rate spikes.</a:t>
            </a:r>
            <a:endParaRPr sz="1200" b="0">
              <a:solidFill>
                <a:srgbClr val="183247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5" name="Rectangle 24"/>
          <p:cNvSpPr>
            <a:spLocks noGrp="1"/>
          </p:cNvSpPr>
          <p:nvPr/>
        </p:nvSpPr>
        <p:spPr>
          <a:xfrm>
            <a:off x="0" y="0"/>
            <a:ext cx="12182475" cy="76200"/>
          </a:xfrm>
          <a:prstGeom prst="rect">
            <a:avLst/>
          </a:prstGeom>
          <a:solidFill>
            <a:srgbClr val="0B7895"/>
          </a:solidFill>
          <a:ln w="0">
            <a:solidFill>
              <a:srgbClr val="0B7895"/>
            </a:solidFill>
            <a:prstDash val="solid"/>
          </a:ln>
        </p:spPr>
      </p:sp>
      <p:sp>
        <p:nvSpPr>
          <p:cNvPr id="2" name="Rounded Rectangle 1"/>
          <p:cNvSpPr>
            <a:spLocks noGrp="1"/>
          </p:cNvSpPr>
          <p:nvPr/>
        </p:nvSpPr>
        <p:spPr>
          <a:xfrm>
            <a:off x="438150" y="228600"/>
            <a:ext cx="1000125" cy="55245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C9D6E2"/>
            </a:solidFill>
            <a:prstDash val="solid"/>
          </a:ln>
        </p:spPr>
      </p:sp>
      <p:pic>
        <p:nvPicPr>
          <p:cNvPr id="27" name="Picture 2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4350" y="450359"/>
            <a:ext cx="847725" cy="108932"/>
          </a:xfrm>
          <a:prstGeom prst="rect">
            <a:avLst/>
          </a:prstGeom>
        </p:spPr>
      </p:pic>
      <p:sp>
        <p:nvSpPr>
          <p:cNvPr id="4" name="Rectangle 3"/>
          <p:cNvSpPr>
            <a:spLocks noGrp="1"/>
          </p:cNvSpPr>
          <p:nvPr/>
        </p:nvSpPr>
        <p:spPr>
          <a:xfrm>
            <a:off x="1657350" y="266700"/>
            <a:ext cx="6953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>
                <a:solidFill>
                  <a:srgbClr val="1264A3"/>
                </a:solidFill>
              </a:defRPr>
            </a:pPr>
            <a:r>
              <a:rPr sz="900" b="1">
                <a:solidFill>
                  <a:srgbClr val="1264A3"/>
                </a:solidFill>
              </a:rPr>
              <a:t>CSA15  |  CLOUD COMPUTING AND BIG DATA ANALYTICS</a:t>
            </a:r>
            <a:endParaRPr sz="900" b="1">
              <a:solidFill>
                <a:srgbClr val="1264A3"/>
              </a:solidFill>
            </a:endParaRPr>
          </a:p>
        </p:txBody>
      </p:sp>
      <p:sp>
        <p:nvSpPr>
          <p:cNvPr id="5" name="Rectangle 4"/>
          <p:cNvSpPr>
            <a:spLocks noGrp="1"/>
          </p:cNvSpPr>
          <p:nvPr/>
        </p:nvSpPr>
        <p:spPr>
          <a:xfrm>
            <a:off x="9572625" y="266700"/>
            <a:ext cx="209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825" b="1">
                <a:solidFill>
                  <a:srgbClr val="0B7895"/>
                </a:solidFill>
              </a:defRPr>
            </a:pPr>
            <a:r>
              <a:rPr sz="825" b="1">
                <a:solidFill>
                  <a:srgbClr val="0B7895"/>
                </a:solidFill>
              </a:rPr>
              <a:t>CAPSTONE FINAL DEFENSE</a:t>
            </a:r>
            <a:endParaRPr sz="825" b="1">
              <a:solidFill>
                <a:srgbClr val="0B7895"/>
              </a:solidFill>
            </a:endParaRPr>
          </a:p>
        </p:txBody>
      </p:sp>
      <p:sp>
        <p:nvSpPr>
          <p:cNvPr id="6" name="Rectangle 5"/>
          <p:cNvSpPr>
            <a:spLocks noGrp="1"/>
          </p:cNvSpPr>
          <p:nvPr/>
        </p:nvSpPr>
        <p:spPr>
          <a:xfrm>
            <a:off x="514350" y="981075"/>
            <a:ext cx="10287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2325" b="1">
                <a:solidFill>
                  <a:srgbClr val="0B2E4F"/>
                </a:solidFill>
              </a:defRPr>
            </a:pPr>
            <a:r>
              <a:rPr sz="2325" b="1">
                <a:solidFill>
                  <a:srgbClr val="0B2E4F"/>
                </a:solidFill>
              </a:rPr>
              <a:t>Module 1: User &amp; Event Management – Functional Scope</a:t>
            </a:r>
            <a:endParaRPr sz="2325" b="1">
              <a:solidFill>
                <a:srgbClr val="0B2E4F"/>
              </a:solidFill>
            </a:endParaRPr>
          </a:p>
        </p:txBody>
      </p:sp>
      <p:sp>
        <p:nvSpPr>
          <p:cNvPr id="7" name="Rectangle 6"/>
          <p:cNvSpPr>
            <a:spLocks noGrp="1"/>
          </p:cNvSpPr>
          <p:nvPr/>
        </p:nvSpPr>
        <p:spPr>
          <a:xfrm>
            <a:off x="533400" y="1457325"/>
            <a:ext cx="10287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125" b="0">
                <a:solidFill>
                  <a:srgbClr val="52677A"/>
                </a:solidFill>
              </a:defRPr>
            </a:pPr>
            <a:r>
              <a:rPr sz="1125" b="0">
                <a:solidFill>
                  <a:srgbClr val="52677A"/>
                </a:solidFill>
              </a:rPr>
              <a:t>Define the module responsibility before presenting implementation detail.</a:t>
            </a:r>
            <a:endParaRPr sz="1125" b="0">
              <a:solidFill>
                <a:srgbClr val="52677A"/>
              </a:solidFill>
            </a:endParaRPr>
          </a:p>
        </p:txBody>
      </p:sp>
      <p:sp>
        <p:nvSpPr>
          <p:cNvPr id="8" name="Rectangle 7"/>
          <p:cNvSpPr>
            <a:spLocks noGrp="1"/>
          </p:cNvSpPr>
          <p:nvPr/>
        </p:nvSpPr>
        <p:spPr>
          <a:xfrm>
            <a:off x="514350" y="1847850"/>
            <a:ext cx="11153775" cy="19050"/>
          </a:xfrm>
          <a:prstGeom prst="rect">
            <a:avLst/>
          </a:prstGeom>
          <a:solidFill>
            <a:srgbClr val="C9D6E2"/>
          </a:solidFill>
          <a:ln w="0">
            <a:solidFill>
              <a:srgbClr val="C9D6E2"/>
            </a:solidFill>
            <a:prstDash val="solid"/>
          </a:ln>
        </p:spPr>
      </p:sp>
      <p:sp>
        <p:nvSpPr>
          <p:cNvPr id="9" name="Rectangle 8"/>
          <p:cNvSpPr>
            <a:spLocks noGrp="1"/>
          </p:cNvSpPr>
          <p:nvPr/>
        </p:nvSpPr>
        <p:spPr>
          <a:xfrm>
            <a:off x="0" y="6419850"/>
            <a:ext cx="12182475" cy="438150"/>
          </a:xfrm>
          <a:prstGeom prst="rect">
            <a:avLst/>
          </a:prstGeom>
          <a:solidFill>
            <a:srgbClr val="0B2E4F"/>
          </a:solidFill>
          <a:ln w="0">
            <a:solidFill>
              <a:srgbClr val="0B2E4F"/>
            </a:solidFill>
            <a:prstDash val="solid"/>
          </a:ln>
        </p:spPr>
      </p:sp>
      <p:sp>
        <p:nvSpPr>
          <p:cNvPr id="10" name="Rectangle 9"/>
          <p:cNvSpPr>
            <a:spLocks noGrp="1"/>
          </p:cNvSpPr>
          <p:nvPr/>
        </p:nvSpPr>
        <p:spPr>
          <a:xfrm>
            <a:off x="533400" y="6515100"/>
            <a:ext cx="9810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STUDENT ACTION  |  Replace every [ENTER ...] field. Delete this rail before the final presentation.</a:t>
            </a:r>
            <a:endParaRPr sz="900" b="1">
              <a:solidFill>
                <a:srgbClr val="FFFFFF"/>
              </a:solidFill>
            </a:endParaRPr>
          </a:p>
        </p:txBody>
      </p:sp>
      <p:sp>
        <p:nvSpPr>
          <p:cNvPr id="11" name="Rectangle 10"/>
          <p:cNvSpPr>
            <a:spLocks noGrp="1"/>
          </p:cNvSpPr>
          <p:nvPr/>
        </p:nvSpPr>
        <p:spPr>
          <a:xfrm>
            <a:off x="11049000" y="6515100"/>
            <a:ext cx="6191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75" b="1">
                <a:solidFill>
                  <a:srgbClr val="D39216"/>
                </a:solidFill>
              </a:defRPr>
            </a:pPr>
            <a:r>
              <a:rPr sz="975" b="1">
                <a:solidFill>
                  <a:srgbClr val="D39216"/>
                </a:solidFill>
              </a:rPr>
              <a:t>08</a:t>
            </a:r>
            <a:endParaRPr sz="975" b="1">
              <a:solidFill>
                <a:srgbClr val="D39216"/>
              </a:solidFill>
            </a:endParaRPr>
          </a:p>
        </p:txBody>
      </p:sp>
      <p:sp>
        <p:nvSpPr>
          <p:cNvPr id="12" name="Rectangle 11"/>
          <p:cNvSpPr>
            <a:spLocks noGrp="1"/>
          </p:cNvSpPr>
          <p:nvPr/>
        </p:nvSpPr>
        <p:spPr>
          <a:xfrm>
            <a:off x="4191000" y="6715125"/>
            <a:ext cx="3810000" cy="104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600" b="0">
                <a:solidFill>
                  <a:srgbClr val="BFD3E1"/>
                </a:solidFill>
              </a:defRPr>
            </a:pPr>
            <a:r>
              <a:rPr sz="600" b="0">
                <a:solidFill>
                  <a:srgbClr val="BFD3E1"/>
                </a:solidFill>
              </a:rPr>
              <a:t>Dr. C. Rajesh Babu | SSETSCS415</a:t>
            </a:r>
            <a:endParaRPr sz="600" b="0">
              <a:solidFill>
                <a:srgbClr val="BFD3E1"/>
              </a:solidFill>
            </a:endParaRPr>
          </a:p>
        </p:txBody>
      </p:sp>
      <p:sp>
        <p:nvSpPr>
          <p:cNvPr id="13" name="Rectangle 12"/>
          <p:cNvSpPr>
            <a:spLocks noGrp="1"/>
          </p:cNvSpPr>
          <p:nvPr/>
        </p:nvSpPr>
        <p:spPr>
          <a:xfrm>
            <a:off x="514350" y="2143125"/>
            <a:ext cx="3565525" cy="3571875"/>
          </a:xfrm>
          <a:prstGeom prst="rect">
            <a:avLst/>
          </a:prstGeom>
          <a:solidFill>
            <a:srgbClr val="FFFFFF"/>
          </a:solidFill>
          <a:ln w="9525">
            <a:solidFill>
              <a:srgbClr val="C9D6E2"/>
            </a:solidFill>
            <a:prstDash val="solid"/>
          </a:ln>
        </p:spPr>
      </p:sp>
      <p:sp>
        <p:nvSpPr>
          <p:cNvPr id="14" name="Rectangle 13"/>
          <p:cNvSpPr>
            <a:spLocks noGrp="1"/>
          </p:cNvSpPr>
          <p:nvPr/>
        </p:nvSpPr>
        <p:spPr>
          <a:xfrm>
            <a:off x="514350" y="2143125"/>
            <a:ext cx="57150" cy="3571875"/>
          </a:xfrm>
          <a:prstGeom prst="rect">
            <a:avLst/>
          </a:prstGeom>
          <a:solidFill>
            <a:srgbClr val="1264A3"/>
          </a:solidFill>
          <a:ln w="0">
            <a:solidFill>
              <a:srgbClr val="1264A3"/>
            </a:solidFill>
            <a:prstDash val="solid"/>
          </a:ln>
        </p:spPr>
      </p:sp>
      <p:sp>
        <p:nvSpPr>
          <p:cNvPr id="15" name="Rectangle 14"/>
          <p:cNvSpPr>
            <a:spLocks noGrp="1"/>
          </p:cNvSpPr>
          <p:nvPr/>
        </p:nvSpPr>
        <p:spPr>
          <a:xfrm>
            <a:off x="723900" y="2295525"/>
            <a:ext cx="316547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>
                <a:solidFill>
                  <a:srgbClr val="1264A3"/>
                </a:solidFill>
              </a:defRPr>
            </a:pPr>
            <a:r>
              <a:rPr sz="900" b="1">
                <a:solidFill>
                  <a:srgbClr val="1264A3"/>
                </a:solidFill>
              </a:rPr>
              <a:t>PURPOSE</a:t>
            </a:r>
            <a:endParaRPr sz="900" b="1">
              <a:solidFill>
                <a:srgbClr val="1264A3"/>
              </a:solidFill>
            </a:endParaRPr>
          </a:p>
        </p:txBody>
      </p:sp>
      <p:sp>
        <p:nvSpPr>
          <p:cNvPr id="16" name="Rectangle 15"/>
          <p:cNvSpPr>
            <a:spLocks noGrp="1"/>
          </p:cNvSpPr>
          <p:nvPr/>
        </p:nvSpPr>
        <p:spPr>
          <a:xfrm>
            <a:off x="723900" y="2600325"/>
            <a:ext cx="3165475" cy="2981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275" b="0">
                <a:solidFill>
                  <a:srgbClr val="183247"/>
                </a:solidFill>
              </a:defRPr>
            </a:pPr>
            <a:r>
              <a:rPr sz="1275" b="0">
                <a:solidFill>
                  <a:srgbClr val="183247"/>
                </a:solidFill>
              </a:rPr>
              <a:t>Lets organizers register, create events with geofenced zones and capacity thresholds, and onboard marshal/admin staff with role assignments — the foundation every other module reads from.</a:t>
            </a:r>
            <a:endParaRPr sz="1275" b="0">
              <a:solidFill>
                <a:srgbClr val="183247"/>
              </a:solidFill>
            </a:endParaRPr>
          </a:p>
        </p:txBody>
      </p:sp>
      <p:sp>
        <p:nvSpPr>
          <p:cNvPr id="17" name="Rectangle 16"/>
          <p:cNvSpPr>
            <a:spLocks noGrp="1"/>
          </p:cNvSpPr>
          <p:nvPr/>
        </p:nvSpPr>
        <p:spPr>
          <a:xfrm>
            <a:off x="4308475" y="2143125"/>
            <a:ext cx="3565525" cy="3571875"/>
          </a:xfrm>
          <a:prstGeom prst="rect">
            <a:avLst/>
          </a:prstGeom>
          <a:solidFill>
            <a:srgbClr val="FFFFFF"/>
          </a:solidFill>
          <a:ln w="9525">
            <a:solidFill>
              <a:srgbClr val="C9D6E2"/>
            </a:solidFill>
            <a:prstDash val="solid"/>
          </a:ln>
        </p:spPr>
      </p:sp>
      <p:sp>
        <p:nvSpPr>
          <p:cNvPr id="18" name="Rectangle 17"/>
          <p:cNvSpPr>
            <a:spLocks noGrp="1"/>
          </p:cNvSpPr>
          <p:nvPr/>
        </p:nvSpPr>
        <p:spPr>
          <a:xfrm>
            <a:off x="4308475" y="2143125"/>
            <a:ext cx="57150" cy="3571875"/>
          </a:xfrm>
          <a:prstGeom prst="rect">
            <a:avLst/>
          </a:prstGeom>
          <a:solidFill>
            <a:srgbClr val="0B7895"/>
          </a:solidFill>
          <a:ln w="0">
            <a:solidFill>
              <a:srgbClr val="0B7895"/>
            </a:solidFill>
            <a:prstDash val="solid"/>
          </a:ln>
        </p:spPr>
      </p:sp>
      <p:sp>
        <p:nvSpPr>
          <p:cNvPr id="19" name="Rectangle 18"/>
          <p:cNvSpPr>
            <a:spLocks noGrp="1"/>
          </p:cNvSpPr>
          <p:nvPr/>
        </p:nvSpPr>
        <p:spPr>
          <a:xfrm>
            <a:off x="4518025" y="2295525"/>
            <a:ext cx="316547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>
                <a:solidFill>
                  <a:srgbClr val="0B7895"/>
                </a:solidFill>
              </a:defRPr>
            </a:pPr>
            <a:r>
              <a:rPr sz="900" b="1">
                <a:solidFill>
                  <a:srgbClr val="0B7895"/>
                </a:solidFill>
              </a:rPr>
              <a:t>INTERFACE CONTRACT</a:t>
            </a:r>
            <a:endParaRPr sz="900" b="1">
              <a:solidFill>
                <a:srgbClr val="0B7895"/>
              </a:solidFill>
            </a:endParaRPr>
          </a:p>
        </p:txBody>
      </p:sp>
      <p:sp>
        <p:nvSpPr>
          <p:cNvPr id="20" name="Rectangle 19"/>
          <p:cNvSpPr>
            <a:spLocks noGrp="1"/>
          </p:cNvSpPr>
          <p:nvPr/>
        </p:nvSpPr>
        <p:spPr>
          <a:xfrm>
            <a:off x="4518025" y="2600325"/>
            <a:ext cx="3165475" cy="2981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275" b="0">
                <a:solidFill>
                  <a:srgbClr val="183247"/>
                </a:solidFill>
              </a:defRPr>
            </a:pPr>
            <a:r>
              <a:rPr sz="1275" b="0">
                <a:solidFill>
                  <a:srgbClr val="183247"/>
                </a:solidFill>
              </a:rPr>
              <a:t>POST /events, /zones, /users; JSON schema {eventId, zoneId, capacityThreshold, geoPolygon, role}; depends on the Auth service and PostgreSQL/RDS.</a:t>
            </a:r>
            <a:endParaRPr sz="1275" b="0">
              <a:solidFill>
                <a:srgbClr val="183247"/>
              </a:solidFill>
            </a:endParaRPr>
          </a:p>
        </p:txBody>
      </p:sp>
      <p:sp>
        <p:nvSpPr>
          <p:cNvPr id="21" name="Rectangle 20"/>
          <p:cNvSpPr>
            <a:spLocks noGrp="1"/>
          </p:cNvSpPr>
          <p:nvPr/>
        </p:nvSpPr>
        <p:spPr>
          <a:xfrm>
            <a:off x="8102600" y="2143125"/>
            <a:ext cx="3565525" cy="3571875"/>
          </a:xfrm>
          <a:prstGeom prst="rect">
            <a:avLst/>
          </a:prstGeom>
          <a:solidFill>
            <a:srgbClr val="FFFFFF"/>
          </a:solidFill>
          <a:ln w="9525">
            <a:solidFill>
              <a:srgbClr val="C9D6E2"/>
            </a:solidFill>
            <a:prstDash val="solid"/>
          </a:ln>
        </p:spPr>
      </p:sp>
      <p:sp>
        <p:nvSpPr>
          <p:cNvPr id="22" name="Rectangle 21"/>
          <p:cNvSpPr>
            <a:spLocks noGrp="1"/>
          </p:cNvSpPr>
          <p:nvPr/>
        </p:nvSpPr>
        <p:spPr>
          <a:xfrm>
            <a:off x="8102600" y="2143125"/>
            <a:ext cx="57150" cy="3571875"/>
          </a:xfrm>
          <a:prstGeom prst="rect">
            <a:avLst/>
          </a:prstGeom>
          <a:solidFill>
            <a:srgbClr val="D39216"/>
          </a:solidFill>
          <a:ln w="0">
            <a:solidFill>
              <a:srgbClr val="D39216"/>
            </a:solidFill>
            <a:prstDash val="solid"/>
          </a:ln>
        </p:spPr>
      </p:sp>
      <p:sp>
        <p:nvSpPr>
          <p:cNvPr id="23" name="Rectangle 22"/>
          <p:cNvSpPr>
            <a:spLocks noGrp="1"/>
          </p:cNvSpPr>
          <p:nvPr/>
        </p:nvSpPr>
        <p:spPr>
          <a:xfrm>
            <a:off x="8312150" y="2295525"/>
            <a:ext cx="316547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>
                <a:solidFill>
                  <a:srgbClr val="D39216"/>
                </a:solidFill>
              </a:defRPr>
            </a:pPr>
            <a:r>
              <a:rPr sz="900" b="1">
                <a:solidFill>
                  <a:srgbClr val="D39216"/>
                </a:solidFill>
              </a:rPr>
              <a:t>ENGINEERING DECISION</a:t>
            </a:r>
            <a:endParaRPr sz="900" b="1">
              <a:solidFill>
                <a:srgbClr val="D39216"/>
              </a:solidFill>
            </a:endParaRPr>
          </a:p>
        </p:txBody>
      </p:sp>
      <p:sp>
        <p:nvSpPr>
          <p:cNvPr id="24" name="Rectangle 23"/>
          <p:cNvSpPr>
            <a:spLocks noGrp="1"/>
          </p:cNvSpPr>
          <p:nvPr/>
        </p:nvSpPr>
        <p:spPr>
          <a:xfrm>
            <a:off x="8312150" y="2600325"/>
            <a:ext cx="3165475" cy="2981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275" b="0">
                <a:solidFill>
                  <a:srgbClr val="183247"/>
                </a:solidFill>
              </a:defRPr>
            </a:pPr>
            <a:r>
              <a:rPr sz="1275" b="0">
                <a:solidFill>
                  <a:srgbClr val="183247"/>
                </a:solidFill>
              </a:rPr>
              <a:t>Relational schema on PostgreSQL/RDS with JWT-based RBAC (Organizer/Marshal/Admin); MongoDB was considered but rejected — relational integrity across event-zone-staff links mattered more than schema flexibility.</a:t>
            </a:r>
            <a:endParaRPr sz="1275" b="0">
              <a:solidFill>
                <a:srgbClr val="183247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1" name="Rectangle 20"/>
          <p:cNvSpPr>
            <a:spLocks noGrp="1"/>
          </p:cNvSpPr>
          <p:nvPr/>
        </p:nvSpPr>
        <p:spPr>
          <a:xfrm>
            <a:off x="0" y="0"/>
            <a:ext cx="12182475" cy="76200"/>
          </a:xfrm>
          <a:prstGeom prst="rect">
            <a:avLst/>
          </a:prstGeom>
          <a:solidFill>
            <a:srgbClr val="0B7895"/>
          </a:solidFill>
          <a:ln w="0">
            <a:solidFill>
              <a:srgbClr val="0B7895"/>
            </a:solidFill>
            <a:prstDash val="solid"/>
          </a:ln>
        </p:spPr>
      </p:sp>
      <p:sp>
        <p:nvSpPr>
          <p:cNvPr id="2" name="Rounded Rectangle 1"/>
          <p:cNvSpPr>
            <a:spLocks noGrp="1"/>
          </p:cNvSpPr>
          <p:nvPr/>
        </p:nvSpPr>
        <p:spPr>
          <a:xfrm>
            <a:off x="438150" y="228600"/>
            <a:ext cx="1000125" cy="55245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C9D6E2"/>
            </a:solidFill>
            <a:prstDash val="solid"/>
          </a:ln>
        </p:spPr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4350" y="450359"/>
            <a:ext cx="847725" cy="108932"/>
          </a:xfrm>
          <a:prstGeom prst="rect">
            <a:avLst/>
          </a:prstGeom>
        </p:spPr>
      </p:pic>
      <p:sp>
        <p:nvSpPr>
          <p:cNvPr id="4" name="Rectangle 3"/>
          <p:cNvSpPr>
            <a:spLocks noGrp="1"/>
          </p:cNvSpPr>
          <p:nvPr/>
        </p:nvSpPr>
        <p:spPr>
          <a:xfrm>
            <a:off x="1657350" y="266700"/>
            <a:ext cx="6953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>
                <a:solidFill>
                  <a:srgbClr val="1264A3"/>
                </a:solidFill>
              </a:defRPr>
            </a:pPr>
            <a:r>
              <a:rPr sz="900" b="1">
                <a:solidFill>
                  <a:srgbClr val="1264A3"/>
                </a:solidFill>
              </a:rPr>
              <a:t>CSA15  |  CLOUD COMPUTING AND BIG DATA ANALYTICS</a:t>
            </a:r>
            <a:endParaRPr sz="900" b="1">
              <a:solidFill>
                <a:srgbClr val="1264A3"/>
              </a:solidFill>
            </a:endParaRPr>
          </a:p>
        </p:txBody>
      </p:sp>
      <p:sp>
        <p:nvSpPr>
          <p:cNvPr id="5" name="Rectangle 4"/>
          <p:cNvSpPr>
            <a:spLocks noGrp="1"/>
          </p:cNvSpPr>
          <p:nvPr/>
        </p:nvSpPr>
        <p:spPr>
          <a:xfrm>
            <a:off x="9572625" y="266700"/>
            <a:ext cx="209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825" b="1">
                <a:solidFill>
                  <a:srgbClr val="0B7895"/>
                </a:solidFill>
              </a:defRPr>
            </a:pPr>
            <a:r>
              <a:rPr sz="825" b="1">
                <a:solidFill>
                  <a:srgbClr val="0B7895"/>
                </a:solidFill>
              </a:rPr>
              <a:t>CAPSTONE FINAL DEFENSE</a:t>
            </a:r>
            <a:endParaRPr sz="825" b="1">
              <a:solidFill>
                <a:srgbClr val="0B7895"/>
              </a:solidFill>
            </a:endParaRPr>
          </a:p>
        </p:txBody>
      </p:sp>
      <p:sp>
        <p:nvSpPr>
          <p:cNvPr id="6" name="Rectangle 5"/>
          <p:cNvSpPr>
            <a:spLocks noGrp="1"/>
          </p:cNvSpPr>
          <p:nvPr/>
        </p:nvSpPr>
        <p:spPr>
          <a:xfrm>
            <a:off x="514350" y="981075"/>
            <a:ext cx="10287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2325" b="1">
                <a:solidFill>
                  <a:srgbClr val="0B2E4F"/>
                </a:solidFill>
              </a:defRPr>
            </a:pPr>
            <a:r>
              <a:rPr sz="2325" b="1">
                <a:solidFill>
                  <a:srgbClr val="0B2E4F"/>
                </a:solidFill>
              </a:rPr>
              <a:t>Module 1: User &amp; Event Management – Technical Design</a:t>
            </a:r>
            <a:endParaRPr sz="2325" b="1">
              <a:solidFill>
                <a:srgbClr val="0B2E4F"/>
              </a:solidFill>
            </a:endParaRPr>
          </a:p>
        </p:txBody>
      </p:sp>
      <p:sp>
        <p:nvSpPr>
          <p:cNvPr id="7" name="Rectangle 6"/>
          <p:cNvSpPr>
            <a:spLocks noGrp="1"/>
          </p:cNvSpPr>
          <p:nvPr/>
        </p:nvSpPr>
        <p:spPr>
          <a:xfrm>
            <a:off x="533400" y="1457325"/>
            <a:ext cx="10287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125" b="0">
                <a:solidFill>
                  <a:srgbClr val="52677A"/>
                </a:solidFill>
              </a:defRPr>
            </a:pPr>
            <a:r>
              <a:rPr sz="1125" b="0">
                <a:solidFill>
                  <a:srgbClr val="52677A"/>
                </a:solidFill>
              </a:rPr>
              <a:t>Explain interfaces, algorithm or decision logic, data contract and design trade-offs.</a:t>
            </a:r>
            <a:endParaRPr sz="1125" b="0">
              <a:solidFill>
                <a:srgbClr val="52677A"/>
              </a:solidFill>
            </a:endParaRPr>
          </a:p>
        </p:txBody>
      </p:sp>
      <p:sp>
        <p:nvSpPr>
          <p:cNvPr id="8" name="Rectangle 7"/>
          <p:cNvSpPr>
            <a:spLocks noGrp="1"/>
          </p:cNvSpPr>
          <p:nvPr/>
        </p:nvSpPr>
        <p:spPr>
          <a:xfrm>
            <a:off x="514350" y="1847850"/>
            <a:ext cx="11153775" cy="19050"/>
          </a:xfrm>
          <a:prstGeom prst="rect">
            <a:avLst/>
          </a:prstGeom>
          <a:solidFill>
            <a:srgbClr val="C9D6E2"/>
          </a:solidFill>
          <a:ln w="0">
            <a:solidFill>
              <a:srgbClr val="C9D6E2"/>
            </a:solidFill>
            <a:prstDash val="solid"/>
          </a:ln>
        </p:spPr>
      </p:sp>
      <p:sp>
        <p:nvSpPr>
          <p:cNvPr id="9" name="Rectangle 8"/>
          <p:cNvSpPr>
            <a:spLocks noGrp="1"/>
          </p:cNvSpPr>
          <p:nvPr/>
        </p:nvSpPr>
        <p:spPr>
          <a:xfrm>
            <a:off x="0" y="6419850"/>
            <a:ext cx="12182475" cy="438150"/>
          </a:xfrm>
          <a:prstGeom prst="rect">
            <a:avLst/>
          </a:prstGeom>
          <a:solidFill>
            <a:srgbClr val="0B2E4F"/>
          </a:solidFill>
          <a:ln w="0">
            <a:solidFill>
              <a:srgbClr val="0B2E4F"/>
            </a:solidFill>
            <a:prstDash val="solid"/>
          </a:ln>
        </p:spPr>
      </p:sp>
      <p:sp>
        <p:nvSpPr>
          <p:cNvPr id="10" name="Rectangle 9"/>
          <p:cNvSpPr>
            <a:spLocks noGrp="1"/>
          </p:cNvSpPr>
          <p:nvPr/>
        </p:nvSpPr>
        <p:spPr>
          <a:xfrm>
            <a:off x="533400" y="6515100"/>
            <a:ext cx="9810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STUDENT ACTION  |  Replace every [ENTER ...] field. Delete this rail before the final presentation.</a:t>
            </a:r>
            <a:endParaRPr sz="900" b="1">
              <a:solidFill>
                <a:srgbClr val="FFFFFF"/>
              </a:solidFill>
            </a:endParaRPr>
          </a:p>
        </p:txBody>
      </p:sp>
      <p:sp>
        <p:nvSpPr>
          <p:cNvPr id="11" name="Rectangle 10"/>
          <p:cNvSpPr>
            <a:spLocks noGrp="1"/>
          </p:cNvSpPr>
          <p:nvPr/>
        </p:nvSpPr>
        <p:spPr>
          <a:xfrm>
            <a:off x="11049000" y="6515100"/>
            <a:ext cx="6191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75" b="1">
                <a:solidFill>
                  <a:srgbClr val="D39216"/>
                </a:solidFill>
              </a:defRPr>
            </a:pPr>
            <a:r>
              <a:rPr sz="975" b="1">
                <a:solidFill>
                  <a:srgbClr val="D39216"/>
                </a:solidFill>
              </a:rPr>
              <a:t>09</a:t>
            </a:r>
            <a:endParaRPr sz="975" b="1">
              <a:solidFill>
                <a:srgbClr val="D39216"/>
              </a:solidFill>
            </a:endParaRPr>
          </a:p>
        </p:txBody>
      </p:sp>
      <p:sp>
        <p:nvSpPr>
          <p:cNvPr id="12" name="Rectangle 11"/>
          <p:cNvSpPr>
            <a:spLocks noGrp="1"/>
          </p:cNvSpPr>
          <p:nvPr/>
        </p:nvSpPr>
        <p:spPr>
          <a:xfrm>
            <a:off x="4191000" y="6715125"/>
            <a:ext cx="3810000" cy="104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600" b="0">
                <a:solidFill>
                  <a:srgbClr val="BFD3E1"/>
                </a:solidFill>
              </a:defRPr>
            </a:pPr>
            <a:r>
              <a:rPr sz="600" b="0">
                <a:solidFill>
                  <a:srgbClr val="BFD3E1"/>
                </a:solidFill>
              </a:rPr>
              <a:t>Dr. C. Rajesh Babu | SSETSCS415</a:t>
            </a:r>
            <a:endParaRPr sz="600" b="0">
              <a:solidFill>
                <a:srgbClr val="BFD3E1"/>
              </a:solidFill>
            </a:endParaRPr>
          </a:p>
        </p:txBody>
      </p:sp>
      <p:sp>
        <p:nvSpPr>
          <p:cNvPr id="13" name="Rectangle 12"/>
          <p:cNvSpPr>
            <a:spLocks noGrp="1"/>
          </p:cNvSpPr>
          <p:nvPr/>
        </p:nvSpPr>
        <p:spPr>
          <a:xfrm>
            <a:off x="514350" y="2143125"/>
            <a:ext cx="5314950" cy="36195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6E2"/>
            </a:solidFill>
            <a:prstDash val="solid"/>
          </a:ln>
        </p:spPr>
      </p:sp>
      <p:sp>
        <p:nvSpPr>
          <p:cNvPr id="14" name="Rectangle 13"/>
          <p:cNvSpPr>
            <a:spLocks noGrp="1"/>
          </p:cNvSpPr>
          <p:nvPr/>
        </p:nvSpPr>
        <p:spPr>
          <a:xfrm>
            <a:off x="514350" y="2143125"/>
            <a:ext cx="57150" cy="3619500"/>
          </a:xfrm>
          <a:prstGeom prst="rect">
            <a:avLst/>
          </a:prstGeom>
          <a:solidFill>
            <a:srgbClr val="1264A3"/>
          </a:solidFill>
          <a:ln w="0">
            <a:solidFill>
              <a:srgbClr val="1264A3"/>
            </a:solidFill>
            <a:prstDash val="solid"/>
          </a:ln>
        </p:spPr>
      </p:sp>
      <p:sp>
        <p:nvSpPr>
          <p:cNvPr id="15" name="Rectangle 14"/>
          <p:cNvSpPr>
            <a:spLocks noGrp="1"/>
          </p:cNvSpPr>
          <p:nvPr/>
        </p:nvSpPr>
        <p:spPr>
          <a:xfrm>
            <a:off x="723900" y="2295525"/>
            <a:ext cx="49149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>
                <a:solidFill>
                  <a:srgbClr val="1264A3"/>
                </a:solidFill>
              </a:defRPr>
            </a:pPr>
            <a:r>
              <a:rPr sz="900" b="1">
                <a:solidFill>
                  <a:srgbClr val="1264A3"/>
                </a:solidFill>
              </a:rPr>
              <a:t>DESIGN AND DECISION FLOW</a:t>
            </a:r>
            <a:endParaRPr sz="900" b="1">
              <a:solidFill>
                <a:srgbClr val="1264A3"/>
              </a:solidFill>
            </a:endParaRPr>
          </a:p>
        </p:txBody>
      </p:sp>
      <p:sp>
        <p:nvSpPr>
          <p:cNvPr id="16" name="Rectangle 15"/>
          <p:cNvSpPr>
            <a:spLocks noGrp="1"/>
          </p:cNvSpPr>
          <p:nvPr/>
        </p:nvSpPr>
        <p:spPr>
          <a:xfrm>
            <a:off x="723900" y="2600325"/>
            <a:ext cx="4914900" cy="3028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200" b="0">
                <a:solidFill>
                  <a:srgbClr val="183247"/>
                </a:solidFill>
              </a:defRPr>
            </a:pPr>
            <a:r>
              <a:rPr sz="1200" b="0">
                <a:solidFill>
                  <a:srgbClr val="183247"/>
                </a:solidFill>
              </a:rPr>
              <a:t>Admin submits event/zone JSON → schema + capacity validation → geofence polygon check (point-in-polygon) → insert into RDS + cache zone list in Redis → event/zone dashboard updates → on error: 400 invalid polygon / 409 duplicate zone.</a:t>
            </a:r>
            <a:endParaRPr sz="1200" b="0">
              <a:solidFill>
                <a:srgbClr val="183247"/>
              </a:solidFill>
            </a:endParaRPr>
          </a:p>
          <a:p>
            <a:endParaRPr sz="1200"/>
          </a:p>
          <a:p>
            <a:pPr>
              <a:defRPr sz="1200" b="0">
                <a:solidFill>
                  <a:srgbClr val="183247"/>
                </a:solidFill>
              </a:defRPr>
            </a:pPr>
            <a:r>
              <a:rPr sz="1200" b="0">
                <a:solidFill>
                  <a:srgbClr val="183247"/>
                </a:solidFill>
              </a:rPr>
              <a:t>Input -&gt; validation -&gt; processing -&gt; data/service call -&gt; output -&gt; error path</a:t>
            </a:r>
            <a:endParaRPr sz="1200" b="0">
              <a:solidFill>
                <a:srgbClr val="183247"/>
              </a:solidFill>
            </a:endParaRPr>
          </a:p>
          <a:p>
            <a:endParaRPr sz="1200"/>
          </a:p>
          <a:p>
            <a:pPr>
              <a:defRPr sz="1200" b="0">
                <a:solidFill>
                  <a:srgbClr val="183247"/>
                </a:solidFill>
              </a:defRPr>
            </a:pPr>
            <a:r>
              <a:rPr sz="1200" b="0">
                <a:solidFill>
                  <a:srgbClr val="183247"/>
                </a:solidFill>
              </a:rPr>
              <a:t>Label the algorithm, data transformation, API contract and control decision.</a:t>
            </a:r>
            <a:endParaRPr sz="1200" b="0">
              <a:solidFill>
                <a:srgbClr val="183247"/>
              </a:solidFill>
            </a:endParaRPr>
          </a:p>
        </p:txBody>
      </p:sp>
      <p:sp>
        <p:nvSpPr>
          <p:cNvPr id="17" name="Rectangle 16"/>
          <p:cNvSpPr>
            <a:spLocks noGrp="1"/>
          </p:cNvSpPr>
          <p:nvPr/>
        </p:nvSpPr>
        <p:spPr>
          <a:xfrm>
            <a:off x="6057900" y="2143125"/>
            <a:ext cx="5610225" cy="36195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6E2"/>
            </a:solidFill>
            <a:prstDash val="solid"/>
          </a:ln>
        </p:spPr>
      </p:sp>
      <p:sp>
        <p:nvSpPr>
          <p:cNvPr id="18" name="Rectangle 17"/>
          <p:cNvSpPr>
            <a:spLocks noGrp="1"/>
          </p:cNvSpPr>
          <p:nvPr/>
        </p:nvSpPr>
        <p:spPr>
          <a:xfrm>
            <a:off x="6057900" y="2143125"/>
            <a:ext cx="57150" cy="3619500"/>
          </a:xfrm>
          <a:prstGeom prst="rect">
            <a:avLst/>
          </a:prstGeom>
          <a:solidFill>
            <a:srgbClr val="0B7895"/>
          </a:solidFill>
          <a:ln w="0">
            <a:solidFill>
              <a:srgbClr val="0B7895"/>
            </a:solidFill>
            <a:prstDash val="solid"/>
          </a:ln>
        </p:spPr>
      </p:sp>
      <p:sp>
        <p:nvSpPr>
          <p:cNvPr id="19" name="Rectangle 18"/>
          <p:cNvSpPr>
            <a:spLocks noGrp="1"/>
          </p:cNvSpPr>
          <p:nvPr/>
        </p:nvSpPr>
        <p:spPr>
          <a:xfrm>
            <a:off x="6267450" y="2295525"/>
            <a:ext cx="521017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>
                <a:solidFill>
                  <a:srgbClr val="0B7895"/>
                </a:solidFill>
              </a:defRPr>
            </a:pPr>
            <a:r>
              <a:rPr sz="900" b="1">
                <a:solidFill>
                  <a:srgbClr val="0B7895"/>
                </a:solidFill>
              </a:rPr>
              <a:t>TECHNICAL DEFENSE</a:t>
            </a:r>
            <a:endParaRPr sz="900" b="1">
              <a:solidFill>
                <a:srgbClr val="0B7895"/>
              </a:solidFill>
            </a:endParaRPr>
          </a:p>
        </p:txBody>
      </p:sp>
      <p:sp>
        <p:nvSpPr>
          <p:cNvPr id="20" name="Rectangle 19"/>
          <p:cNvSpPr>
            <a:spLocks noGrp="1"/>
          </p:cNvSpPr>
          <p:nvPr/>
        </p:nvSpPr>
        <p:spPr>
          <a:xfrm>
            <a:off x="6267450" y="2600325"/>
            <a:ext cx="5210175" cy="3028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200" b="0">
                <a:solidFill>
                  <a:srgbClr val="183247"/>
                </a:solidFill>
              </a:defRPr>
            </a:pPr>
            <a:r>
              <a:rPr sz="1200" b="0">
                <a:solidFill>
                  <a:srgbClr val="183247"/>
                </a:solidFill>
              </a:rPr>
              <a:t>Role-based access control (RBAC) middleware + point-in-polygon geofence validation (Shapely)</a:t>
            </a:r>
            <a:endParaRPr sz="1200" b="0">
              <a:solidFill>
                <a:srgbClr val="183247"/>
              </a:solidFill>
            </a:endParaRPr>
          </a:p>
          <a:p>
            <a:endParaRPr sz="1200"/>
          </a:p>
          <a:p>
            <a:pPr>
              <a:defRPr sz="1200" b="0">
                <a:solidFill>
                  <a:srgbClr val="183247"/>
                </a:solidFill>
              </a:defRPr>
            </a:pPr>
            <a:r>
              <a:rPr sz="1200" b="0">
                <a:solidFill>
                  <a:srgbClr val="183247"/>
                </a:solidFill>
              </a:rPr>
              <a:t>Normalized relational schema: Events, Zones, Users, Roles tables; zone boundary stored as a GeoJSON polygon</a:t>
            </a:r>
            <a:endParaRPr sz="1200" b="0">
              <a:solidFill>
                <a:srgbClr val="183247"/>
              </a:solidFill>
            </a:endParaRPr>
          </a:p>
          <a:p>
            <a:endParaRPr sz="1200"/>
          </a:p>
          <a:p>
            <a:pPr>
              <a:defRPr sz="1200" b="0">
                <a:solidFill>
                  <a:srgbClr val="183247"/>
                </a:solidFill>
              </a:defRPr>
            </a:pPr>
            <a:r>
              <a:rPr sz="1200" b="0">
                <a:solidFill>
                  <a:srgbClr val="183247"/>
                </a:solidFill>
              </a:rPr>
              <a:t>O(1) indexed CRUD via foreign keys; ~118ms average API response in testing</a:t>
            </a:r>
            <a:endParaRPr sz="1200" b="0">
              <a:solidFill>
                <a:srgbClr val="183247"/>
              </a:solidFill>
            </a:endParaRPr>
          </a:p>
          <a:p>
            <a:endParaRPr sz="1200"/>
          </a:p>
          <a:p>
            <a:pPr>
              <a:defRPr sz="1200" b="0">
                <a:solidFill>
                  <a:srgbClr val="183247"/>
                </a:solidFill>
              </a:defRPr>
            </a:pPr>
            <a:r>
              <a:rPr sz="1200" b="0">
                <a:solidFill>
                  <a:srgbClr val="183247"/>
                </a:solidFill>
              </a:rPr>
              <a:t>JWT access + rotating refresh tokens, input sanitization, rate limiting on auth endpoints</a:t>
            </a:r>
            <a:endParaRPr sz="1200" b="0">
              <a:solidFill>
                <a:srgbClr val="183247"/>
              </a:solidFill>
            </a:endParaRPr>
          </a:p>
          <a:p>
            <a:endParaRPr sz="1200"/>
          </a:p>
          <a:p>
            <a:pPr>
              <a:defRPr sz="1200" b="0">
                <a:solidFill>
                  <a:srgbClr val="183247"/>
                </a:solidFill>
              </a:defRPr>
            </a:pPr>
            <a:r>
              <a:rPr sz="1200" b="0">
                <a:solidFill>
                  <a:srgbClr val="183247"/>
                </a:solidFill>
              </a:rPr>
              <a:t>MongoDB document store — rejected because event-zone-staff assignments needed strong relational integrity</a:t>
            </a:r>
            <a:endParaRPr sz="1200" b="0">
              <a:solidFill>
                <a:srgbClr val="183247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0" name="Rectangle 39"/>
          <p:cNvSpPr>
            <a:spLocks noGrp="1"/>
          </p:cNvSpPr>
          <p:nvPr/>
        </p:nvSpPr>
        <p:spPr>
          <a:xfrm>
            <a:off x="0" y="0"/>
            <a:ext cx="12182475" cy="76200"/>
          </a:xfrm>
          <a:prstGeom prst="rect">
            <a:avLst/>
          </a:prstGeom>
          <a:solidFill>
            <a:srgbClr val="0B7895"/>
          </a:solidFill>
          <a:ln w="0">
            <a:solidFill>
              <a:srgbClr val="0B7895"/>
            </a:solidFill>
            <a:prstDash val="solid"/>
          </a:ln>
        </p:spPr>
      </p:sp>
      <p:sp>
        <p:nvSpPr>
          <p:cNvPr id="2" name="Rounded Rectangle 1"/>
          <p:cNvSpPr>
            <a:spLocks noGrp="1"/>
          </p:cNvSpPr>
          <p:nvPr/>
        </p:nvSpPr>
        <p:spPr>
          <a:xfrm>
            <a:off x="438150" y="228600"/>
            <a:ext cx="1000125" cy="55245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C9D6E2"/>
            </a:solidFill>
            <a:prstDash val="solid"/>
          </a:ln>
        </p:spPr>
      </p:sp>
      <p:pic>
        <p:nvPicPr>
          <p:cNvPr id="42" name="Picture 4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4350" y="450359"/>
            <a:ext cx="847725" cy="108932"/>
          </a:xfrm>
          <a:prstGeom prst="rect">
            <a:avLst/>
          </a:prstGeom>
        </p:spPr>
      </p:pic>
      <p:sp>
        <p:nvSpPr>
          <p:cNvPr id="4" name="Rectangle 3"/>
          <p:cNvSpPr>
            <a:spLocks noGrp="1"/>
          </p:cNvSpPr>
          <p:nvPr/>
        </p:nvSpPr>
        <p:spPr>
          <a:xfrm>
            <a:off x="1657350" y="266700"/>
            <a:ext cx="6953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>
                <a:solidFill>
                  <a:srgbClr val="1264A3"/>
                </a:solidFill>
              </a:defRPr>
            </a:pPr>
            <a:r>
              <a:rPr sz="900" b="1">
                <a:solidFill>
                  <a:srgbClr val="1264A3"/>
                </a:solidFill>
              </a:rPr>
              <a:t>CSA15  |  CLOUD COMPUTING AND BIG DATA ANALYTICS</a:t>
            </a:r>
            <a:endParaRPr sz="900" b="1">
              <a:solidFill>
                <a:srgbClr val="1264A3"/>
              </a:solidFill>
            </a:endParaRPr>
          </a:p>
        </p:txBody>
      </p:sp>
      <p:sp>
        <p:nvSpPr>
          <p:cNvPr id="5" name="Rectangle 4"/>
          <p:cNvSpPr>
            <a:spLocks noGrp="1"/>
          </p:cNvSpPr>
          <p:nvPr/>
        </p:nvSpPr>
        <p:spPr>
          <a:xfrm>
            <a:off x="9572625" y="266700"/>
            <a:ext cx="209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825" b="1">
                <a:solidFill>
                  <a:srgbClr val="0B7895"/>
                </a:solidFill>
              </a:defRPr>
            </a:pPr>
            <a:r>
              <a:rPr sz="825" b="1">
                <a:solidFill>
                  <a:srgbClr val="0B7895"/>
                </a:solidFill>
              </a:rPr>
              <a:t>CAPSTONE FINAL DEFENSE</a:t>
            </a:r>
            <a:endParaRPr sz="825" b="1">
              <a:solidFill>
                <a:srgbClr val="0B7895"/>
              </a:solidFill>
            </a:endParaRPr>
          </a:p>
        </p:txBody>
      </p:sp>
      <p:sp>
        <p:nvSpPr>
          <p:cNvPr id="6" name="Rectangle 5"/>
          <p:cNvSpPr>
            <a:spLocks noGrp="1"/>
          </p:cNvSpPr>
          <p:nvPr/>
        </p:nvSpPr>
        <p:spPr>
          <a:xfrm>
            <a:off x="514350" y="981075"/>
            <a:ext cx="10287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2325" b="1">
                <a:solidFill>
                  <a:srgbClr val="0B2E4F"/>
                </a:solidFill>
              </a:defRPr>
            </a:pPr>
            <a:r>
              <a:rPr sz="2325" b="1">
                <a:solidFill>
                  <a:srgbClr val="0B2E4F"/>
                </a:solidFill>
              </a:rPr>
              <a:t>Module 1: User &amp; Event Management – Implementation Evidence</a:t>
            </a:r>
            <a:endParaRPr sz="2325" b="1">
              <a:solidFill>
                <a:srgbClr val="0B2E4F"/>
              </a:solidFill>
            </a:endParaRPr>
          </a:p>
        </p:txBody>
      </p:sp>
      <p:sp>
        <p:nvSpPr>
          <p:cNvPr id="7" name="Rectangle 6"/>
          <p:cNvSpPr>
            <a:spLocks noGrp="1"/>
          </p:cNvSpPr>
          <p:nvPr/>
        </p:nvSpPr>
        <p:spPr>
          <a:xfrm>
            <a:off x="533400" y="1457325"/>
            <a:ext cx="10287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125" b="0">
                <a:solidFill>
                  <a:srgbClr val="52677A"/>
                </a:solidFill>
              </a:defRPr>
            </a:pPr>
            <a:r>
              <a:rPr sz="1125" b="0">
                <a:solidFill>
                  <a:srgbClr val="52677A"/>
                </a:solidFill>
              </a:rPr>
              <a:t>Demonstrate that the module runs and produces a verifiable output.</a:t>
            </a:r>
            <a:endParaRPr sz="1125" b="0">
              <a:solidFill>
                <a:srgbClr val="52677A"/>
              </a:solidFill>
            </a:endParaRPr>
          </a:p>
        </p:txBody>
      </p:sp>
      <p:sp>
        <p:nvSpPr>
          <p:cNvPr id="8" name="Rectangle 7"/>
          <p:cNvSpPr>
            <a:spLocks noGrp="1"/>
          </p:cNvSpPr>
          <p:nvPr/>
        </p:nvSpPr>
        <p:spPr>
          <a:xfrm>
            <a:off x="514350" y="1847850"/>
            <a:ext cx="11153775" cy="19050"/>
          </a:xfrm>
          <a:prstGeom prst="rect">
            <a:avLst/>
          </a:prstGeom>
          <a:solidFill>
            <a:srgbClr val="C9D6E2"/>
          </a:solidFill>
          <a:ln w="0">
            <a:solidFill>
              <a:srgbClr val="C9D6E2"/>
            </a:solidFill>
            <a:prstDash val="solid"/>
          </a:ln>
        </p:spPr>
      </p:sp>
      <p:sp>
        <p:nvSpPr>
          <p:cNvPr id="9" name="Rectangle 8"/>
          <p:cNvSpPr>
            <a:spLocks noGrp="1"/>
          </p:cNvSpPr>
          <p:nvPr/>
        </p:nvSpPr>
        <p:spPr>
          <a:xfrm>
            <a:off x="0" y="6419850"/>
            <a:ext cx="12182475" cy="438150"/>
          </a:xfrm>
          <a:prstGeom prst="rect">
            <a:avLst/>
          </a:prstGeom>
          <a:solidFill>
            <a:srgbClr val="0B2E4F"/>
          </a:solidFill>
          <a:ln w="0">
            <a:solidFill>
              <a:srgbClr val="0B2E4F"/>
            </a:solidFill>
            <a:prstDash val="solid"/>
          </a:ln>
        </p:spPr>
      </p:sp>
      <p:sp>
        <p:nvSpPr>
          <p:cNvPr id="10" name="Rectangle 9"/>
          <p:cNvSpPr>
            <a:spLocks noGrp="1"/>
          </p:cNvSpPr>
          <p:nvPr/>
        </p:nvSpPr>
        <p:spPr>
          <a:xfrm>
            <a:off x="533400" y="6515100"/>
            <a:ext cx="9810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STUDENT ACTION  |  Replace every [ENTER ...] field. Delete this rail before the final presentation.</a:t>
            </a:r>
            <a:endParaRPr sz="900" b="1">
              <a:solidFill>
                <a:srgbClr val="FFFFFF"/>
              </a:solidFill>
            </a:endParaRPr>
          </a:p>
        </p:txBody>
      </p:sp>
      <p:sp>
        <p:nvSpPr>
          <p:cNvPr id="11" name="Rectangle 10"/>
          <p:cNvSpPr>
            <a:spLocks noGrp="1"/>
          </p:cNvSpPr>
          <p:nvPr/>
        </p:nvSpPr>
        <p:spPr>
          <a:xfrm>
            <a:off x="11049000" y="6515100"/>
            <a:ext cx="6191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75" b="1">
                <a:solidFill>
                  <a:srgbClr val="D39216"/>
                </a:solidFill>
              </a:defRPr>
            </a:pPr>
            <a:r>
              <a:rPr sz="975" b="1">
                <a:solidFill>
                  <a:srgbClr val="D39216"/>
                </a:solidFill>
              </a:rPr>
              <a:t>10</a:t>
            </a:r>
            <a:endParaRPr sz="975" b="1">
              <a:solidFill>
                <a:srgbClr val="D39216"/>
              </a:solidFill>
            </a:endParaRPr>
          </a:p>
        </p:txBody>
      </p:sp>
      <p:sp>
        <p:nvSpPr>
          <p:cNvPr id="12" name="Rectangle 11"/>
          <p:cNvSpPr>
            <a:spLocks noGrp="1"/>
          </p:cNvSpPr>
          <p:nvPr/>
        </p:nvSpPr>
        <p:spPr>
          <a:xfrm>
            <a:off x="4191000" y="6715125"/>
            <a:ext cx="3810000" cy="104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600" b="0">
                <a:solidFill>
                  <a:srgbClr val="BFD3E1"/>
                </a:solidFill>
              </a:defRPr>
            </a:pPr>
            <a:r>
              <a:rPr sz="600" b="0">
                <a:solidFill>
                  <a:srgbClr val="BFD3E1"/>
                </a:solidFill>
              </a:rPr>
              <a:t>Dr. C. Rajesh Babu | SSETSCS415</a:t>
            </a:r>
            <a:endParaRPr sz="600" b="0">
              <a:solidFill>
                <a:srgbClr val="BFD3E1"/>
              </a:solidFill>
            </a:endParaRPr>
          </a:p>
        </p:txBody>
      </p:sp>
      <p:sp>
        <p:nvSpPr>
          <p:cNvPr id="13" name="Rectangle 12"/>
          <p:cNvSpPr>
            <a:spLocks noGrp="1"/>
          </p:cNvSpPr>
          <p:nvPr/>
        </p:nvSpPr>
        <p:spPr>
          <a:xfrm>
            <a:off x="0" y="0"/>
            <a:ext cx="12182475" cy="76200"/>
          </a:xfrm>
          <a:prstGeom prst="rect">
            <a:avLst/>
          </a:prstGeom>
          <a:solidFill>
            <a:srgbClr val="0B7895"/>
          </a:solidFill>
          <a:ln w="0">
            <a:solidFill>
              <a:srgbClr val="0B7895"/>
            </a:solidFill>
            <a:prstDash val="solid"/>
          </a:ln>
        </p:spPr>
      </p:sp>
      <p:sp>
        <p:nvSpPr>
          <p:cNvPr id="14" name="Rounded Rectangle 13"/>
          <p:cNvSpPr>
            <a:spLocks noGrp="1"/>
          </p:cNvSpPr>
          <p:nvPr/>
        </p:nvSpPr>
        <p:spPr>
          <a:xfrm>
            <a:off x="438150" y="228600"/>
            <a:ext cx="1000125" cy="55245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C9D6E2"/>
            </a:solidFill>
            <a:prstDash val="solid"/>
          </a:ln>
        </p:spPr>
      </p:sp>
      <p:pic>
        <p:nvPicPr>
          <p:cNvPr id="54" name="Picture 5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4350" y="450359"/>
            <a:ext cx="847725" cy="108932"/>
          </a:xfrm>
          <a:prstGeom prst="rect">
            <a:avLst/>
          </a:prstGeom>
        </p:spPr>
      </p:pic>
      <p:sp>
        <p:nvSpPr>
          <p:cNvPr id="16" name="Rectangle 15"/>
          <p:cNvSpPr>
            <a:spLocks noGrp="1"/>
          </p:cNvSpPr>
          <p:nvPr/>
        </p:nvSpPr>
        <p:spPr>
          <a:xfrm>
            <a:off x="1657350" y="266700"/>
            <a:ext cx="6953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>
                <a:solidFill>
                  <a:srgbClr val="1264A3"/>
                </a:solidFill>
              </a:defRPr>
            </a:pPr>
            <a:r>
              <a:rPr sz="900" b="1">
                <a:solidFill>
                  <a:srgbClr val="1264A3"/>
                </a:solidFill>
              </a:rPr>
              <a:t>CSA15  |  CLOUD COMPUTING AND BIG DATA ANALYTICS</a:t>
            </a:r>
            <a:endParaRPr sz="900" b="1">
              <a:solidFill>
                <a:srgbClr val="1264A3"/>
              </a:solidFill>
            </a:endParaRPr>
          </a:p>
        </p:txBody>
      </p:sp>
      <p:sp>
        <p:nvSpPr>
          <p:cNvPr id="17" name="Rectangle 16"/>
          <p:cNvSpPr>
            <a:spLocks noGrp="1"/>
          </p:cNvSpPr>
          <p:nvPr/>
        </p:nvSpPr>
        <p:spPr>
          <a:xfrm>
            <a:off x="9572625" y="266700"/>
            <a:ext cx="209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825" b="1">
                <a:solidFill>
                  <a:srgbClr val="0B7895"/>
                </a:solidFill>
              </a:defRPr>
            </a:pPr>
            <a:r>
              <a:rPr sz="825" b="1">
                <a:solidFill>
                  <a:srgbClr val="0B7895"/>
                </a:solidFill>
              </a:rPr>
              <a:t>BUILD EVIDENCE</a:t>
            </a:r>
            <a:endParaRPr sz="825" b="1">
              <a:solidFill>
                <a:srgbClr val="0B7895"/>
              </a:solidFill>
            </a:endParaRPr>
          </a:p>
        </p:txBody>
      </p:sp>
      <p:sp>
        <p:nvSpPr>
          <p:cNvPr id="18" name="Rectangle 17"/>
          <p:cNvSpPr>
            <a:spLocks noGrp="1"/>
          </p:cNvSpPr>
          <p:nvPr/>
        </p:nvSpPr>
        <p:spPr>
          <a:xfrm>
            <a:off x="514350" y="981075"/>
            <a:ext cx="10287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2325" b="1">
                <a:solidFill>
                  <a:srgbClr val="0B2E4F"/>
                </a:solidFill>
              </a:defRPr>
            </a:pPr>
            <a:r>
              <a:rPr sz="2325" b="1">
                <a:solidFill>
                  <a:srgbClr val="0B2E4F"/>
                </a:solidFill>
              </a:rPr>
              <a:t>Module 1: User &amp; Event Management – Implementation Evidence</a:t>
            </a:r>
            <a:endParaRPr sz="2325" b="1">
              <a:solidFill>
                <a:srgbClr val="0B2E4F"/>
              </a:solidFill>
            </a:endParaRPr>
          </a:p>
        </p:txBody>
      </p:sp>
      <p:sp>
        <p:nvSpPr>
          <p:cNvPr id="19" name="Rectangle 18"/>
          <p:cNvSpPr>
            <a:spLocks noGrp="1"/>
          </p:cNvSpPr>
          <p:nvPr/>
        </p:nvSpPr>
        <p:spPr>
          <a:xfrm>
            <a:off x="533400" y="1457325"/>
            <a:ext cx="10287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125" b="0">
                <a:solidFill>
                  <a:srgbClr val="52677A"/>
                </a:solidFill>
              </a:defRPr>
            </a:pPr>
            <a:r>
              <a:rPr sz="1125" b="0">
                <a:solidFill>
                  <a:srgbClr val="52677A"/>
                </a:solidFill>
              </a:rPr>
              <a:t>Demonstrate that the module runs and produces a verifiable output.</a:t>
            </a:r>
            <a:endParaRPr sz="1125" b="0">
              <a:solidFill>
                <a:srgbClr val="52677A"/>
              </a:solidFill>
            </a:endParaRPr>
          </a:p>
        </p:txBody>
      </p:sp>
      <p:sp>
        <p:nvSpPr>
          <p:cNvPr id="20" name="Rectangle 19"/>
          <p:cNvSpPr>
            <a:spLocks noGrp="1"/>
          </p:cNvSpPr>
          <p:nvPr/>
        </p:nvSpPr>
        <p:spPr>
          <a:xfrm>
            <a:off x="514350" y="1847850"/>
            <a:ext cx="11153775" cy="19050"/>
          </a:xfrm>
          <a:prstGeom prst="rect">
            <a:avLst/>
          </a:prstGeom>
          <a:solidFill>
            <a:srgbClr val="C9D6E2"/>
          </a:solidFill>
          <a:ln w="0">
            <a:solidFill>
              <a:srgbClr val="C9D6E2"/>
            </a:solidFill>
            <a:prstDash val="solid"/>
          </a:ln>
        </p:spPr>
      </p:sp>
      <p:sp>
        <p:nvSpPr>
          <p:cNvPr id="21" name="Rectangle 20"/>
          <p:cNvSpPr>
            <a:spLocks noGrp="1"/>
          </p:cNvSpPr>
          <p:nvPr/>
        </p:nvSpPr>
        <p:spPr>
          <a:xfrm>
            <a:off x="0" y="6419850"/>
            <a:ext cx="12182475" cy="438150"/>
          </a:xfrm>
          <a:prstGeom prst="rect">
            <a:avLst/>
          </a:prstGeom>
          <a:solidFill>
            <a:srgbClr val="0B2E4F"/>
          </a:solidFill>
          <a:ln w="0">
            <a:solidFill>
              <a:srgbClr val="0B2E4F"/>
            </a:solidFill>
            <a:prstDash val="solid"/>
          </a:ln>
        </p:spPr>
      </p:sp>
      <p:sp>
        <p:nvSpPr>
          <p:cNvPr id="22" name="Rectangle 21"/>
          <p:cNvSpPr>
            <a:spLocks noGrp="1"/>
          </p:cNvSpPr>
          <p:nvPr/>
        </p:nvSpPr>
        <p:spPr>
          <a:xfrm>
            <a:off x="533400" y="6515100"/>
            <a:ext cx="9810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STUDENT ACTION  |  Replace every [ENTER ...] field. Delete this rail before the final presentation.</a:t>
            </a:r>
            <a:endParaRPr sz="900" b="1">
              <a:solidFill>
                <a:srgbClr val="FFFFFF"/>
              </a:solidFill>
            </a:endParaRPr>
          </a:p>
        </p:txBody>
      </p:sp>
      <p:sp>
        <p:nvSpPr>
          <p:cNvPr id="23" name="Rectangle 22"/>
          <p:cNvSpPr>
            <a:spLocks noGrp="1"/>
          </p:cNvSpPr>
          <p:nvPr/>
        </p:nvSpPr>
        <p:spPr>
          <a:xfrm>
            <a:off x="11049000" y="6515100"/>
            <a:ext cx="6191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75" b="1">
                <a:solidFill>
                  <a:srgbClr val="D39216"/>
                </a:solidFill>
              </a:defRPr>
            </a:pPr>
            <a:r>
              <a:rPr sz="975" b="1">
                <a:solidFill>
                  <a:srgbClr val="D39216"/>
                </a:solidFill>
              </a:rPr>
              <a:t>10</a:t>
            </a:r>
            <a:endParaRPr sz="975" b="1">
              <a:solidFill>
                <a:srgbClr val="D39216"/>
              </a:solidFill>
            </a:endParaRPr>
          </a:p>
        </p:txBody>
      </p:sp>
      <p:sp>
        <p:nvSpPr>
          <p:cNvPr id="24" name="Rectangle 23"/>
          <p:cNvSpPr>
            <a:spLocks noGrp="1"/>
          </p:cNvSpPr>
          <p:nvPr/>
        </p:nvSpPr>
        <p:spPr>
          <a:xfrm>
            <a:off x="4191000" y="6715125"/>
            <a:ext cx="3810000" cy="104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600" b="0">
                <a:solidFill>
                  <a:srgbClr val="BFD3E1"/>
                </a:solidFill>
              </a:defRPr>
            </a:pPr>
            <a:r>
              <a:rPr sz="600" b="0">
                <a:solidFill>
                  <a:srgbClr val="BFD3E1"/>
                </a:solidFill>
              </a:rPr>
              <a:t>Dr. C. Rajesh Babu | SSETSCS415</a:t>
            </a:r>
            <a:endParaRPr sz="600" b="0">
              <a:solidFill>
                <a:srgbClr val="BFD3E1"/>
              </a:solidFill>
            </a:endParaRPr>
          </a:p>
        </p:txBody>
      </p:sp>
      <p:sp>
        <p:nvSpPr>
          <p:cNvPr id="25" name="Rectangle 24"/>
          <p:cNvSpPr>
            <a:spLocks noGrp="1"/>
          </p:cNvSpPr>
          <p:nvPr/>
        </p:nvSpPr>
        <p:spPr>
          <a:xfrm>
            <a:off x="514350" y="2133600"/>
            <a:ext cx="6534150" cy="3714750"/>
          </a:xfrm>
          <a:prstGeom prst="rect">
            <a:avLst/>
          </a:prstGeom>
          <a:solidFill>
            <a:srgbClr val="EAF3F8"/>
          </a:solidFill>
          <a:ln w="19050">
            <a:solidFill>
              <a:srgbClr val="1264A3"/>
            </a:solidFill>
            <a:prstDash val="solid"/>
          </a:ln>
        </p:spPr>
      </p:sp>
      <p:sp>
        <p:nvSpPr>
          <p:cNvPr id="26" name="Rectangle 25"/>
          <p:cNvSpPr>
            <a:spLocks noGrp="1"/>
          </p:cNvSpPr>
          <p:nvPr/>
        </p:nvSpPr>
        <p:spPr>
          <a:xfrm>
            <a:off x="809625" y="3333750"/>
            <a:ext cx="59436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425" b="1">
                <a:solidFill>
                  <a:srgbClr val="1264A3"/>
                </a:solidFill>
              </a:defRPr>
            </a:pPr>
            <a:r>
              <a:rPr sz="1425" b="1">
                <a:solidFill>
                  <a:srgbClr val="1264A3"/>
                </a:solidFill>
              </a:rPr>
              <a:t>Screenshot slot: organizer dashboard — event creation form showing 6 zones with capacity thresholds and staff role assignments.</a:t>
            </a:r>
            <a:endParaRPr sz="1425" b="1">
              <a:solidFill>
                <a:srgbClr val="1264A3"/>
              </a:solidFill>
            </a:endParaRPr>
          </a:p>
        </p:txBody>
      </p:sp>
      <p:sp>
        <p:nvSpPr>
          <p:cNvPr id="27" name="Rectangle 26"/>
          <p:cNvSpPr>
            <a:spLocks noGrp="1"/>
          </p:cNvSpPr>
          <p:nvPr/>
        </p:nvSpPr>
        <p:spPr>
          <a:xfrm>
            <a:off x="876300" y="3952875"/>
            <a:ext cx="5810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050" b="0">
                <a:solidFill>
                  <a:srgbClr val="52677A"/>
                </a:solidFill>
              </a:defRPr>
            </a:pPr>
            <a:r>
              <a:rPr sz="1050" b="0">
                <a:solidFill>
                  <a:srgbClr val="52677A"/>
                </a:solidFill>
              </a:rPr>
              <a:t>Use a readable image. Crop browser chrome and expose the result, not an empty interface.</a:t>
            </a:r>
            <a:endParaRPr sz="1050" b="0">
              <a:solidFill>
                <a:srgbClr val="52677A"/>
              </a:solidFill>
            </a:endParaRPr>
          </a:p>
        </p:txBody>
      </p:sp>
      <p:sp>
        <p:nvSpPr>
          <p:cNvPr id="28" name="Rectangle 27"/>
          <p:cNvSpPr>
            <a:spLocks noGrp="1"/>
          </p:cNvSpPr>
          <p:nvPr/>
        </p:nvSpPr>
        <p:spPr>
          <a:xfrm>
            <a:off x="7296150" y="2133600"/>
            <a:ext cx="4371975" cy="10668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6E2"/>
            </a:solidFill>
            <a:prstDash val="solid"/>
          </a:ln>
        </p:spPr>
      </p:sp>
      <p:sp>
        <p:nvSpPr>
          <p:cNvPr id="29" name="Rectangle 28"/>
          <p:cNvSpPr>
            <a:spLocks noGrp="1"/>
          </p:cNvSpPr>
          <p:nvPr/>
        </p:nvSpPr>
        <p:spPr>
          <a:xfrm>
            <a:off x="7296150" y="2133600"/>
            <a:ext cx="57150" cy="1066800"/>
          </a:xfrm>
          <a:prstGeom prst="rect">
            <a:avLst/>
          </a:prstGeom>
          <a:solidFill>
            <a:srgbClr val="1264A3"/>
          </a:solidFill>
          <a:ln w="0">
            <a:solidFill>
              <a:srgbClr val="1264A3"/>
            </a:solidFill>
            <a:prstDash val="solid"/>
          </a:ln>
        </p:spPr>
      </p:sp>
      <p:sp>
        <p:nvSpPr>
          <p:cNvPr id="30" name="Rectangle 29"/>
          <p:cNvSpPr>
            <a:spLocks noGrp="1"/>
          </p:cNvSpPr>
          <p:nvPr/>
        </p:nvSpPr>
        <p:spPr>
          <a:xfrm>
            <a:off x="7505700" y="2286000"/>
            <a:ext cx="397192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>
                <a:solidFill>
                  <a:srgbClr val="1264A3"/>
                </a:solidFill>
              </a:defRPr>
            </a:pPr>
            <a:r>
              <a:rPr sz="900" b="1">
                <a:solidFill>
                  <a:srgbClr val="1264A3"/>
                </a:solidFill>
              </a:rPr>
              <a:t>BUILD DETAILS</a:t>
            </a:r>
            <a:endParaRPr sz="900" b="1">
              <a:solidFill>
                <a:srgbClr val="1264A3"/>
              </a:solidFill>
            </a:endParaRPr>
          </a:p>
        </p:txBody>
      </p:sp>
      <p:sp>
        <p:nvSpPr>
          <p:cNvPr id="31" name="Rectangle 30"/>
          <p:cNvSpPr>
            <a:spLocks noGrp="1"/>
          </p:cNvSpPr>
          <p:nvPr/>
        </p:nvSpPr>
        <p:spPr>
          <a:xfrm>
            <a:off x="7505700" y="2590800"/>
            <a:ext cx="3971925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125" b="0">
                <a:solidFill>
                  <a:srgbClr val="183247"/>
                </a:solidFill>
              </a:defRPr>
            </a:pPr>
            <a:r>
              <a:rPr sz="1125" b="0">
                <a:solidFill>
                  <a:srgbClr val="183247"/>
                </a:solidFill>
              </a:rPr>
              <a:t>Node.js 18 + Express, PostgreSQL 15 on AWS RDS, deployed on ECS Fargate (1 vCPU / 2GB)</a:t>
            </a:r>
            <a:endParaRPr sz="1125" b="0">
              <a:solidFill>
                <a:srgbClr val="183247"/>
              </a:solidFill>
            </a:endParaRPr>
          </a:p>
        </p:txBody>
      </p:sp>
      <p:sp>
        <p:nvSpPr>
          <p:cNvPr id="32" name="Rectangle 31"/>
          <p:cNvSpPr>
            <a:spLocks noGrp="1"/>
          </p:cNvSpPr>
          <p:nvPr/>
        </p:nvSpPr>
        <p:spPr>
          <a:xfrm>
            <a:off x="7296150" y="3333750"/>
            <a:ext cx="4371975" cy="10668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6E2"/>
            </a:solidFill>
            <a:prstDash val="solid"/>
          </a:ln>
        </p:spPr>
      </p:sp>
      <p:sp>
        <p:nvSpPr>
          <p:cNvPr id="33" name="Rectangle 32"/>
          <p:cNvSpPr>
            <a:spLocks noGrp="1"/>
          </p:cNvSpPr>
          <p:nvPr/>
        </p:nvSpPr>
        <p:spPr>
          <a:xfrm>
            <a:off x="7296150" y="3333750"/>
            <a:ext cx="57150" cy="1066800"/>
          </a:xfrm>
          <a:prstGeom prst="rect">
            <a:avLst/>
          </a:prstGeom>
          <a:solidFill>
            <a:srgbClr val="0B7895"/>
          </a:solidFill>
          <a:ln w="0">
            <a:solidFill>
              <a:srgbClr val="0B7895"/>
            </a:solidFill>
            <a:prstDash val="solid"/>
          </a:ln>
        </p:spPr>
      </p:sp>
      <p:sp>
        <p:nvSpPr>
          <p:cNvPr id="34" name="Rectangle 33"/>
          <p:cNvSpPr>
            <a:spLocks noGrp="1"/>
          </p:cNvSpPr>
          <p:nvPr/>
        </p:nvSpPr>
        <p:spPr>
          <a:xfrm>
            <a:off x="7505700" y="3486150"/>
            <a:ext cx="397192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>
                <a:solidFill>
                  <a:srgbClr val="0B7895"/>
                </a:solidFill>
              </a:defRPr>
            </a:pPr>
            <a:r>
              <a:rPr sz="900" b="1">
                <a:solidFill>
                  <a:srgbClr val="0B7895"/>
                </a:solidFill>
              </a:rPr>
              <a:t>VALIDATION EVIDENCE</a:t>
            </a:r>
            <a:endParaRPr sz="900" b="1">
              <a:solidFill>
                <a:srgbClr val="0B7895"/>
              </a:solidFill>
            </a:endParaRPr>
          </a:p>
        </p:txBody>
      </p:sp>
      <p:sp>
        <p:nvSpPr>
          <p:cNvPr id="35" name="Rectangle 34"/>
          <p:cNvSpPr>
            <a:spLocks noGrp="1"/>
          </p:cNvSpPr>
          <p:nvPr/>
        </p:nvSpPr>
        <p:spPr>
          <a:xfrm>
            <a:off x="7505700" y="3790950"/>
            <a:ext cx="3971925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125" b="0">
                <a:solidFill>
                  <a:srgbClr val="183247"/>
                </a:solidFill>
              </a:defRPr>
            </a:pPr>
            <a:r>
              <a:rPr sz="1125" b="0">
                <a:solidFill>
                  <a:srgbClr val="183247"/>
                </a:solidFill>
              </a:rPr>
              <a:t>12 test events / 40 zones created; average API response 118ms; 0 orphaned zone records after FK-constraint test</a:t>
            </a:r>
            <a:endParaRPr sz="1125" b="0">
              <a:solidFill>
                <a:srgbClr val="183247"/>
              </a:solidFill>
            </a:endParaRPr>
          </a:p>
        </p:txBody>
      </p:sp>
      <p:sp>
        <p:nvSpPr>
          <p:cNvPr id="36" name="Rectangle 35"/>
          <p:cNvSpPr>
            <a:spLocks noGrp="1"/>
          </p:cNvSpPr>
          <p:nvPr/>
        </p:nvSpPr>
        <p:spPr>
          <a:xfrm>
            <a:off x="7296150" y="4533900"/>
            <a:ext cx="4371975" cy="1314450"/>
          </a:xfrm>
          <a:prstGeom prst="rect">
            <a:avLst/>
          </a:prstGeom>
          <a:solidFill>
            <a:srgbClr val="FFFFFF"/>
          </a:solidFill>
          <a:ln w="9525">
            <a:solidFill>
              <a:srgbClr val="C9D6E2"/>
            </a:solidFill>
            <a:prstDash val="solid"/>
          </a:ln>
        </p:spPr>
      </p:sp>
      <p:sp>
        <p:nvSpPr>
          <p:cNvPr id="37" name="Rectangle 36"/>
          <p:cNvSpPr>
            <a:spLocks noGrp="1"/>
          </p:cNvSpPr>
          <p:nvPr/>
        </p:nvSpPr>
        <p:spPr>
          <a:xfrm>
            <a:off x="7296150" y="4533900"/>
            <a:ext cx="57150" cy="1314450"/>
          </a:xfrm>
          <a:prstGeom prst="rect">
            <a:avLst/>
          </a:prstGeom>
          <a:solidFill>
            <a:srgbClr val="D39216"/>
          </a:solidFill>
          <a:ln w="0">
            <a:solidFill>
              <a:srgbClr val="D39216"/>
            </a:solidFill>
            <a:prstDash val="solid"/>
          </a:ln>
        </p:spPr>
      </p:sp>
      <p:sp>
        <p:nvSpPr>
          <p:cNvPr id="38" name="Rectangle 37"/>
          <p:cNvSpPr>
            <a:spLocks noGrp="1"/>
          </p:cNvSpPr>
          <p:nvPr/>
        </p:nvSpPr>
        <p:spPr>
          <a:xfrm>
            <a:off x="7505700" y="4686300"/>
            <a:ext cx="397192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>
                <a:solidFill>
                  <a:srgbClr val="D39216"/>
                </a:solidFill>
              </a:defRPr>
            </a:pPr>
            <a:r>
              <a:rPr sz="900" b="1">
                <a:solidFill>
                  <a:srgbClr val="D39216"/>
                </a:solidFill>
              </a:rPr>
              <a:t>MODULE HAND-OFF</a:t>
            </a:r>
            <a:endParaRPr sz="900" b="1">
              <a:solidFill>
                <a:srgbClr val="D39216"/>
              </a:solidFill>
            </a:endParaRPr>
          </a:p>
        </p:txBody>
      </p:sp>
      <p:sp>
        <p:nvSpPr>
          <p:cNvPr id="39" name="Rectangle 38"/>
          <p:cNvSpPr>
            <a:spLocks noGrp="1"/>
          </p:cNvSpPr>
          <p:nvPr/>
        </p:nvSpPr>
        <p:spPr>
          <a:xfrm>
            <a:off x="7505700" y="4991100"/>
            <a:ext cx="3971925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125" b="0">
                <a:solidFill>
                  <a:srgbClr val="183247"/>
                </a:solidFill>
              </a:defRPr>
            </a:pPr>
            <a:r>
              <a:rPr sz="1125" b="0">
                <a:solidFill>
                  <a:srgbClr val="183247"/>
                </a:solidFill>
              </a:rPr>
              <a:t>Zone list + capacity thresholds passed to Module 2 as the reference for per-zone density monitoring</a:t>
            </a:r>
            <a:endParaRPr sz="1125" b="0">
              <a:solidFill>
                <a:srgbClr val="183247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5" name="Rectangle 24"/>
          <p:cNvSpPr>
            <a:spLocks noGrp="1"/>
          </p:cNvSpPr>
          <p:nvPr/>
        </p:nvSpPr>
        <p:spPr>
          <a:xfrm>
            <a:off x="0" y="0"/>
            <a:ext cx="12182475" cy="76200"/>
          </a:xfrm>
          <a:prstGeom prst="rect">
            <a:avLst/>
          </a:prstGeom>
          <a:solidFill>
            <a:srgbClr val="0B7895"/>
          </a:solidFill>
          <a:ln w="0">
            <a:solidFill>
              <a:srgbClr val="0B7895"/>
            </a:solidFill>
            <a:prstDash val="solid"/>
          </a:ln>
        </p:spPr>
      </p:sp>
      <p:sp>
        <p:nvSpPr>
          <p:cNvPr id="2" name="Rounded Rectangle 1"/>
          <p:cNvSpPr>
            <a:spLocks noGrp="1"/>
          </p:cNvSpPr>
          <p:nvPr/>
        </p:nvSpPr>
        <p:spPr>
          <a:xfrm>
            <a:off x="438150" y="228600"/>
            <a:ext cx="1000125" cy="55245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C9D6E2"/>
            </a:solidFill>
            <a:prstDash val="solid"/>
          </a:ln>
        </p:spPr>
      </p:sp>
      <p:pic>
        <p:nvPicPr>
          <p:cNvPr id="27" name="Picture 2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4350" y="450359"/>
            <a:ext cx="847725" cy="108932"/>
          </a:xfrm>
          <a:prstGeom prst="rect">
            <a:avLst/>
          </a:prstGeom>
        </p:spPr>
      </p:pic>
      <p:sp>
        <p:nvSpPr>
          <p:cNvPr id="4" name="Rectangle 3"/>
          <p:cNvSpPr>
            <a:spLocks noGrp="1"/>
          </p:cNvSpPr>
          <p:nvPr/>
        </p:nvSpPr>
        <p:spPr>
          <a:xfrm>
            <a:off x="1657350" y="266700"/>
            <a:ext cx="6953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>
                <a:solidFill>
                  <a:srgbClr val="1264A3"/>
                </a:solidFill>
              </a:defRPr>
            </a:pPr>
            <a:r>
              <a:rPr sz="900" b="1">
                <a:solidFill>
                  <a:srgbClr val="1264A3"/>
                </a:solidFill>
              </a:rPr>
              <a:t>CSA15  |  CLOUD COMPUTING AND BIG DATA ANALYTICS</a:t>
            </a:r>
            <a:endParaRPr sz="900" b="1">
              <a:solidFill>
                <a:srgbClr val="1264A3"/>
              </a:solidFill>
            </a:endParaRPr>
          </a:p>
        </p:txBody>
      </p:sp>
      <p:sp>
        <p:nvSpPr>
          <p:cNvPr id="5" name="Rectangle 4"/>
          <p:cNvSpPr>
            <a:spLocks noGrp="1"/>
          </p:cNvSpPr>
          <p:nvPr/>
        </p:nvSpPr>
        <p:spPr>
          <a:xfrm>
            <a:off x="9572625" y="266700"/>
            <a:ext cx="209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825" b="1">
                <a:solidFill>
                  <a:srgbClr val="0B7895"/>
                </a:solidFill>
              </a:defRPr>
            </a:pPr>
            <a:r>
              <a:rPr sz="825" b="1">
                <a:solidFill>
                  <a:srgbClr val="0B7895"/>
                </a:solidFill>
              </a:rPr>
              <a:t>CAPSTONE FINAL DEFENSE</a:t>
            </a:r>
            <a:endParaRPr sz="825" b="1">
              <a:solidFill>
                <a:srgbClr val="0B7895"/>
              </a:solidFill>
            </a:endParaRPr>
          </a:p>
        </p:txBody>
      </p:sp>
      <p:sp>
        <p:nvSpPr>
          <p:cNvPr id="6" name="Rectangle 5"/>
          <p:cNvSpPr>
            <a:spLocks noGrp="1"/>
          </p:cNvSpPr>
          <p:nvPr/>
        </p:nvSpPr>
        <p:spPr>
          <a:xfrm>
            <a:off x="514350" y="981075"/>
            <a:ext cx="10287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2325" b="1">
                <a:solidFill>
                  <a:srgbClr val="0B2E4F"/>
                </a:solidFill>
              </a:defRPr>
            </a:pPr>
            <a:r>
              <a:rPr sz="2325" b="1">
                <a:solidFill>
                  <a:srgbClr val="0B2E4F"/>
                </a:solidFill>
              </a:rPr>
              <a:t>Module 2: Crowd Monitoring &amp; Density Estimation – Functional Scope</a:t>
            </a:r>
            <a:endParaRPr sz="2325" b="1">
              <a:solidFill>
                <a:srgbClr val="0B2E4F"/>
              </a:solidFill>
            </a:endParaRPr>
          </a:p>
        </p:txBody>
      </p:sp>
      <p:sp>
        <p:nvSpPr>
          <p:cNvPr id="7" name="Rectangle 6"/>
          <p:cNvSpPr>
            <a:spLocks noGrp="1"/>
          </p:cNvSpPr>
          <p:nvPr/>
        </p:nvSpPr>
        <p:spPr>
          <a:xfrm>
            <a:off x="533400" y="1457325"/>
            <a:ext cx="10287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125" b="0">
                <a:solidFill>
                  <a:srgbClr val="52677A"/>
                </a:solidFill>
              </a:defRPr>
            </a:pPr>
            <a:r>
              <a:rPr sz="1125" b="0">
                <a:solidFill>
                  <a:srgbClr val="52677A"/>
                </a:solidFill>
              </a:rPr>
              <a:t>Show how the second module extends the product and consumes prior output.</a:t>
            </a:r>
            <a:endParaRPr sz="1125" b="0">
              <a:solidFill>
                <a:srgbClr val="52677A"/>
              </a:solidFill>
            </a:endParaRPr>
          </a:p>
        </p:txBody>
      </p:sp>
      <p:sp>
        <p:nvSpPr>
          <p:cNvPr id="8" name="Rectangle 7"/>
          <p:cNvSpPr>
            <a:spLocks noGrp="1"/>
          </p:cNvSpPr>
          <p:nvPr/>
        </p:nvSpPr>
        <p:spPr>
          <a:xfrm>
            <a:off x="514350" y="1847850"/>
            <a:ext cx="11153775" cy="19050"/>
          </a:xfrm>
          <a:prstGeom prst="rect">
            <a:avLst/>
          </a:prstGeom>
          <a:solidFill>
            <a:srgbClr val="C9D6E2"/>
          </a:solidFill>
          <a:ln w="0">
            <a:solidFill>
              <a:srgbClr val="C9D6E2"/>
            </a:solidFill>
            <a:prstDash val="solid"/>
          </a:ln>
        </p:spPr>
      </p:sp>
      <p:sp>
        <p:nvSpPr>
          <p:cNvPr id="9" name="Rectangle 8"/>
          <p:cNvSpPr>
            <a:spLocks noGrp="1"/>
          </p:cNvSpPr>
          <p:nvPr/>
        </p:nvSpPr>
        <p:spPr>
          <a:xfrm>
            <a:off x="0" y="6419850"/>
            <a:ext cx="12182475" cy="438150"/>
          </a:xfrm>
          <a:prstGeom prst="rect">
            <a:avLst/>
          </a:prstGeom>
          <a:solidFill>
            <a:srgbClr val="0B2E4F"/>
          </a:solidFill>
          <a:ln w="0">
            <a:solidFill>
              <a:srgbClr val="0B2E4F"/>
            </a:solidFill>
            <a:prstDash val="solid"/>
          </a:ln>
        </p:spPr>
      </p:sp>
      <p:sp>
        <p:nvSpPr>
          <p:cNvPr id="10" name="Rectangle 9"/>
          <p:cNvSpPr>
            <a:spLocks noGrp="1"/>
          </p:cNvSpPr>
          <p:nvPr/>
        </p:nvSpPr>
        <p:spPr>
          <a:xfrm>
            <a:off x="533400" y="6515100"/>
            <a:ext cx="9810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STUDENT ACTION  |  Replace every [ENTER ...] field. Delete this rail before the final presentation.</a:t>
            </a:r>
            <a:endParaRPr sz="900" b="1">
              <a:solidFill>
                <a:srgbClr val="FFFFFF"/>
              </a:solidFill>
            </a:endParaRPr>
          </a:p>
        </p:txBody>
      </p:sp>
      <p:sp>
        <p:nvSpPr>
          <p:cNvPr id="11" name="Rectangle 10"/>
          <p:cNvSpPr>
            <a:spLocks noGrp="1"/>
          </p:cNvSpPr>
          <p:nvPr/>
        </p:nvSpPr>
        <p:spPr>
          <a:xfrm>
            <a:off x="11049000" y="6515100"/>
            <a:ext cx="6191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75" b="1">
                <a:solidFill>
                  <a:srgbClr val="D39216"/>
                </a:solidFill>
              </a:defRPr>
            </a:pPr>
            <a:r>
              <a:rPr sz="975" b="1">
                <a:solidFill>
                  <a:srgbClr val="D39216"/>
                </a:solidFill>
              </a:rPr>
              <a:t>11</a:t>
            </a:r>
            <a:endParaRPr sz="975" b="1">
              <a:solidFill>
                <a:srgbClr val="D39216"/>
              </a:solidFill>
            </a:endParaRPr>
          </a:p>
        </p:txBody>
      </p:sp>
      <p:sp>
        <p:nvSpPr>
          <p:cNvPr id="12" name="Rectangle 11"/>
          <p:cNvSpPr>
            <a:spLocks noGrp="1"/>
          </p:cNvSpPr>
          <p:nvPr/>
        </p:nvSpPr>
        <p:spPr>
          <a:xfrm>
            <a:off x="4191000" y="6715125"/>
            <a:ext cx="3810000" cy="104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600" b="0">
                <a:solidFill>
                  <a:srgbClr val="BFD3E1"/>
                </a:solidFill>
              </a:defRPr>
            </a:pPr>
            <a:r>
              <a:rPr sz="600" b="0">
                <a:solidFill>
                  <a:srgbClr val="BFD3E1"/>
                </a:solidFill>
              </a:rPr>
              <a:t>Dr. C. Rajesh Babu | SSETSCS415</a:t>
            </a:r>
            <a:endParaRPr sz="600" b="0">
              <a:solidFill>
                <a:srgbClr val="BFD3E1"/>
              </a:solidFill>
            </a:endParaRPr>
          </a:p>
        </p:txBody>
      </p:sp>
      <p:sp>
        <p:nvSpPr>
          <p:cNvPr id="13" name="Rectangle 12"/>
          <p:cNvSpPr>
            <a:spLocks noGrp="1"/>
          </p:cNvSpPr>
          <p:nvPr/>
        </p:nvSpPr>
        <p:spPr>
          <a:xfrm>
            <a:off x="514350" y="2143125"/>
            <a:ext cx="3565525" cy="3571875"/>
          </a:xfrm>
          <a:prstGeom prst="rect">
            <a:avLst/>
          </a:prstGeom>
          <a:solidFill>
            <a:srgbClr val="FFFFFF"/>
          </a:solidFill>
          <a:ln w="9525">
            <a:solidFill>
              <a:srgbClr val="C9D6E2"/>
            </a:solidFill>
            <a:prstDash val="solid"/>
          </a:ln>
        </p:spPr>
      </p:sp>
      <p:sp>
        <p:nvSpPr>
          <p:cNvPr id="14" name="Rectangle 13"/>
          <p:cNvSpPr>
            <a:spLocks noGrp="1"/>
          </p:cNvSpPr>
          <p:nvPr/>
        </p:nvSpPr>
        <p:spPr>
          <a:xfrm>
            <a:off x="514350" y="2143125"/>
            <a:ext cx="57150" cy="3571875"/>
          </a:xfrm>
          <a:prstGeom prst="rect">
            <a:avLst/>
          </a:prstGeom>
          <a:solidFill>
            <a:srgbClr val="1264A3"/>
          </a:solidFill>
          <a:ln w="0">
            <a:solidFill>
              <a:srgbClr val="1264A3"/>
            </a:solidFill>
            <a:prstDash val="solid"/>
          </a:ln>
        </p:spPr>
      </p:sp>
      <p:sp>
        <p:nvSpPr>
          <p:cNvPr id="15" name="Rectangle 14"/>
          <p:cNvSpPr>
            <a:spLocks noGrp="1"/>
          </p:cNvSpPr>
          <p:nvPr/>
        </p:nvSpPr>
        <p:spPr>
          <a:xfrm>
            <a:off x="723900" y="2295525"/>
            <a:ext cx="316547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>
                <a:solidFill>
                  <a:srgbClr val="1264A3"/>
                </a:solidFill>
              </a:defRPr>
            </a:pPr>
            <a:r>
              <a:rPr sz="900" b="1">
                <a:solidFill>
                  <a:srgbClr val="1264A3"/>
                </a:solidFill>
              </a:rPr>
              <a:t>PURPOSE</a:t>
            </a:r>
            <a:endParaRPr sz="900" b="1">
              <a:solidFill>
                <a:srgbClr val="1264A3"/>
              </a:solidFill>
            </a:endParaRPr>
          </a:p>
        </p:txBody>
      </p:sp>
      <p:sp>
        <p:nvSpPr>
          <p:cNvPr id="16" name="Rectangle 15"/>
          <p:cNvSpPr>
            <a:spLocks noGrp="1"/>
          </p:cNvSpPr>
          <p:nvPr/>
        </p:nvSpPr>
        <p:spPr>
          <a:xfrm>
            <a:off x="723900" y="2600325"/>
            <a:ext cx="3165475" cy="2981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275" b="0">
                <a:solidFill>
                  <a:srgbClr val="183247"/>
                </a:solidFill>
              </a:defRPr>
            </a:pPr>
            <a:r>
              <a:rPr sz="1275" b="0">
                <a:solidFill>
                  <a:srgbClr val="183247"/>
                </a:solidFill>
              </a:rPr>
              <a:t>Ingests camera frames per zone, runs deep-learning crowd density estimation, and classifies each zone as Normal / Moderate / Critical against its capacity threshold from Module 1.</a:t>
            </a:r>
            <a:endParaRPr sz="1275" b="0">
              <a:solidFill>
                <a:srgbClr val="183247"/>
              </a:solidFill>
            </a:endParaRPr>
          </a:p>
        </p:txBody>
      </p:sp>
      <p:sp>
        <p:nvSpPr>
          <p:cNvPr id="17" name="Rectangle 16"/>
          <p:cNvSpPr>
            <a:spLocks noGrp="1"/>
          </p:cNvSpPr>
          <p:nvPr/>
        </p:nvSpPr>
        <p:spPr>
          <a:xfrm>
            <a:off x="4308475" y="2143125"/>
            <a:ext cx="3565525" cy="3571875"/>
          </a:xfrm>
          <a:prstGeom prst="rect">
            <a:avLst/>
          </a:prstGeom>
          <a:solidFill>
            <a:srgbClr val="FFFFFF"/>
          </a:solidFill>
          <a:ln w="9525">
            <a:solidFill>
              <a:srgbClr val="C9D6E2"/>
            </a:solidFill>
            <a:prstDash val="solid"/>
          </a:ln>
        </p:spPr>
      </p:sp>
      <p:sp>
        <p:nvSpPr>
          <p:cNvPr id="18" name="Rectangle 17"/>
          <p:cNvSpPr>
            <a:spLocks noGrp="1"/>
          </p:cNvSpPr>
          <p:nvPr/>
        </p:nvSpPr>
        <p:spPr>
          <a:xfrm>
            <a:off x="4308475" y="2143125"/>
            <a:ext cx="57150" cy="3571875"/>
          </a:xfrm>
          <a:prstGeom prst="rect">
            <a:avLst/>
          </a:prstGeom>
          <a:solidFill>
            <a:srgbClr val="0B7895"/>
          </a:solidFill>
          <a:ln w="0">
            <a:solidFill>
              <a:srgbClr val="0B7895"/>
            </a:solidFill>
            <a:prstDash val="solid"/>
          </a:ln>
        </p:spPr>
      </p:sp>
      <p:sp>
        <p:nvSpPr>
          <p:cNvPr id="19" name="Rectangle 18"/>
          <p:cNvSpPr>
            <a:spLocks noGrp="1"/>
          </p:cNvSpPr>
          <p:nvPr/>
        </p:nvSpPr>
        <p:spPr>
          <a:xfrm>
            <a:off x="4518025" y="2295525"/>
            <a:ext cx="316547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>
                <a:solidFill>
                  <a:srgbClr val="0B7895"/>
                </a:solidFill>
              </a:defRPr>
            </a:pPr>
            <a:r>
              <a:rPr sz="900" b="1">
                <a:solidFill>
                  <a:srgbClr val="0B7895"/>
                </a:solidFill>
              </a:rPr>
              <a:t>INTERFACE CONTRACT</a:t>
            </a:r>
            <a:endParaRPr sz="900" b="1">
              <a:solidFill>
                <a:srgbClr val="0B7895"/>
              </a:solidFill>
            </a:endParaRPr>
          </a:p>
        </p:txBody>
      </p:sp>
      <p:sp>
        <p:nvSpPr>
          <p:cNvPr id="20" name="Rectangle 19"/>
          <p:cNvSpPr>
            <a:spLocks noGrp="1"/>
          </p:cNvSpPr>
          <p:nvPr/>
        </p:nvSpPr>
        <p:spPr>
          <a:xfrm>
            <a:off x="4518025" y="2600325"/>
            <a:ext cx="3165475" cy="2981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275" b="0">
                <a:solidFill>
                  <a:srgbClr val="183247"/>
                </a:solidFill>
              </a:defRPr>
            </a:pPr>
            <a:r>
              <a:rPr sz="1275" b="0">
                <a:solidFill>
                  <a:srgbClr val="183247"/>
                </a:solidFill>
              </a:rPr>
              <a:t>POST /zones/{id}/density (frame) → {count, densityLevel}; depends on Module 1 zone/capacity data; publishes updates over Redis pub-sub / WebSocket.</a:t>
            </a:r>
            <a:endParaRPr sz="1275" b="0">
              <a:solidFill>
                <a:srgbClr val="183247"/>
              </a:solidFill>
            </a:endParaRPr>
          </a:p>
        </p:txBody>
      </p:sp>
      <p:sp>
        <p:nvSpPr>
          <p:cNvPr id="21" name="Rectangle 20"/>
          <p:cNvSpPr>
            <a:spLocks noGrp="1"/>
          </p:cNvSpPr>
          <p:nvPr/>
        </p:nvSpPr>
        <p:spPr>
          <a:xfrm>
            <a:off x="8102600" y="2143125"/>
            <a:ext cx="3565525" cy="3571875"/>
          </a:xfrm>
          <a:prstGeom prst="rect">
            <a:avLst/>
          </a:prstGeom>
          <a:solidFill>
            <a:srgbClr val="FFFFFF"/>
          </a:solidFill>
          <a:ln w="9525">
            <a:solidFill>
              <a:srgbClr val="C9D6E2"/>
            </a:solidFill>
            <a:prstDash val="solid"/>
          </a:ln>
        </p:spPr>
      </p:sp>
      <p:sp>
        <p:nvSpPr>
          <p:cNvPr id="22" name="Rectangle 21"/>
          <p:cNvSpPr>
            <a:spLocks noGrp="1"/>
          </p:cNvSpPr>
          <p:nvPr/>
        </p:nvSpPr>
        <p:spPr>
          <a:xfrm>
            <a:off x="8102600" y="2143125"/>
            <a:ext cx="57150" cy="3571875"/>
          </a:xfrm>
          <a:prstGeom prst="rect">
            <a:avLst/>
          </a:prstGeom>
          <a:solidFill>
            <a:srgbClr val="D39216"/>
          </a:solidFill>
          <a:ln w="0">
            <a:solidFill>
              <a:srgbClr val="D39216"/>
            </a:solidFill>
            <a:prstDash val="solid"/>
          </a:ln>
        </p:spPr>
      </p:sp>
      <p:sp>
        <p:nvSpPr>
          <p:cNvPr id="23" name="Rectangle 22"/>
          <p:cNvSpPr>
            <a:spLocks noGrp="1"/>
          </p:cNvSpPr>
          <p:nvPr/>
        </p:nvSpPr>
        <p:spPr>
          <a:xfrm>
            <a:off x="8312150" y="2295525"/>
            <a:ext cx="316547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>
                <a:solidFill>
                  <a:srgbClr val="D39216"/>
                </a:solidFill>
              </a:defRPr>
            </a:pPr>
            <a:r>
              <a:rPr sz="900" b="1">
                <a:solidFill>
                  <a:srgbClr val="D39216"/>
                </a:solidFill>
              </a:rPr>
              <a:t>ENGINEERING DECISION</a:t>
            </a:r>
            <a:endParaRPr sz="900" b="1">
              <a:solidFill>
                <a:srgbClr val="D39216"/>
              </a:solidFill>
            </a:endParaRPr>
          </a:p>
        </p:txBody>
      </p:sp>
      <p:sp>
        <p:nvSpPr>
          <p:cNvPr id="24" name="Rectangle 23"/>
          <p:cNvSpPr>
            <a:spLocks noGrp="1"/>
          </p:cNvSpPr>
          <p:nvPr/>
        </p:nvSpPr>
        <p:spPr>
          <a:xfrm>
            <a:off x="8312150" y="2600325"/>
            <a:ext cx="3165475" cy="2981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275" b="0">
                <a:solidFill>
                  <a:srgbClr val="183247"/>
                </a:solidFill>
              </a:defRPr>
            </a:pPr>
            <a:r>
              <a:rPr sz="1275" b="0">
                <a:solidFill>
                  <a:srgbClr val="183247"/>
                </a:solidFill>
              </a:rPr>
              <a:t>CSRNet-style CNN (density-map regression) fine-tuned on ShanghaiTech + custom event footage, deployed on AWS ECS Fargate; YOLOv8 head-count detection was considered but rejected — it undercounts dense crowds above ~150 people/frame.</a:t>
            </a:r>
            <a:endParaRPr sz="1275" b="0">
              <a:solidFill>
                <a:srgbClr val="183247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1" name="Rectangle 20"/>
          <p:cNvSpPr>
            <a:spLocks noGrp="1"/>
          </p:cNvSpPr>
          <p:nvPr/>
        </p:nvSpPr>
        <p:spPr>
          <a:xfrm>
            <a:off x="0" y="0"/>
            <a:ext cx="12182475" cy="76200"/>
          </a:xfrm>
          <a:prstGeom prst="rect">
            <a:avLst/>
          </a:prstGeom>
          <a:solidFill>
            <a:srgbClr val="0B7895"/>
          </a:solidFill>
          <a:ln w="0">
            <a:solidFill>
              <a:srgbClr val="0B7895"/>
            </a:solidFill>
            <a:prstDash val="solid"/>
          </a:ln>
        </p:spPr>
      </p:sp>
      <p:sp>
        <p:nvSpPr>
          <p:cNvPr id="2" name="Rounded Rectangle 1"/>
          <p:cNvSpPr>
            <a:spLocks noGrp="1"/>
          </p:cNvSpPr>
          <p:nvPr/>
        </p:nvSpPr>
        <p:spPr>
          <a:xfrm>
            <a:off x="438150" y="228600"/>
            <a:ext cx="1000125" cy="55245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C9D6E2"/>
            </a:solidFill>
            <a:prstDash val="solid"/>
          </a:ln>
        </p:spPr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4350" y="450359"/>
            <a:ext cx="847725" cy="108932"/>
          </a:xfrm>
          <a:prstGeom prst="rect">
            <a:avLst/>
          </a:prstGeom>
        </p:spPr>
      </p:pic>
      <p:sp>
        <p:nvSpPr>
          <p:cNvPr id="4" name="Rectangle 3"/>
          <p:cNvSpPr>
            <a:spLocks noGrp="1"/>
          </p:cNvSpPr>
          <p:nvPr/>
        </p:nvSpPr>
        <p:spPr>
          <a:xfrm>
            <a:off x="1657350" y="266700"/>
            <a:ext cx="6953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>
                <a:solidFill>
                  <a:srgbClr val="1264A3"/>
                </a:solidFill>
              </a:defRPr>
            </a:pPr>
            <a:r>
              <a:rPr sz="900" b="1">
                <a:solidFill>
                  <a:srgbClr val="1264A3"/>
                </a:solidFill>
              </a:rPr>
              <a:t>CSA15  |  CLOUD COMPUTING AND BIG DATA ANALYTICS</a:t>
            </a:r>
            <a:endParaRPr sz="900" b="1">
              <a:solidFill>
                <a:srgbClr val="1264A3"/>
              </a:solidFill>
            </a:endParaRPr>
          </a:p>
        </p:txBody>
      </p:sp>
      <p:sp>
        <p:nvSpPr>
          <p:cNvPr id="5" name="Rectangle 4"/>
          <p:cNvSpPr>
            <a:spLocks noGrp="1"/>
          </p:cNvSpPr>
          <p:nvPr/>
        </p:nvSpPr>
        <p:spPr>
          <a:xfrm>
            <a:off x="9572625" y="266700"/>
            <a:ext cx="209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825" b="1">
                <a:solidFill>
                  <a:srgbClr val="0B7895"/>
                </a:solidFill>
              </a:defRPr>
            </a:pPr>
            <a:r>
              <a:rPr sz="825" b="1">
                <a:solidFill>
                  <a:srgbClr val="0B7895"/>
                </a:solidFill>
              </a:rPr>
              <a:t>CAPSTONE FINAL DEFENSE</a:t>
            </a:r>
            <a:endParaRPr sz="825" b="1">
              <a:solidFill>
                <a:srgbClr val="0B7895"/>
              </a:solidFill>
            </a:endParaRPr>
          </a:p>
        </p:txBody>
      </p:sp>
      <p:sp>
        <p:nvSpPr>
          <p:cNvPr id="6" name="Rectangle 5"/>
          <p:cNvSpPr>
            <a:spLocks noGrp="1"/>
          </p:cNvSpPr>
          <p:nvPr/>
        </p:nvSpPr>
        <p:spPr>
          <a:xfrm>
            <a:off x="514350" y="981075"/>
            <a:ext cx="10287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2325" b="1">
                <a:solidFill>
                  <a:srgbClr val="0B2E4F"/>
                </a:solidFill>
              </a:defRPr>
            </a:pPr>
            <a:r>
              <a:rPr sz="2325" b="1">
                <a:solidFill>
                  <a:srgbClr val="0B2E4F"/>
                </a:solidFill>
              </a:rPr>
              <a:t>Module 2: Crowd Monitoring &amp; Density Estimation – Technical Design</a:t>
            </a:r>
            <a:endParaRPr sz="2325" b="1">
              <a:solidFill>
                <a:srgbClr val="0B2E4F"/>
              </a:solidFill>
            </a:endParaRPr>
          </a:p>
        </p:txBody>
      </p:sp>
      <p:sp>
        <p:nvSpPr>
          <p:cNvPr id="7" name="Rectangle 6"/>
          <p:cNvSpPr>
            <a:spLocks noGrp="1"/>
          </p:cNvSpPr>
          <p:nvPr/>
        </p:nvSpPr>
        <p:spPr>
          <a:xfrm>
            <a:off x="533400" y="1457325"/>
            <a:ext cx="10287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125" b="0">
                <a:solidFill>
                  <a:srgbClr val="52677A"/>
                </a:solidFill>
              </a:defRPr>
            </a:pPr>
            <a:r>
              <a:rPr sz="1125" b="0">
                <a:solidFill>
                  <a:srgbClr val="52677A"/>
                </a:solidFill>
              </a:rPr>
              <a:t>Expose the service, data and control decisions that make the module dependable.</a:t>
            </a:r>
            <a:endParaRPr sz="1125" b="0">
              <a:solidFill>
                <a:srgbClr val="52677A"/>
              </a:solidFill>
            </a:endParaRPr>
          </a:p>
        </p:txBody>
      </p:sp>
      <p:sp>
        <p:nvSpPr>
          <p:cNvPr id="8" name="Rectangle 7"/>
          <p:cNvSpPr>
            <a:spLocks noGrp="1"/>
          </p:cNvSpPr>
          <p:nvPr/>
        </p:nvSpPr>
        <p:spPr>
          <a:xfrm>
            <a:off x="514350" y="1847850"/>
            <a:ext cx="11153775" cy="19050"/>
          </a:xfrm>
          <a:prstGeom prst="rect">
            <a:avLst/>
          </a:prstGeom>
          <a:solidFill>
            <a:srgbClr val="C9D6E2"/>
          </a:solidFill>
          <a:ln w="0">
            <a:solidFill>
              <a:srgbClr val="C9D6E2"/>
            </a:solidFill>
            <a:prstDash val="solid"/>
          </a:ln>
        </p:spPr>
      </p:sp>
      <p:sp>
        <p:nvSpPr>
          <p:cNvPr id="9" name="Rectangle 8"/>
          <p:cNvSpPr>
            <a:spLocks noGrp="1"/>
          </p:cNvSpPr>
          <p:nvPr/>
        </p:nvSpPr>
        <p:spPr>
          <a:xfrm>
            <a:off x="0" y="6419850"/>
            <a:ext cx="12182475" cy="438150"/>
          </a:xfrm>
          <a:prstGeom prst="rect">
            <a:avLst/>
          </a:prstGeom>
          <a:solidFill>
            <a:srgbClr val="0B2E4F"/>
          </a:solidFill>
          <a:ln w="0">
            <a:solidFill>
              <a:srgbClr val="0B2E4F"/>
            </a:solidFill>
            <a:prstDash val="solid"/>
          </a:ln>
        </p:spPr>
      </p:sp>
      <p:sp>
        <p:nvSpPr>
          <p:cNvPr id="10" name="Rectangle 9"/>
          <p:cNvSpPr>
            <a:spLocks noGrp="1"/>
          </p:cNvSpPr>
          <p:nvPr/>
        </p:nvSpPr>
        <p:spPr>
          <a:xfrm>
            <a:off x="533400" y="6515100"/>
            <a:ext cx="9810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STUDENT ACTION  |  Replace every [ENTER ...] field. Delete this rail before the final presentation.</a:t>
            </a:r>
            <a:endParaRPr sz="900" b="1">
              <a:solidFill>
                <a:srgbClr val="FFFFFF"/>
              </a:solidFill>
            </a:endParaRPr>
          </a:p>
        </p:txBody>
      </p:sp>
      <p:sp>
        <p:nvSpPr>
          <p:cNvPr id="11" name="Rectangle 10"/>
          <p:cNvSpPr>
            <a:spLocks noGrp="1"/>
          </p:cNvSpPr>
          <p:nvPr/>
        </p:nvSpPr>
        <p:spPr>
          <a:xfrm>
            <a:off x="11049000" y="6515100"/>
            <a:ext cx="6191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75" b="1">
                <a:solidFill>
                  <a:srgbClr val="D39216"/>
                </a:solidFill>
              </a:defRPr>
            </a:pPr>
            <a:r>
              <a:rPr sz="975" b="1">
                <a:solidFill>
                  <a:srgbClr val="D39216"/>
                </a:solidFill>
              </a:rPr>
              <a:t>12</a:t>
            </a:r>
            <a:endParaRPr sz="975" b="1">
              <a:solidFill>
                <a:srgbClr val="D39216"/>
              </a:solidFill>
            </a:endParaRPr>
          </a:p>
        </p:txBody>
      </p:sp>
      <p:sp>
        <p:nvSpPr>
          <p:cNvPr id="12" name="Rectangle 11"/>
          <p:cNvSpPr>
            <a:spLocks noGrp="1"/>
          </p:cNvSpPr>
          <p:nvPr/>
        </p:nvSpPr>
        <p:spPr>
          <a:xfrm>
            <a:off x="4191000" y="6715125"/>
            <a:ext cx="3810000" cy="104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600" b="0">
                <a:solidFill>
                  <a:srgbClr val="BFD3E1"/>
                </a:solidFill>
              </a:defRPr>
            </a:pPr>
            <a:r>
              <a:rPr sz="600" b="0">
                <a:solidFill>
                  <a:srgbClr val="BFD3E1"/>
                </a:solidFill>
              </a:rPr>
              <a:t>Dr. C. Rajesh Babu | SSETSCS415</a:t>
            </a:r>
            <a:endParaRPr sz="600" b="0">
              <a:solidFill>
                <a:srgbClr val="BFD3E1"/>
              </a:solidFill>
            </a:endParaRPr>
          </a:p>
        </p:txBody>
      </p:sp>
      <p:sp>
        <p:nvSpPr>
          <p:cNvPr id="13" name="Rectangle 12"/>
          <p:cNvSpPr>
            <a:spLocks noGrp="1"/>
          </p:cNvSpPr>
          <p:nvPr/>
        </p:nvSpPr>
        <p:spPr>
          <a:xfrm>
            <a:off x="514350" y="2143125"/>
            <a:ext cx="5314950" cy="36195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6E2"/>
            </a:solidFill>
            <a:prstDash val="solid"/>
          </a:ln>
        </p:spPr>
      </p:sp>
      <p:sp>
        <p:nvSpPr>
          <p:cNvPr id="14" name="Rectangle 13"/>
          <p:cNvSpPr>
            <a:spLocks noGrp="1"/>
          </p:cNvSpPr>
          <p:nvPr/>
        </p:nvSpPr>
        <p:spPr>
          <a:xfrm>
            <a:off x="514350" y="2143125"/>
            <a:ext cx="57150" cy="3619500"/>
          </a:xfrm>
          <a:prstGeom prst="rect">
            <a:avLst/>
          </a:prstGeom>
          <a:solidFill>
            <a:srgbClr val="1264A3"/>
          </a:solidFill>
          <a:ln w="0">
            <a:solidFill>
              <a:srgbClr val="1264A3"/>
            </a:solidFill>
            <a:prstDash val="solid"/>
          </a:ln>
        </p:spPr>
      </p:sp>
      <p:sp>
        <p:nvSpPr>
          <p:cNvPr id="15" name="Rectangle 14"/>
          <p:cNvSpPr>
            <a:spLocks noGrp="1"/>
          </p:cNvSpPr>
          <p:nvPr/>
        </p:nvSpPr>
        <p:spPr>
          <a:xfrm>
            <a:off x="723900" y="2295525"/>
            <a:ext cx="49149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>
                <a:solidFill>
                  <a:srgbClr val="1264A3"/>
                </a:solidFill>
              </a:defRPr>
            </a:pPr>
            <a:r>
              <a:rPr sz="900" b="1">
                <a:solidFill>
                  <a:srgbClr val="1264A3"/>
                </a:solidFill>
              </a:rPr>
              <a:t>DESIGN AND DECISION FLOW</a:t>
            </a:r>
            <a:endParaRPr sz="900" b="1">
              <a:solidFill>
                <a:srgbClr val="1264A3"/>
              </a:solidFill>
            </a:endParaRPr>
          </a:p>
        </p:txBody>
      </p:sp>
      <p:sp>
        <p:nvSpPr>
          <p:cNvPr id="16" name="Rectangle 15"/>
          <p:cNvSpPr>
            <a:spLocks noGrp="1"/>
          </p:cNvSpPr>
          <p:nvPr/>
        </p:nvSpPr>
        <p:spPr>
          <a:xfrm>
            <a:off x="723900" y="2600325"/>
            <a:ext cx="4914900" cy="3028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200" b="0">
                <a:solidFill>
                  <a:srgbClr val="183247"/>
                </a:solidFill>
              </a:defRPr>
            </a:pPr>
            <a:r>
              <a:rPr sz="1200" b="0">
                <a:solidFill>
                  <a:srgbClr val="183247"/>
                </a:solidFill>
              </a:rPr>
              <a:t>Camera frame (1 fps/zone) → frame-quality/timestamp validation → CNN density-map inference → compare vs capacity threshold, write to Redis + RDS history → status broadcast via WebSocket → on error: frame drop / camera offline falls back to last-known value + alert.</a:t>
            </a:r>
            <a:endParaRPr sz="1200" b="0">
              <a:solidFill>
                <a:srgbClr val="183247"/>
              </a:solidFill>
            </a:endParaRPr>
          </a:p>
          <a:p>
            <a:endParaRPr sz="1200"/>
          </a:p>
          <a:p>
            <a:pPr>
              <a:defRPr sz="1200" b="0">
                <a:solidFill>
                  <a:srgbClr val="183247"/>
                </a:solidFill>
              </a:defRPr>
            </a:pPr>
            <a:r>
              <a:rPr sz="1200" b="0">
                <a:solidFill>
                  <a:srgbClr val="183247"/>
                </a:solidFill>
              </a:rPr>
              <a:t>Input -&gt; validation -&gt; processing -&gt; data/service call -&gt; output -&gt; error path</a:t>
            </a:r>
            <a:endParaRPr sz="1200" b="0">
              <a:solidFill>
                <a:srgbClr val="183247"/>
              </a:solidFill>
            </a:endParaRPr>
          </a:p>
          <a:p>
            <a:endParaRPr sz="1200"/>
          </a:p>
          <a:p>
            <a:pPr>
              <a:defRPr sz="1200" b="0">
                <a:solidFill>
                  <a:srgbClr val="183247"/>
                </a:solidFill>
              </a:defRPr>
            </a:pPr>
            <a:r>
              <a:rPr sz="1200" b="0">
                <a:solidFill>
                  <a:srgbClr val="183247"/>
                </a:solidFill>
              </a:rPr>
              <a:t>Label the algorithm, data transformation, API contract and control decision.</a:t>
            </a:r>
            <a:endParaRPr sz="1200" b="0">
              <a:solidFill>
                <a:srgbClr val="183247"/>
              </a:solidFill>
            </a:endParaRPr>
          </a:p>
        </p:txBody>
      </p:sp>
      <p:sp>
        <p:nvSpPr>
          <p:cNvPr id="17" name="Rectangle 16"/>
          <p:cNvSpPr>
            <a:spLocks noGrp="1"/>
          </p:cNvSpPr>
          <p:nvPr/>
        </p:nvSpPr>
        <p:spPr>
          <a:xfrm>
            <a:off x="6057900" y="2143125"/>
            <a:ext cx="5610225" cy="36195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6E2"/>
            </a:solidFill>
            <a:prstDash val="solid"/>
          </a:ln>
        </p:spPr>
      </p:sp>
      <p:sp>
        <p:nvSpPr>
          <p:cNvPr id="18" name="Rectangle 17"/>
          <p:cNvSpPr>
            <a:spLocks noGrp="1"/>
          </p:cNvSpPr>
          <p:nvPr/>
        </p:nvSpPr>
        <p:spPr>
          <a:xfrm>
            <a:off x="6057900" y="2143125"/>
            <a:ext cx="57150" cy="3619500"/>
          </a:xfrm>
          <a:prstGeom prst="rect">
            <a:avLst/>
          </a:prstGeom>
          <a:solidFill>
            <a:srgbClr val="0B7895"/>
          </a:solidFill>
          <a:ln w="0">
            <a:solidFill>
              <a:srgbClr val="0B7895"/>
            </a:solidFill>
            <a:prstDash val="solid"/>
          </a:ln>
        </p:spPr>
      </p:sp>
      <p:sp>
        <p:nvSpPr>
          <p:cNvPr id="19" name="Rectangle 18"/>
          <p:cNvSpPr>
            <a:spLocks noGrp="1"/>
          </p:cNvSpPr>
          <p:nvPr/>
        </p:nvSpPr>
        <p:spPr>
          <a:xfrm>
            <a:off x="6267450" y="2295525"/>
            <a:ext cx="521017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>
                <a:solidFill>
                  <a:srgbClr val="0B7895"/>
                </a:solidFill>
              </a:defRPr>
            </a:pPr>
            <a:r>
              <a:rPr sz="900" b="1">
                <a:solidFill>
                  <a:srgbClr val="0B7895"/>
                </a:solidFill>
              </a:rPr>
              <a:t>TECHNICAL DEFENSE</a:t>
            </a:r>
            <a:endParaRPr sz="900" b="1">
              <a:solidFill>
                <a:srgbClr val="0B7895"/>
              </a:solidFill>
            </a:endParaRPr>
          </a:p>
        </p:txBody>
      </p:sp>
      <p:sp>
        <p:nvSpPr>
          <p:cNvPr id="20" name="Rectangle 19"/>
          <p:cNvSpPr>
            <a:spLocks noGrp="1"/>
          </p:cNvSpPr>
          <p:nvPr/>
        </p:nvSpPr>
        <p:spPr>
          <a:xfrm>
            <a:off x="6267450" y="2600325"/>
            <a:ext cx="5210175" cy="3028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200" b="0">
                <a:solidFill>
                  <a:srgbClr val="183247"/>
                </a:solidFill>
              </a:defRPr>
            </a:pPr>
            <a:r>
              <a:rPr sz="1200" b="0">
                <a:solidFill>
                  <a:srgbClr val="183247"/>
                </a:solidFill>
              </a:rPr>
              <a:t>CSRNet (VGG-16 front end + dilated-convolution back end) density-map regression, summed to a scalar crowd count</a:t>
            </a:r>
            <a:endParaRPr sz="1200" b="0">
              <a:solidFill>
                <a:srgbClr val="183247"/>
              </a:solidFill>
            </a:endParaRPr>
          </a:p>
          <a:p>
            <a:endParaRPr sz="1200"/>
          </a:p>
          <a:p>
            <a:pPr>
              <a:defRPr sz="1200" b="0">
                <a:solidFill>
                  <a:srgbClr val="183247"/>
                </a:solidFill>
              </a:defRPr>
            </a:pPr>
            <a:r>
              <a:rPr sz="1200" b="0">
                <a:solidFill>
                  <a:srgbClr val="183247"/>
                </a:solidFill>
              </a:rPr>
              <a:t>Density map as an H×W float grid, reduced to (zoneId, timestamp, count) time-series rows in RDS</a:t>
            </a:r>
            <a:endParaRPr sz="1200" b="0">
              <a:solidFill>
                <a:srgbClr val="183247"/>
              </a:solidFill>
            </a:endParaRPr>
          </a:p>
          <a:p>
            <a:endParaRPr sz="1200"/>
          </a:p>
          <a:p>
            <a:pPr>
              <a:defRPr sz="1200" b="0">
                <a:solidFill>
                  <a:srgbClr val="183247"/>
                </a:solidFill>
              </a:defRPr>
            </a:pPr>
            <a:r>
              <a:rPr sz="1200" b="0">
                <a:solidFill>
                  <a:srgbClr val="183247"/>
                </a:solidFill>
              </a:rPr>
              <a:t>~380ms average inference per frame on the GPU-backed instance; O(H×W) convolution complexity</a:t>
            </a:r>
            <a:endParaRPr sz="1200" b="0">
              <a:solidFill>
                <a:srgbClr val="183247"/>
              </a:solidFill>
            </a:endParaRPr>
          </a:p>
          <a:p>
            <a:endParaRPr sz="1200"/>
          </a:p>
          <a:p>
            <a:pPr>
              <a:defRPr sz="1200" b="0">
                <a:solidFill>
                  <a:srgbClr val="183247"/>
                </a:solidFill>
              </a:defRPr>
            </a:pPr>
            <a:r>
              <a:rPr sz="1200" b="0">
                <a:solidFill>
                  <a:srgbClr val="183247"/>
                </a:solidFill>
              </a:rPr>
              <a:t>Signed pre-signed S3 URLs for frame upload, camera-feed auth tokens, circuit breaker on inference-service failure</a:t>
            </a:r>
            <a:endParaRPr sz="1200" b="0">
              <a:solidFill>
                <a:srgbClr val="183247"/>
              </a:solidFill>
            </a:endParaRPr>
          </a:p>
          <a:p>
            <a:endParaRPr sz="1200"/>
          </a:p>
          <a:p>
            <a:pPr>
              <a:defRPr sz="1200" b="0">
                <a:solidFill>
                  <a:srgbClr val="183247"/>
                </a:solidFill>
              </a:defRPr>
            </a:pPr>
            <a:r>
              <a:rPr sz="1200" b="0">
                <a:solidFill>
                  <a:srgbClr val="183247"/>
                </a:solidFill>
              </a:rPr>
              <a:t>Classical background-subtraction + blob counting — rejected, inaccurate above ~80 people due to occlusion</a:t>
            </a:r>
            <a:endParaRPr sz="1200" b="0">
              <a:solidFill>
                <a:srgbClr val="183247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0" name="Rectangle 39"/>
          <p:cNvSpPr>
            <a:spLocks noGrp="1"/>
          </p:cNvSpPr>
          <p:nvPr/>
        </p:nvSpPr>
        <p:spPr>
          <a:xfrm>
            <a:off x="0" y="0"/>
            <a:ext cx="12182475" cy="76200"/>
          </a:xfrm>
          <a:prstGeom prst="rect">
            <a:avLst/>
          </a:prstGeom>
          <a:solidFill>
            <a:srgbClr val="0B7895"/>
          </a:solidFill>
          <a:ln w="0">
            <a:solidFill>
              <a:srgbClr val="0B7895"/>
            </a:solidFill>
            <a:prstDash val="solid"/>
          </a:ln>
        </p:spPr>
      </p:sp>
      <p:sp>
        <p:nvSpPr>
          <p:cNvPr id="2" name="Rounded Rectangle 1"/>
          <p:cNvSpPr>
            <a:spLocks noGrp="1"/>
          </p:cNvSpPr>
          <p:nvPr/>
        </p:nvSpPr>
        <p:spPr>
          <a:xfrm>
            <a:off x="438150" y="228600"/>
            <a:ext cx="1000125" cy="55245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C9D6E2"/>
            </a:solidFill>
            <a:prstDash val="solid"/>
          </a:ln>
        </p:spPr>
      </p:sp>
      <p:pic>
        <p:nvPicPr>
          <p:cNvPr id="42" name="Picture 4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4350" y="450359"/>
            <a:ext cx="847725" cy="108932"/>
          </a:xfrm>
          <a:prstGeom prst="rect">
            <a:avLst/>
          </a:prstGeom>
        </p:spPr>
      </p:pic>
      <p:sp>
        <p:nvSpPr>
          <p:cNvPr id="4" name="Rectangle 3"/>
          <p:cNvSpPr>
            <a:spLocks noGrp="1"/>
          </p:cNvSpPr>
          <p:nvPr/>
        </p:nvSpPr>
        <p:spPr>
          <a:xfrm>
            <a:off x="1657350" y="266700"/>
            <a:ext cx="6953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>
                <a:solidFill>
                  <a:srgbClr val="1264A3"/>
                </a:solidFill>
              </a:defRPr>
            </a:pPr>
            <a:r>
              <a:rPr sz="900" b="1">
                <a:solidFill>
                  <a:srgbClr val="1264A3"/>
                </a:solidFill>
              </a:rPr>
              <a:t>CSA15  |  CLOUD COMPUTING AND BIG DATA ANALYTICS</a:t>
            </a:r>
            <a:endParaRPr sz="900" b="1">
              <a:solidFill>
                <a:srgbClr val="1264A3"/>
              </a:solidFill>
            </a:endParaRPr>
          </a:p>
        </p:txBody>
      </p:sp>
      <p:sp>
        <p:nvSpPr>
          <p:cNvPr id="5" name="Rectangle 4"/>
          <p:cNvSpPr>
            <a:spLocks noGrp="1"/>
          </p:cNvSpPr>
          <p:nvPr/>
        </p:nvSpPr>
        <p:spPr>
          <a:xfrm>
            <a:off x="9572625" y="266700"/>
            <a:ext cx="209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825" b="1">
                <a:solidFill>
                  <a:srgbClr val="0B7895"/>
                </a:solidFill>
              </a:defRPr>
            </a:pPr>
            <a:r>
              <a:rPr sz="825" b="1">
                <a:solidFill>
                  <a:srgbClr val="0B7895"/>
                </a:solidFill>
              </a:rPr>
              <a:t>CAPSTONE FINAL DEFENSE</a:t>
            </a:r>
            <a:endParaRPr sz="825" b="1">
              <a:solidFill>
                <a:srgbClr val="0B7895"/>
              </a:solidFill>
            </a:endParaRPr>
          </a:p>
        </p:txBody>
      </p:sp>
      <p:sp>
        <p:nvSpPr>
          <p:cNvPr id="6" name="Rectangle 5"/>
          <p:cNvSpPr>
            <a:spLocks noGrp="1"/>
          </p:cNvSpPr>
          <p:nvPr/>
        </p:nvSpPr>
        <p:spPr>
          <a:xfrm>
            <a:off x="514350" y="981075"/>
            <a:ext cx="10287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2325" b="1">
                <a:solidFill>
                  <a:srgbClr val="0B2E4F"/>
                </a:solidFill>
              </a:defRPr>
            </a:pPr>
            <a:r>
              <a:rPr sz="2325" b="1">
                <a:solidFill>
                  <a:srgbClr val="0B2E4F"/>
                </a:solidFill>
              </a:rPr>
              <a:t>Module 2: Implementation Evidence</a:t>
            </a:r>
            <a:endParaRPr sz="2325" b="1">
              <a:solidFill>
                <a:srgbClr val="0B2E4F"/>
              </a:solidFill>
            </a:endParaRPr>
          </a:p>
        </p:txBody>
      </p:sp>
      <p:sp>
        <p:nvSpPr>
          <p:cNvPr id="7" name="Rectangle 6"/>
          <p:cNvSpPr>
            <a:spLocks noGrp="1"/>
          </p:cNvSpPr>
          <p:nvPr/>
        </p:nvSpPr>
        <p:spPr>
          <a:xfrm>
            <a:off x="533400" y="1457325"/>
            <a:ext cx="10287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125" b="0">
                <a:solidFill>
                  <a:srgbClr val="52677A"/>
                </a:solidFill>
              </a:defRPr>
            </a:pPr>
            <a:r>
              <a:rPr sz="1125" b="0">
                <a:solidFill>
                  <a:srgbClr val="52677A"/>
                </a:solidFill>
              </a:rPr>
              <a:t>Present working evidence, validation and the hand-off to the next stage.</a:t>
            </a:r>
            <a:endParaRPr sz="1125" b="0">
              <a:solidFill>
                <a:srgbClr val="52677A"/>
              </a:solidFill>
            </a:endParaRPr>
          </a:p>
        </p:txBody>
      </p:sp>
      <p:sp>
        <p:nvSpPr>
          <p:cNvPr id="8" name="Rectangle 7"/>
          <p:cNvSpPr>
            <a:spLocks noGrp="1"/>
          </p:cNvSpPr>
          <p:nvPr/>
        </p:nvSpPr>
        <p:spPr>
          <a:xfrm>
            <a:off x="514350" y="1847850"/>
            <a:ext cx="11153775" cy="19050"/>
          </a:xfrm>
          <a:prstGeom prst="rect">
            <a:avLst/>
          </a:prstGeom>
          <a:solidFill>
            <a:srgbClr val="C9D6E2"/>
          </a:solidFill>
          <a:ln w="0">
            <a:solidFill>
              <a:srgbClr val="C9D6E2"/>
            </a:solidFill>
            <a:prstDash val="solid"/>
          </a:ln>
        </p:spPr>
      </p:sp>
      <p:sp>
        <p:nvSpPr>
          <p:cNvPr id="9" name="Rectangle 8"/>
          <p:cNvSpPr>
            <a:spLocks noGrp="1"/>
          </p:cNvSpPr>
          <p:nvPr/>
        </p:nvSpPr>
        <p:spPr>
          <a:xfrm>
            <a:off x="0" y="6419850"/>
            <a:ext cx="12182475" cy="438150"/>
          </a:xfrm>
          <a:prstGeom prst="rect">
            <a:avLst/>
          </a:prstGeom>
          <a:solidFill>
            <a:srgbClr val="0B2E4F"/>
          </a:solidFill>
          <a:ln w="0">
            <a:solidFill>
              <a:srgbClr val="0B2E4F"/>
            </a:solidFill>
            <a:prstDash val="solid"/>
          </a:ln>
        </p:spPr>
      </p:sp>
      <p:sp>
        <p:nvSpPr>
          <p:cNvPr id="10" name="Rectangle 9"/>
          <p:cNvSpPr>
            <a:spLocks noGrp="1"/>
          </p:cNvSpPr>
          <p:nvPr/>
        </p:nvSpPr>
        <p:spPr>
          <a:xfrm>
            <a:off x="533400" y="6515100"/>
            <a:ext cx="9810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STUDENT ACTION  |  Replace every [ENTER ...] field. Delete this rail before the final presentation.</a:t>
            </a:r>
            <a:endParaRPr sz="900" b="1">
              <a:solidFill>
                <a:srgbClr val="FFFFFF"/>
              </a:solidFill>
            </a:endParaRPr>
          </a:p>
        </p:txBody>
      </p:sp>
      <p:sp>
        <p:nvSpPr>
          <p:cNvPr id="11" name="Rectangle 10"/>
          <p:cNvSpPr>
            <a:spLocks noGrp="1"/>
          </p:cNvSpPr>
          <p:nvPr/>
        </p:nvSpPr>
        <p:spPr>
          <a:xfrm>
            <a:off x="11049000" y="6515100"/>
            <a:ext cx="6191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75" b="1">
                <a:solidFill>
                  <a:srgbClr val="D39216"/>
                </a:solidFill>
              </a:defRPr>
            </a:pPr>
            <a:r>
              <a:rPr sz="975" b="1">
                <a:solidFill>
                  <a:srgbClr val="D39216"/>
                </a:solidFill>
              </a:rPr>
              <a:t>13</a:t>
            </a:r>
            <a:endParaRPr sz="975" b="1">
              <a:solidFill>
                <a:srgbClr val="D39216"/>
              </a:solidFill>
            </a:endParaRPr>
          </a:p>
        </p:txBody>
      </p:sp>
      <p:sp>
        <p:nvSpPr>
          <p:cNvPr id="12" name="Rectangle 11"/>
          <p:cNvSpPr>
            <a:spLocks noGrp="1"/>
          </p:cNvSpPr>
          <p:nvPr/>
        </p:nvSpPr>
        <p:spPr>
          <a:xfrm>
            <a:off x="4191000" y="6715125"/>
            <a:ext cx="3810000" cy="104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600" b="0">
                <a:solidFill>
                  <a:srgbClr val="BFD3E1"/>
                </a:solidFill>
              </a:defRPr>
            </a:pPr>
            <a:r>
              <a:rPr sz="600" b="0">
                <a:solidFill>
                  <a:srgbClr val="BFD3E1"/>
                </a:solidFill>
              </a:rPr>
              <a:t>Dr. C. Rajesh Babu | SSETSCS415</a:t>
            </a:r>
            <a:endParaRPr sz="600" b="0">
              <a:solidFill>
                <a:srgbClr val="BFD3E1"/>
              </a:solidFill>
            </a:endParaRPr>
          </a:p>
        </p:txBody>
      </p:sp>
      <p:sp>
        <p:nvSpPr>
          <p:cNvPr id="13" name="Rectangle 12"/>
          <p:cNvSpPr>
            <a:spLocks noGrp="1"/>
          </p:cNvSpPr>
          <p:nvPr/>
        </p:nvSpPr>
        <p:spPr>
          <a:xfrm>
            <a:off x="0" y="0"/>
            <a:ext cx="12182475" cy="76200"/>
          </a:xfrm>
          <a:prstGeom prst="rect">
            <a:avLst/>
          </a:prstGeom>
          <a:solidFill>
            <a:srgbClr val="0B7895"/>
          </a:solidFill>
          <a:ln w="0">
            <a:solidFill>
              <a:srgbClr val="0B7895"/>
            </a:solidFill>
            <a:prstDash val="solid"/>
          </a:ln>
        </p:spPr>
      </p:sp>
      <p:sp>
        <p:nvSpPr>
          <p:cNvPr id="14" name="Rounded Rectangle 13"/>
          <p:cNvSpPr>
            <a:spLocks noGrp="1"/>
          </p:cNvSpPr>
          <p:nvPr/>
        </p:nvSpPr>
        <p:spPr>
          <a:xfrm>
            <a:off x="438150" y="228600"/>
            <a:ext cx="1000125" cy="55245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C9D6E2"/>
            </a:solidFill>
            <a:prstDash val="solid"/>
          </a:ln>
        </p:spPr>
      </p:sp>
      <p:pic>
        <p:nvPicPr>
          <p:cNvPr id="54" name="Picture 5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4350" y="450359"/>
            <a:ext cx="847725" cy="108932"/>
          </a:xfrm>
          <a:prstGeom prst="rect">
            <a:avLst/>
          </a:prstGeom>
        </p:spPr>
      </p:pic>
      <p:sp>
        <p:nvSpPr>
          <p:cNvPr id="16" name="Rectangle 15"/>
          <p:cNvSpPr>
            <a:spLocks noGrp="1"/>
          </p:cNvSpPr>
          <p:nvPr/>
        </p:nvSpPr>
        <p:spPr>
          <a:xfrm>
            <a:off x="1657350" y="266700"/>
            <a:ext cx="6953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>
                <a:solidFill>
                  <a:srgbClr val="1264A3"/>
                </a:solidFill>
              </a:defRPr>
            </a:pPr>
            <a:r>
              <a:rPr sz="900" b="1">
                <a:solidFill>
                  <a:srgbClr val="1264A3"/>
                </a:solidFill>
              </a:rPr>
              <a:t>CSA15  |  CLOUD COMPUTING AND BIG DATA ANALYTICS</a:t>
            </a:r>
            <a:endParaRPr sz="900" b="1">
              <a:solidFill>
                <a:srgbClr val="1264A3"/>
              </a:solidFill>
            </a:endParaRPr>
          </a:p>
        </p:txBody>
      </p:sp>
      <p:sp>
        <p:nvSpPr>
          <p:cNvPr id="17" name="Rectangle 16"/>
          <p:cNvSpPr>
            <a:spLocks noGrp="1"/>
          </p:cNvSpPr>
          <p:nvPr/>
        </p:nvSpPr>
        <p:spPr>
          <a:xfrm>
            <a:off x="9572625" y="266700"/>
            <a:ext cx="209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825" b="1">
                <a:solidFill>
                  <a:srgbClr val="0B7895"/>
                </a:solidFill>
              </a:defRPr>
            </a:pPr>
            <a:r>
              <a:rPr sz="825" b="1">
                <a:solidFill>
                  <a:srgbClr val="0B7895"/>
                </a:solidFill>
              </a:rPr>
              <a:t>BUILD EVIDENCE</a:t>
            </a:r>
            <a:endParaRPr sz="825" b="1">
              <a:solidFill>
                <a:srgbClr val="0B7895"/>
              </a:solidFill>
            </a:endParaRPr>
          </a:p>
        </p:txBody>
      </p:sp>
      <p:sp>
        <p:nvSpPr>
          <p:cNvPr id="18" name="Rectangle 17"/>
          <p:cNvSpPr>
            <a:spLocks noGrp="1"/>
          </p:cNvSpPr>
          <p:nvPr/>
        </p:nvSpPr>
        <p:spPr>
          <a:xfrm>
            <a:off x="514350" y="981075"/>
            <a:ext cx="10287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2325" b="1">
                <a:solidFill>
                  <a:srgbClr val="0B2E4F"/>
                </a:solidFill>
              </a:defRPr>
            </a:pPr>
            <a:r>
              <a:rPr sz="2325" b="1">
                <a:solidFill>
                  <a:srgbClr val="0B2E4F"/>
                </a:solidFill>
              </a:rPr>
              <a:t>Module 2: Implementation Evidence</a:t>
            </a:r>
            <a:endParaRPr sz="2325" b="1">
              <a:solidFill>
                <a:srgbClr val="0B2E4F"/>
              </a:solidFill>
            </a:endParaRPr>
          </a:p>
        </p:txBody>
      </p:sp>
      <p:sp>
        <p:nvSpPr>
          <p:cNvPr id="19" name="Rectangle 18"/>
          <p:cNvSpPr>
            <a:spLocks noGrp="1"/>
          </p:cNvSpPr>
          <p:nvPr/>
        </p:nvSpPr>
        <p:spPr>
          <a:xfrm>
            <a:off x="533400" y="1457325"/>
            <a:ext cx="10287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125" b="0">
                <a:solidFill>
                  <a:srgbClr val="52677A"/>
                </a:solidFill>
              </a:defRPr>
            </a:pPr>
            <a:r>
              <a:rPr sz="1125" b="0">
                <a:solidFill>
                  <a:srgbClr val="52677A"/>
                </a:solidFill>
              </a:rPr>
              <a:t>Present working evidence, validation and the hand-off to the next stage.</a:t>
            </a:r>
            <a:endParaRPr sz="1125" b="0">
              <a:solidFill>
                <a:srgbClr val="52677A"/>
              </a:solidFill>
            </a:endParaRPr>
          </a:p>
        </p:txBody>
      </p:sp>
      <p:sp>
        <p:nvSpPr>
          <p:cNvPr id="20" name="Rectangle 19"/>
          <p:cNvSpPr>
            <a:spLocks noGrp="1"/>
          </p:cNvSpPr>
          <p:nvPr/>
        </p:nvSpPr>
        <p:spPr>
          <a:xfrm>
            <a:off x="514350" y="1847850"/>
            <a:ext cx="11153775" cy="19050"/>
          </a:xfrm>
          <a:prstGeom prst="rect">
            <a:avLst/>
          </a:prstGeom>
          <a:solidFill>
            <a:srgbClr val="C9D6E2"/>
          </a:solidFill>
          <a:ln w="0">
            <a:solidFill>
              <a:srgbClr val="C9D6E2"/>
            </a:solidFill>
            <a:prstDash val="solid"/>
          </a:ln>
        </p:spPr>
      </p:sp>
      <p:sp>
        <p:nvSpPr>
          <p:cNvPr id="21" name="Rectangle 20"/>
          <p:cNvSpPr>
            <a:spLocks noGrp="1"/>
          </p:cNvSpPr>
          <p:nvPr/>
        </p:nvSpPr>
        <p:spPr>
          <a:xfrm>
            <a:off x="0" y="6419850"/>
            <a:ext cx="12182475" cy="438150"/>
          </a:xfrm>
          <a:prstGeom prst="rect">
            <a:avLst/>
          </a:prstGeom>
          <a:solidFill>
            <a:srgbClr val="0B2E4F"/>
          </a:solidFill>
          <a:ln w="0">
            <a:solidFill>
              <a:srgbClr val="0B2E4F"/>
            </a:solidFill>
            <a:prstDash val="solid"/>
          </a:ln>
        </p:spPr>
      </p:sp>
      <p:sp>
        <p:nvSpPr>
          <p:cNvPr id="22" name="Rectangle 21"/>
          <p:cNvSpPr>
            <a:spLocks noGrp="1"/>
          </p:cNvSpPr>
          <p:nvPr/>
        </p:nvSpPr>
        <p:spPr>
          <a:xfrm>
            <a:off x="533400" y="6515100"/>
            <a:ext cx="9810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STUDENT ACTION  |  Replace every [ENTER ...] field. Delete this rail before the final presentation.</a:t>
            </a:r>
            <a:endParaRPr sz="900" b="1">
              <a:solidFill>
                <a:srgbClr val="FFFFFF"/>
              </a:solidFill>
            </a:endParaRPr>
          </a:p>
        </p:txBody>
      </p:sp>
      <p:sp>
        <p:nvSpPr>
          <p:cNvPr id="23" name="Rectangle 22"/>
          <p:cNvSpPr>
            <a:spLocks noGrp="1"/>
          </p:cNvSpPr>
          <p:nvPr/>
        </p:nvSpPr>
        <p:spPr>
          <a:xfrm>
            <a:off x="11049000" y="6515100"/>
            <a:ext cx="6191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75" b="1">
                <a:solidFill>
                  <a:srgbClr val="D39216"/>
                </a:solidFill>
              </a:defRPr>
            </a:pPr>
            <a:r>
              <a:rPr sz="975" b="1">
                <a:solidFill>
                  <a:srgbClr val="D39216"/>
                </a:solidFill>
              </a:rPr>
              <a:t>13</a:t>
            </a:r>
            <a:endParaRPr sz="975" b="1">
              <a:solidFill>
                <a:srgbClr val="D39216"/>
              </a:solidFill>
            </a:endParaRPr>
          </a:p>
        </p:txBody>
      </p:sp>
      <p:sp>
        <p:nvSpPr>
          <p:cNvPr id="24" name="Rectangle 23"/>
          <p:cNvSpPr>
            <a:spLocks noGrp="1"/>
          </p:cNvSpPr>
          <p:nvPr/>
        </p:nvSpPr>
        <p:spPr>
          <a:xfrm>
            <a:off x="4191000" y="6715125"/>
            <a:ext cx="3810000" cy="104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600" b="0">
                <a:solidFill>
                  <a:srgbClr val="BFD3E1"/>
                </a:solidFill>
              </a:defRPr>
            </a:pPr>
            <a:r>
              <a:rPr sz="600" b="0">
                <a:solidFill>
                  <a:srgbClr val="BFD3E1"/>
                </a:solidFill>
              </a:rPr>
              <a:t>Dr. C. Rajesh Babu | SSETSCS415</a:t>
            </a:r>
            <a:endParaRPr sz="600" b="0">
              <a:solidFill>
                <a:srgbClr val="BFD3E1"/>
              </a:solidFill>
            </a:endParaRPr>
          </a:p>
        </p:txBody>
      </p:sp>
      <p:sp>
        <p:nvSpPr>
          <p:cNvPr id="25" name="Rectangle 24"/>
          <p:cNvSpPr>
            <a:spLocks noGrp="1"/>
          </p:cNvSpPr>
          <p:nvPr/>
        </p:nvSpPr>
        <p:spPr>
          <a:xfrm>
            <a:off x="514350" y="2133600"/>
            <a:ext cx="6534150" cy="3714750"/>
          </a:xfrm>
          <a:prstGeom prst="rect">
            <a:avLst/>
          </a:prstGeom>
          <a:solidFill>
            <a:srgbClr val="EAF3F8"/>
          </a:solidFill>
          <a:ln w="19050">
            <a:solidFill>
              <a:srgbClr val="1264A3"/>
            </a:solidFill>
            <a:prstDash val="solid"/>
          </a:ln>
        </p:spPr>
      </p:sp>
      <p:sp>
        <p:nvSpPr>
          <p:cNvPr id="26" name="Rectangle 25"/>
          <p:cNvSpPr>
            <a:spLocks noGrp="1"/>
          </p:cNvSpPr>
          <p:nvPr/>
        </p:nvSpPr>
        <p:spPr>
          <a:xfrm>
            <a:off x="809625" y="3333750"/>
            <a:ext cx="59436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425" b="1">
                <a:solidFill>
                  <a:srgbClr val="1264A3"/>
                </a:solidFill>
              </a:defRPr>
            </a:pPr>
            <a:r>
              <a:rPr sz="1425" b="1">
                <a:solidFill>
                  <a:srgbClr val="1264A3"/>
                </a:solidFill>
              </a:rPr>
              <a:t>Screenshot slot: density-inference output — camera frame with generated CSRNet density heatmap and predicted zone crowd count.</a:t>
            </a:r>
            <a:endParaRPr sz="1425" b="1">
              <a:solidFill>
                <a:srgbClr val="1264A3"/>
              </a:solidFill>
            </a:endParaRPr>
          </a:p>
        </p:txBody>
      </p:sp>
      <p:sp>
        <p:nvSpPr>
          <p:cNvPr id="27" name="Rectangle 26"/>
          <p:cNvSpPr>
            <a:spLocks noGrp="1"/>
          </p:cNvSpPr>
          <p:nvPr/>
        </p:nvSpPr>
        <p:spPr>
          <a:xfrm>
            <a:off x="876300" y="3952875"/>
            <a:ext cx="5810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050" b="0">
                <a:solidFill>
                  <a:srgbClr val="52677A"/>
                </a:solidFill>
              </a:defRPr>
            </a:pPr>
            <a:r>
              <a:rPr sz="1050" b="0">
                <a:solidFill>
                  <a:srgbClr val="52677A"/>
                </a:solidFill>
              </a:rPr>
              <a:t>Use a readable image. Crop browser chrome and expose the result, not an empty interface.</a:t>
            </a:r>
            <a:endParaRPr sz="1050" b="0">
              <a:solidFill>
                <a:srgbClr val="52677A"/>
              </a:solidFill>
            </a:endParaRPr>
          </a:p>
        </p:txBody>
      </p:sp>
      <p:sp>
        <p:nvSpPr>
          <p:cNvPr id="28" name="Rectangle 27"/>
          <p:cNvSpPr>
            <a:spLocks noGrp="1"/>
          </p:cNvSpPr>
          <p:nvPr/>
        </p:nvSpPr>
        <p:spPr>
          <a:xfrm>
            <a:off x="7296150" y="2133600"/>
            <a:ext cx="4371975" cy="10668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6E2"/>
            </a:solidFill>
            <a:prstDash val="solid"/>
          </a:ln>
        </p:spPr>
      </p:sp>
      <p:sp>
        <p:nvSpPr>
          <p:cNvPr id="29" name="Rectangle 28"/>
          <p:cNvSpPr>
            <a:spLocks noGrp="1"/>
          </p:cNvSpPr>
          <p:nvPr/>
        </p:nvSpPr>
        <p:spPr>
          <a:xfrm>
            <a:off x="7296150" y="2133600"/>
            <a:ext cx="57150" cy="1066800"/>
          </a:xfrm>
          <a:prstGeom prst="rect">
            <a:avLst/>
          </a:prstGeom>
          <a:solidFill>
            <a:srgbClr val="1264A3"/>
          </a:solidFill>
          <a:ln w="0">
            <a:solidFill>
              <a:srgbClr val="1264A3"/>
            </a:solidFill>
            <a:prstDash val="solid"/>
          </a:ln>
        </p:spPr>
      </p:sp>
      <p:sp>
        <p:nvSpPr>
          <p:cNvPr id="30" name="Rectangle 29"/>
          <p:cNvSpPr>
            <a:spLocks noGrp="1"/>
          </p:cNvSpPr>
          <p:nvPr/>
        </p:nvSpPr>
        <p:spPr>
          <a:xfrm>
            <a:off x="7505700" y="2286000"/>
            <a:ext cx="397192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>
                <a:solidFill>
                  <a:srgbClr val="1264A3"/>
                </a:solidFill>
              </a:defRPr>
            </a:pPr>
            <a:r>
              <a:rPr sz="900" b="1">
                <a:solidFill>
                  <a:srgbClr val="1264A3"/>
                </a:solidFill>
              </a:rPr>
              <a:t>BUILD DETAILS</a:t>
            </a:r>
            <a:endParaRPr sz="900" b="1">
              <a:solidFill>
                <a:srgbClr val="1264A3"/>
              </a:solidFill>
            </a:endParaRPr>
          </a:p>
        </p:txBody>
      </p:sp>
      <p:sp>
        <p:nvSpPr>
          <p:cNvPr id="31" name="Rectangle 30"/>
          <p:cNvSpPr>
            <a:spLocks noGrp="1"/>
          </p:cNvSpPr>
          <p:nvPr/>
        </p:nvSpPr>
        <p:spPr>
          <a:xfrm>
            <a:off x="7505700" y="2590800"/>
            <a:ext cx="3971925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125" b="0">
                <a:solidFill>
                  <a:srgbClr val="183247"/>
                </a:solidFill>
              </a:defRPr>
            </a:pPr>
            <a:r>
              <a:rPr sz="1125" b="0">
                <a:solidFill>
                  <a:srgbClr val="183247"/>
                </a:solidFill>
              </a:rPr>
              <a:t>PyTorch 2.0 + CSRNet (VGG-16 backbone), Python 3.10, GPU-backed ECS Fargate task, S3 pre-signed URLs for frame ingestion</a:t>
            </a:r>
            <a:endParaRPr sz="1125" b="0">
              <a:solidFill>
                <a:srgbClr val="183247"/>
              </a:solidFill>
            </a:endParaRPr>
          </a:p>
        </p:txBody>
      </p:sp>
      <p:sp>
        <p:nvSpPr>
          <p:cNvPr id="32" name="Rectangle 31"/>
          <p:cNvSpPr>
            <a:spLocks noGrp="1"/>
          </p:cNvSpPr>
          <p:nvPr/>
        </p:nvSpPr>
        <p:spPr>
          <a:xfrm>
            <a:off x="7296150" y="3333750"/>
            <a:ext cx="4371975" cy="10668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6E2"/>
            </a:solidFill>
            <a:prstDash val="solid"/>
          </a:ln>
        </p:spPr>
      </p:sp>
      <p:sp>
        <p:nvSpPr>
          <p:cNvPr id="33" name="Rectangle 32"/>
          <p:cNvSpPr>
            <a:spLocks noGrp="1"/>
          </p:cNvSpPr>
          <p:nvPr/>
        </p:nvSpPr>
        <p:spPr>
          <a:xfrm>
            <a:off x="7296150" y="3333750"/>
            <a:ext cx="57150" cy="1066800"/>
          </a:xfrm>
          <a:prstGeom prst="rect">
            <a:avLst/>
          </a:prstGeom>
          <a:solidFill>
            <a:srgbClr val="0B7895"/>
          </a:solidFill>
          <a:ln w="0">
            <a:solidFill>
              <a:srgbClr val="0B7895"/>
            </a:solidFill>
            <a:prstDash val="solid"/>
          </a:ln>
        </p:spPr>
      </p:sp>
      <p:sp>
        <p:nvSpPr>
          <p:cNvPr id="34" name="Rectangle 33"/>
          <p:cNvSpPr>
            <a:spLocks noGrp="1"/>
          </p:cNvSpPr>
          <p:nvPr/>
        </p:nvSpPr>
        <p:spPr>
          <a:xfrm>
            <a:off x="7505700" y="3486150"/>
            <a:ext cx="397192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>
                <a:solidFill>
                  <a:srgbClr val="0B7895"/>
                </a:solidFill>
              </a:defRPr>
            </a:pPr>
            <a:r>
              <a:rPr sz="900" b="1">
                <a:solidFill>
                  <a:srgbClr val="0B7895"/>
                </a:solidFill>
              </a:rPr>
              <a:t>VALIDATION EVIDENCE</a:t>
            </a:r>
            <a:endParaRPr sz="900" b="1">
              <a:solidFill>
                <a:srgbClr val="0B7895"/>
              </a:solidFill>
            </a:endParaRPr>
          </a:p>
        </p:txBody>
      </p:sp>
      <p:sp>
        <p:nvSpPr>
          <p:cNvPr id="35" name="Rectangle 34"/>
          <p:cNvSpPr>
            <a:spLocks noGrp="1"/>
          </p:cNvSpPr>
          <p:nvPr/>
        </p:nvSpPr>
        <p:spPr>
          <a:xfrm>
            <a:off x="7505700" y="3790950"/>
            <a:ext cx="3971925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125" b="0">
                <a:solidFill>
                  <a:srgbClr val="183247"/>
                </a:solidFill>
              </a:defRPr>
            </a:pPr>
            <a:r>
              <a:rPr sz="1125" b="0">
                <a:solidFill>
                  <a:srgbClr val="183247"/>
                </a:solidFill>
              </a:rPr>
              <a:t>Evaluated on 500 annotated frames from ShanghaiTech + custom event footage: 8.2 persons/frame MAE, ~380ms average inference latency</a:t>
            </a:r>
            <a:endParaRPr sz="1125" b="0">
              <a:solidFill>
                <a:srgbClr val="183247"/>
              </a:solidFill>
            </a:endParaRPr>
          </a:p>
        </p:txBody>
      </p:sp>
      <p:sp>
        <p:nvSpPr>
          <p:cNvPr id="36" name="Rectangle 35"/>
          <p:cNvSpPr>
            <a:spLocks noGrp="1"/>
          </p:cNvSpPr>
          <p:nvPr/>
        </p:nvSpPr>
        <p:spPr>
          <a:xfrm>
            <a:off x="7296150" y="4533900"/>
            <a:ext cx="4371975" cy="1314450"/>
          </a:xfrm>
          <a:prstGeom prst="rect">
            <a:avLst/>
          </a:prstGeom>
          <a:solidFill>
            <a:srgbClr val="FFFFFF"/>
          </a:solidFill>
          <a:ln w="9525">
            <a:solidFill>
              <a:srgbClr val="C9D6E2"/>
            </a:solidFill>
            <a:prstDash val="solid"/>
          </a:ln>
        </p:spPr>
      </p:sp>
      <p:sp>
        <p:nvSpPr>
          <p:cNvPr id="37" name="Rectangle 36"/>
          <p:cNvSpPr>
            <a:spLocks noGrp="1"/>
          </p:cNvSpPr>
          <p:nvPr/>
        </p:nvSpPr>
        <p:spPr>
          <a:xfrm>
            <a:off x="7296150" y="4533900"/>
            <a:ext cx="57150" cy="1314450"/>
          </a:xfrm>
          <a:prstGeom prst="rect">
            <a:avLst/>
          </a:prstGeom>
          <a:solidFill>
            <a:srgbClr val="D39216"/>
          </a:solidFill>
          <a:ln w="0">
            <a:solidFill>
              <a:srgbClr val="D39216"/>
            </a:solidFill>
            <a:prstDash val="solid"/>
          </a:ln>
        </p:spPr>
      </p:sp>
      <p:sp>
        <p:nvSpPr>
          <p:cNvPr id="38" name="Rectangle 37"/>
          <p:cNvSpPr>
            <a:spLocks noGrp="1"/>
          </p:cNvSpPr>
          <p:nvPr/>
        </p:nvSpPr>
        <p:spPr>
          <a:xfrm>
            <a:off x="7505700" y="4686300"/>
            <a:ext cx="397192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>
                <a:solidFill>
                  <a:srgbClr val="D39216"/>
                </a:solidFill>
              </a:defRPr>
            </a:pPr>
            <a:r>
              <a:rPr sz="900" b="1">
                <a:solidFill>
                  <a:srgbClr val="D39216"/>
                </a:solidFill>
              </a:rPr>
              <a:t>MODULE HAND-OFF</a:t>
            </a:r>
            <a:endParaRPr sz="900" b="1">
              <a:solidFill>
                <a:srgbClr val="D39216"/>
              </a:solidFill>
            </a:endParaRPr>
          </a:p>
        </p:txBody>
      </p:sp>
      <p:sp>
        <p:nvSpPr>
          <p:cNvPr id="39" name="Rectangle 38"/>
          <p:cNvSpPr>
            <a:spLocks noGrp="1"/>
          </p:cNvSpPr>
          <p:nvPr/>
        </p:nvSpPr>
        <p:spPr>
          <a:xfrm>
            <a:off x="7505700" y="4991100"/>
            <a:ext cx="3971925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125" b="0">
                <a:solidFill>
                  <a:srgbClr val="183247"/>
                </a:solidFill>
              </a:defRPr>
            </a:pPr>
            <a:r>
              <a:rPr sz="1125" b="0">
                <a:solidFill>
                  <a:srgbClr val="183247"/>
                </a:solidFill>
              </a:rPr>
              <a:t>Per-zone density level (Normal/Moderate/Critical) and count history passed to Module 3 for incident-routing decisions</a:t>
            </a:r>
            <a:endParaRPr sz="1125" b="0">
              <a:solidFill>
                <a:srgbClr val="183247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5" name="Rectangle 24"/>
          <p:cNvSpPr>
            <a:spLocks noGrp="1"/>
          </p:cNvSpPr>
          <p:nvPr/>
        </p:nvSpPr>
        <p:spPr>
          <a:xfrm>
            <a:off x="0" y="0"/>
            <a:ext cx="12182475" cy="76200"/>
          </a:xfrm>
          <a:prstGeom prst="rect">
            <a:avLst/>
          </a:prstGeom>
          <a:solidFill>
            <a:srgbClr val="0B7895"/>
          </a:solidFill>
          <a:ln w="0">
            <a:solidFill>
              <a:srgbClr val="0B7895"/>
            </a:solidFill>
            <a:prstDash val="solid"/>
          </a:ln>
        </p:spPr>
      </p:sp>
      <p:sp>
        <p:nvSpPr>
          <p:cNvPr id="2" name="Rounded Rectangle 1"/>
          <p:cNvSpPr>
            <a:spLocks noGrp="1"/>
          </p:cNvSpPr>
          <p:nvPr/>
        </p:nvSpPr>
        <p:spPr>
          <a:xfrm>
            <a:off x="438150" y="228600"/>
            <a:ext cx="1000125" cy="55245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C9D6E2"/>
            </a:solidFill>
            <a:prstDash val="solid"/>
          </a:ln>
        </p:spPr>
      </p:sp>
      <p:pic>
        <p:nvPicPr>
          <p:cNvPr id="27" name="Picture 2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4350" y="450359"/>
            <a:ext cx="847725" cy="108932"/>
          </a:xfrm>
          <a:prstGeom prst="rect">
            <a:avLst/>
          </a:prstGeom>
        </p:spPr>
      </p:pic>
      <p:sp>
        <p:nvSpPr>
          <p:cNvPr id="4" name="Rectangle 3"/>
          <p:cNvSpPr>
            <a:spLocks noGrp="1"/>
          </p:cNvSpPr>
          <p:nvPr/>
        </p:nvSpPr>
        <p:spPr>
          <a:xfrm>
            <a:off x="1657350" y="266700"/>
            <a:ext cx="6953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>
                <a:solidFill>
                  <a:srgbClr val="1264A3"/>
                </a:solidFill>
              </a:defRPr>
            </a:pPr>
            <a:r>
              <a:rPr sz="900" b="1">
                <a:solidFill>
                  <a:srgbClr val="1264A3"/>
                </a:solidFill>
              </a:rPr>
              <a:t>CSA15  |  CLOUD COMPUTING AND BIG DATA ANALYTICS</a:t>
            </a:r>
            <a:endParaRPr sz="900" b="1">
              <a:solidFill>
                <a:srgbClr val="1264A3"/>
              </a:solidFill>
            </a:endParaRPr>
          </a:p>
        </p:txBody>
      </p:sp>
      <p:sp>
        <p:nvSpPr>
          <p:cNvPr id="5" name="Rectangle 4"/>
          <p:cNvSpPr>
            <a:spLocks noGrp="1"/>
          </p:cNvSpPr>
          <p:nvPr/>
        </p:nvSpPr>
        <p:spPr>
          <a:xfrm>
            <a:off x="9572625" y="266700"/>
            <a:ext cx="209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825" b="1">
                <a:solidFill>
                  <a:srgbClr val="0B7895"/>
                </a:solidFill>
              </a:defRPr>
            </a:pPr>
            <a:r>
              <a:rPr sz="825" b="1">
                <a:solidFill>
                  <a:srgbClr val="0B7895"/>
                </a:solidFill>
              </a:rPr>
              <a:t>CAPSTONE FINAL DEFENSE</a:t>
            </a:r>
            <a:endParaRPr sz="825" b="1">
              <a:solidFill>
                <a:srgbClr val="0B7895"/>
              </a:solidFill>
            </a:endParaRPr>
          </a:p>
        </p:txBody>
      </p:sp>
      <p:sp>
        <p:nvSpPr>
          <p:cNvPr id="6" name="Rectangle 5"/>
          <p:cNvSpPr>
            <a:spLocks noGrp="1"/>
          </p:cNvSpPr>
          <p:nvPr/>
        </p:nvSpPr>
        <p:spPr>
          <a:xfrm>
            <a:off x="514350" y="981075"/>
            <a:ext cx="10287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2325" b="1">
                <a:solidFill>
                  <a:srgbClr val="0B2E4F"/>
                </a:solidFill>
              </a:defRPr>
            </a:pPr>
            <a:r>
              <a:rPr sz="2325" b="1">
                <a:solidFill>
                  <a:srgbClr val="0B2E4F"/>
                </a:solidFill>
              </a:rPr>
              <a:t>Module 3: Functional Scope</a:t>
            </a:r>
            <a:endParaRPr sz="2325" b="1">
              <a:solidFill>
                <a:srgbClr val="0B2E4F"/>
              </a:solidFill>
            </a:endParaRPr>
          </a:p>
        </p:txBody>
      </p:sp>
      <p:sp>
        <p:nvSpPr>
          <p:cNvPr id="7" name="Rectangle 6"/>
          <p:cNvSpPr>
            <a:spLocks noGrp="1"/>
          </p:cNvSpPr>
          <p:nvPr/>
        </p:nvSpPr>
        <p:spPr>
          <a:xfrm>
            <a:off x="533400" y="1457325"/>
            <a:ext cx="10287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125" b="0">
                <a:solidFill>
                  <a:srgbClr val="52677A"/>
                </a:solidFill>
              </a:defRPr>
            </a:pPr>
            <a:r>
              <a:rPr sz="1125" b="0">
                <a:solidFill>
                  <a:srgbClr val="52677A"/>
                </a:solidFill>
              </a:rPr>
              <a:t>Define the final major module and its contribution to the complete product.</a:t>
            </a:r>
            <a:endParaRPr sz="1125" b="0">
              <a:solidFill>
                <a:srgbClr val="52677A"/>
              </a:solidFill>
            </a:endParaRPr>
          </a:p>
        </p:txBody>
      </p:sp>
      <p:sp>
        <p:nvSpPr>
          <p:cNvPr id="8" name="Rectangle 7"/>
          <p:cNvSpPr>
            <a:spLocks noGrp="1"/>
          </p:cNvSpPr>
          <p:nvPr/>
        </p:nvSpPr>
        <p:spPr>
          <a:xfrm>
            <a:off x="514350" y="1847850"/>
            <a:ext cx="11153775" cy="19050"/>
          </a:xfrm>
          <a:prstGeom prst="rect">
            <a:avLst/>
          </a:prstGeom>
          <a:solidFill>
            <a:srgbClr val="C9D6E2"/>
          </a:solidFill>
          <a:ln w="0">
            <a:solidFill>
              <a:srgbClr val="C9D6E2"/>
            </a:solidFill>
            <a:prstDash val="solid"/>
          </a:ln>
        </p:spPr>
      </p:sp>
      <p:sp>
        <p:nvSpPr>
          <p:cNvPr id="9" name="Rectangle 8"/>
          <p:cNvSpPr>
            <a:spLocks noGrp="1"/>
          </p:cNvSpPr>
          <p:nvPr/>
        </p:nvSpPr>
        <p:spPr>
          <a:xfrm>
            <a:off x="0" y="6419850"/>
            <a:ext cx="12182475" cy="438150"/>
          </a:xfrm>
          <a:prstGeom prst="rect">
            <a:avLst/>
          </a:prstGeom>
          <a:solidFill>
            <a:srgbClr val="0B2E4F"/>
          </a:solidFill>
          <a:ln w="0">
            <a:solidFill>
              <a:srgbClr val="0B2E4F"/>
            </a:solidFill>
            <a:prstDash val="solid"/>
          </a:ln>
        </p:spPr>
      </p:sp>
      <p:sp>
        <p:nvSpPr>
          <p:cNvPr id="10" name="Rectangle 9"/>
          <p:cNvSpPr>
            <a:spLocks noGrp="1"/>
          </p:cNvSpPr>
          <p:nvPr/>
        </p:nvSpPr>
        <p:spPr>
          <a:xfrm>
            <a:off x="533400" y="6515100"/>
            <a:ext cx="9810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STUDENT ACTION  |  Replace every [ENTER ...] field. Delete this rail before the final presentation.</a:t>
            </a:r>
            <a:endParaRPr sz="900" b="1">
              <a:solidFill>
                <a:srgbClr val="FFFFFF"/>
              </a:solidFill>
            </a:endParaRPr>
          </a:p>
        </p:txBody>
      </p:sp>
      <p:sp>
        <p:nvSpPr>
          <p:cNvPr id="11" name="Rectangle 10"/>
          <p:cNvSpPr>
            <a:spLocks noGrp="1"/>
          </p:cNvSpPr>
          <p:nvPr/>
        </p:nvSpPr>
        <p:spPr>
          <a:xfrm>
            <a:off x="11049000" y="6515100"/>
            <a:ext cx="6191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75" b="1">
                <a:solidFill>
                  <a:srgbClr val="D39216"/>
                </a:solidFill>
              </a:defRPr>
            </a:pPr>
            <a:r>
              <a:rPr sz="975" b="1">
                <a:solidFill>
                  <a:srgbClr val="D39216"/>
                </a:solidFill>
              </a:rPr>
              <a:t>14</a:t>
            </a:r>
            <a:endParaRPr sz="975" b="1">
              <a:solidFill>
                <a:srgbClr val="D39216"/>
              </a:solidFill>
            </a:endParaRPr>
          </a:p>
        </p:txBody>
      </p:sp>
      <p:sp>
        <p:nvSpPr>
          <p:cNvPr id="12" name="Rectangle 11"/>
          <p:cNvSpPr>
            <a:spLocks noGrp="1"/>
          </p:cNvSpPr>
          <p:nvPr/>
        </p:nvSpPr>
        <p:spPr>
          <a:xfrm>
            <a:off x="4191000" y="6715125"/>
            <a:ext cx="3810000" cy="104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600" b="0">
                <a:solidFill>
                  <a:srgbClr val="BFD3E1"/>
                </a:solidFill>
              </a:defRPr>
            </a:pPr>
            <a:r>
              <a:rPr sz="600" b="0">
                <a:solidFill>
                  <a:srgbClr val="BFD3E1"/>
                </a:solidFill>
              </a:rPr>
              <a:t>Dr. C. Rajesh Babu | SSETSCS415</a:t>
            </a:r>
            <a:endParaRPr sz="600" b="0">
              <a:solidFill>
                <a:srgbClr val="BFD3E1"/>
              </a:solidFill>
            </a:endParaRPr>
          </a:p>
        </p:txBody>
      </p:sp>
      <p:sp>
        <p:nvSpPr>
          <p:cNvPr id="13" name="Rectangle 12"/>
          <p:cNvSpPr>
            <a:spLocks noGrp="1"/>
          </p:cNvSpPr>
          <p:nvPr/>
        </p:nvSpPr>
        <p:spPr>
          <a:xfrm>
            <a:off x="514350" y="2143125"/>
            <a:ext cx="3565525" cy="3571875"/>
          </a:xfrm>
          <a:prstGeom prst="rect">
            <a:avLst/>
          </a:prstGeom>
          <a:solidFill>
            <a:srgbClr val="FFFFFF"/>
          </a:solidFill>
          <a:ln w="9525">
            <a:solidFill>
              <a:srgbClr val="C9D6E2"/>
            </a:solidFill>
            <a:prstDash val="solid"/>
          </a:ln>
        </p:spPr>
      </p:sp>
      <p:sp>
        <p:nvSpPr>
          <p:cNvPr id="14" name="Rectangle 13"/>
          <p:cNvSpPr>
            <a:spLocks noGrp="1"/>
          </p:cNvSpPr>
          <p:nvPr/>
        </p:nvSpPr>
        <p:spPr>
          <a:xfrm>
            <a:off x="514350" y="2143125"/>
            <a:ext cx="57150" cy="3571875"/>
          </a:xfrm>
          <a:prstGeom prst="rect">
            <a:avLst/>
          </a:prstGeom>
          <a:solidFill>
            <a:srgbClr val="1264A3"/>
          </a:solidFill>
          <a:ln w="0">
            <a:solidFill>
              <a:srgbClr val="1264A3"/>
            </a:solidFill>
            <a:prstDash val="solid"/>
          </a:ln>
        </p:spPr>
      </p:sp>
      <p:sp>
        <p:nvSpPr>
          <p:cNvPr id="15" name="Rectangle 14"/>
          <p:cNvSpPr>
            <a:spLocks noGrp="1"/>
          </p:cNvSpPr>
          <p:nvPr/>
        </p:nvSpPr>
        <p:spPr>
          <a:xfrm>
            <a:off x="723900" y="2295525"/>
            <a:ext cx="316547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>
                <a:solidFill>
                  <a:srgbClr val="1264A3"/>
                </a:solidFill>
              </a:defRPr>
            </a:pPr>
            <a:r>
              <a:rPr sz="900" b="1">
                <a:solidFill>
                  <a:srgbClr val="1264A3"/>
                </a:solidFill>
              </a:rPr>
              <a:t>PURPOSE</a:t>
            </a:r>
            <a:endParaRPr sz="900" b="1">
              <a:solidFill>
                <a:srgbClr val="1264A3"/>
              </a:solidFill>
            </a:endParaRPr>
          </a:p>
        </p:txBody>
      </p:sp>
      <p:sp>
        <p:nvSpPr>
          <p:cNvPr id="16" name="Rectangle 15"/>
          <p:cNvSpPr>
            <a:spLocks noGrp="1"/>
          </p:cNvSpPr>
          <p:nvPr/>
        </p:nvSpPr>
        <p:spPr>
          <a:xfrm>
            <a:off x="723900" y="2600325"/>
            <a:ext cx="3165475" cy="2981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275" b="0">
                <a:solidFill>
                  <a:srgbClr val="183247"/>
                </a:solidFill>
              </a:defRPr>
            </a:pPr>
            <a:r>
              <a:rPr sz="1275" b="0">
                <a:solidFill>
                  <a:srgbClr val="183247"/>
                </a:solidFill>
              </a:rPr>
              <a:t>Receives incident reports from marshals and app users alongside zone-density alerts from Module 2, then auto-assigns each incident to the nearest available responder via geospatial nearest-neighbor lookup, closing the loop from detection to dispatch.</a:t>
            </a:r>
            <a:endParaRPr sz="1275" b="0">
              <a:solidFill>
                <a:srgbClr val="183247"/>
              </a:solidFill>
            </a:endParaRPr>
          </a:p>
        </p:txBody>
      </p:sp>
      <p:sp>
        <p:nvSpPr>
          <p:cNvPr id="17" name="Rectangle 16"/>
          <p:cNvSpPr>
            <a:spLocks noGrp="1"/>
          </p:cNvSpPr>
          <p:nvPr/>
        </p:nvSpPr>
        <p:spPr>
          <a:xfrm>
            <a:off x="4308475" y="2143125"/>
            <a:ext cx="3565525" cy="3571875"/>
          </a:xfrm>
          <a:prstGeom prst="rect">
            <a:avLst/>
          </a:prstGeom>
          <a:solidFill>
            <a:srgbClr val="FFFFFF"/>
          </a:solidFill>
          <a:ln w="9525">
            <a:solidFill>
              <a:srgbClr val="C9D6E2"/>
            </a:solidFill>
            <a:prstDash val="solid"/>
          </a:ln>
        </p:spPr>
      </p:sp>
      <p:sp>
        <p:nvSpPr>
          <p:cNvPr id="18" name="Rectangle 17"/>
          <p:cNvSpPr>
            <a:spLocks noGrp="1"/>
          </p:cNvSpPr>
          <p:nvPr/>
        </p:nvSpPr>
        <p:spPr>
          <a:xfrm>
            <a:off x="4308475" y="2143125"/>
            <a:ext cx="57150" cy="3571875"/>
          </a:xfrm>
          <a:prstGeom prst="rect">
            <a:avLst/>
          </a:prstGeom>
          <a:solidFill>
            <a:srgbClr val="0B7895"/>
          </a:solidFill>
          <a:ln w="0">
            <a:solidFill>
              <a:srgbClr val="0B7895"/>
            </a:solidFill>
            <a:prstDash val="solid"/>
          </a:ln>
        </p:spPr>
      </p:sp>
      <p:sp>
        <p:nvSpPr>
          <p:cNvPr id="19" name="Rectangle 18"/>
          <p:cNvSpPr>
            <a:spLocks noGrp="1"/>
          </p:cNvSpPr>
          <p:nvPr/>
        </p:nvSpPr>
        <p:spPr>
          <a:xfrm>
            <a:off x="4518025" y="2295525"/>
            <a:ext cx="316547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>
                <a:solidFill>
                  <a:srgbClr val="0B7895"/>
                </a:solidFill>
              </a:defRPr>
            </a:pPr>
            <a:r>
              <a:rPr sz="900" b="1">
                <a:solidFill>
                  <a:srgbClr val="0B7895"/>
                </a:solidFill>
              </a:rPr>
              <a:t>INTERFACE CONTRACT</a:t>
            </a:r>
            <a:endParaRPr sz="900" b="1">
              <a:solidFill>
                <a:srgbClr val="0B7895"/>
              </a:solidFill>
            </a:endParaRPr>
          </a:p>
        </p:txBody>
      </p:sp>
      <p:sp>
        <p:nvSpPr>
          <p:cNvPr id="20" name="Rectangle 19"/>
          <p:cNvSpPr>
            <a:spLocks noGrp="1"/>
          </p:cNvSpPr>
          <p:nvPr/>
        </p:nvSpPr>
        <p:spPr>
          <a:xfrm>
            <a:off x="4518025" y="2600325"/>
            <a:ext cx="3165475" cy="2981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275" b="0">
                <a:solidFill>
                  <a:srgbClr val="183247"/>
                </a:solidFill>
              </a:defRPr>
            </a:pPr>
            <a:r>
              <a:rPr sz="1275" b="0">
                <a:solidFill>
                  <a:srgbClr val="183247"/>
                </a:solidFill>
              </a:rPr>
              <a:t>POST /incidents {zoneId, lat, lng, severity} → {incidentId, assignedResponderId, etaSeconds}; depends on Module 1 responder roster and Module 2 zone-density alerts; publishes assignment updates over Redis pub-sub / WebSocket.</a:t>
            </a:r>
            <a:endParaRPr sz="1275" b="0">
              <a:solidFill>
                <a:srgbClr val="183247"/>
              </a:solidFill>
            </a:endParaRPr>
          </a:p>
        </p:txBody>
      </p:sp>
      <p:sp>
        <p:nvSpPr>
          <p:cNvPr id="21" name="Rectangle 20"/>
          <p:cNvSpPr>
            <a:spLocks noGrp="1"/>
          </p:cNvSpPr>
          <p:nvPr/>
        </p:nvSpPr>
        <p:spPr>
          <a:xfrm>
            <a:off x="8102600" y="2143125"/>
            <a:ext cx="3565525" cy="3571875"/>
          </a:xfrm>
          <a:prstGeom prst="rect">
            <a:avLst/>
          </a:prstGeom>
          <a:solidFill>
            <a:srgbClr val="FFFFFF"/>
          </a:solidFill>
          <a:ln w="9525">
            <a:solidFill>
              <a:srgbClr val="C9D6E2"/>
            </a:solidFill>
            <a:prstDash val="solid"/>
          </a:ln>
        </p:spPr>
      </p:sp>
      <p:sp>
        <p:nvSpPr>
          <p:cNvPr id="22" name="Rectangle 21"/>
          <p:cNvSpPr>
            <a:spLocks noGrp="1"/>
          </p:cNvSpPr>
          <p:nvPr/>
        </p:nvSpPr>
        <p:spPr>
          <a:xfrm>
            <a:off x="8102600" y="2143125"/>
            <a:ext cx="57150" cy="3571875"/>
          </a:xfrm>
          <a:prstGeom prst="rect">
            <a:avLst/>
          </a:prstGeom>
          <a:solidFill>
            <a:srgbClr val="D39216"/>
          </a:solidFill>
          <a:ln w="0">
            <a:solidFill>
              <a:srgbClr val="D39216"/>
            </a:solidFill>
            <a:prstDash val="solid"/>
          </a:ln>
        </p:spPr>
      </p:sp>
      <p:sp>
        <p:nvSpPr>
          <p:cNvPr id="23" name="Rectangle 22"/>
          <p:cNvSpPr>
            <a:spLocks noGrp="1"/>
          </p:cNvSpPr>
          <p:nvPr/>
        </p:nvSpPr>
        <p:spPr>
          <a:xfrm>
            <a:off x="8312150" y="2295525"/>
            <a:ext cx="316547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>
                <a:solidFill>
                  <a:srgbClr val="D39216"/>
                </a:solidFill>
              </a:defRPr>
            </a:pPr>
            <a:r>
              <a:rPr sz="900" b="1">
                <a:solidFill>
                  <a:srgbClr val="D39216"/>
                </a:solidFill>
              </a:rPr>
              <a:t>ENGINEERING DECISION</a:t>
            </a:r>
            <a:endParaRPr sz="900" b="1">
              <a:solidFill>
                <a:srgbClr val="D39216"/>
              </a:solidFill>
            </a:endParaRPr>
          </a:p>
        </p:txBody>
      </p:sp>
      <p:sp>
        <p:nvSpPr>
          <p:cNvPr id="24" name="Rectangle 23"/>
          <p:cNvSpPr>
            <a:spLocks noGrp="1"/>
          </p:cNvSpPr>
          <p:nvPr/>
        </p:nvSpPr>
        <p:spPr>
          <a:xfrm>
            <a:off x="8312150" y="2600325"/>
            <a:ext cx="3165475" cy="2981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275" b="0">
                <a:solidFill>
                  <a:srgbClr val="183247"/>
                </a:solidFill>
              </a:defRPr>
            </a:pPr>
            <a:r>
              <a:rPr sz="1275" b="0">
                <a:solidFill>
                  <a:srgbClr val="183247"/>
                </a:solidFill>
              </a:rPr>
              <a:t>PostGIS K-nearest-neighbor (KNN, &lt;-&gt; operator) query with a GiST spatial index on AWS RDS; a naive haversine loop over all responders was considered but rejected — it does not scale past ~50 responders and lacks indexed spatial lookups.</a:t>
            </a:r>
            <a:endParaRPr sz="1275" b="0">
              <a:solidFill>
                <a:srgbClr val="183247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1" name="Rectangle 20"/>
          <p:cNvSpPr>
            <a:spLocks noGrp="1"/>
          </p:cNvSpPr>
          <p:nvPr/>
        </p:nvSpPr>
        <p:spPr>
          <a:xfrm>
            <a:off x="0" y="0"/>
            <a:ext cx="12182475" cy="76200"/>
          </a:xfrm>
          <a:prstGeom prst="rect">
            <a:avLst/>
          </a:prstGeom>
          <a:solidFill>
            <a:srgbClr val="0B7895"/>
          </a:solidFill>
          <a:ln w="0">
            <a:solidFill>
              <a:srgbClr val="0B7895"/>
            </a:solidFill>
            <a:prstDash val="solid"/>
          </a:ln>
        </p:spPr>
      </p:sp>
      <p:sp>
        <p:nvSpPr>
          <p:cNvPr id="2" name="Rounded Rectangle 1"/>
          <p:cNvSpPr>
            <a:spLocks noGrp="1"/>
          </p:cNvSpPr>
          <p:nvPr/>
        </p:nvSpPr>
        <p:spPr>
          <a:xfrm>
            <a:off x="438150" y="228600"/>
            <a:ext cx="1000125" cy="55245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C9D6E2"/>
            </a:solidFill>
            <a:prstDash val="solid"/>
          </a:ln>
        </p:spPr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4350" y="450359"/>
            <a:ext cx="847725" cy="108932"/>
          </a:xfrm>
          <a:prstGeom prst="rect">
            <a:avLst/>
          </a:prstGeom>
        </p:spPr>
      </p:pic>
      <p:sp>
        <p:nvSpPr>
          <p:cNvPr id="4" name="Rectangle 3"/>
          <p:cNvSpPr>
            <a:spLocks noGrp="1"/>
          </p:cNvSpPr>
          <p:nvPr/>
        </p:nvSpPr>
        <p:spPr>
          <a:xfrm>
            <a:off x="1657350" y="266700"/>
            <a:ext cx="6953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>
                <a:solidFill>
                  <a:srgbClr val="1264A3"/>
                </a:solidFill>
              </a:defRPr>
            </a:pPr>
            <a:r>
              <a:rPr sz="900" b="1">
                <a:solidFill>
                  <a:srgbClr val="1264A3"/>
                </a:solidFill>
              </a:rPr>
              <a:t>CSA15  |  CLOUD COMPUTING AND BIG DATA ANALYTICS</a:t>
            </a:r>
            <a:endParaRPr sz="900" b="1">
              <a:solidFill>
                <a:srgbClr val="1264A3"/>
              </a:solidFill>
            </a:endParaRPr>
          </a:p>
        </p:txBody>
      </p:sp>
      <p:sp>
        <p:nvSpPr>
          <p:cNvPr id="5" name="Rectangle 4"/>
          <p:cNvSpPr>
            <a:spLocks noGrp="1"/>
          </p:cNvSpPr>
          <p:nvPr/>
        </p:nvSpPr>
        <p:spPr>
          <a:xfrm>
            <a:off x="9572625" y="266700"/>
            <a:ext cx="209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825" b="1">
                <a:solidFill>
                  <a:srgbClr val="0B7895"/>
                </a:solidFill>
              </a:defRPr>
            </a:pPr>
            <a:r>
              <a:rPr sz="825" b="1">
                <a:solidFill>
                  <a:srgbClr val="0B7895"/>
                </a:solidFill>
              </a:rPr>
              <a:t>CAPSTONE FINAL DEFENSE</a:t>
            </a:r>
            <a:endParaRPr sz="825" b="1">
              <a:solidFill>
                <a:srgbClr val="0B7895"/>
              </a:solidFill>
            </a:endParaRPr>
          </a:p>
        </p:txBody>
      </p:sp>
      <p:sp>
        <p:nvSpPr>
          <p:cNvPr id="6" name="Rectangle 5"/>
          <p:cNvSpPr>
            <a:spLocks noGrp="1"/>
          </p:cNvSpPr>
          <p:nvPr/>
        </p:nvSpPr>
        <p:spPr>
          <a:xfrm>
            <a:off x="514350" y="981075"/>
            <a:ext cx="10287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2325" b="1">
                <a:solidFill>
                  <a:srgbClr val="0B2E4F"/>
                </a:solidFill>
              </a:defRPr>
            </a:pPr>
            <a:r>
              <a:rPr sz="2325" b="1">
                <a:solidFill>
                  <a:srgbClr val="0B2E4F"/>
                </a:solidFill>
              </a:rPr>
              <a:t>Module 3: Technical Design</a:t>
            </a:r>
            <a:endParaRPr sz="2325" b="1">
              <a:solidFill>
                <a:srgbClr val="0B2E4F"/>
              </a:solidFill>
            </a:endParaRPr>
          </a:p>
        </p:txBody>
      </p:sp>
      <p:sp>
        <p:nvSpPr>
          <p:cNvPr id="7" name="Rectangle 6"/>
          <p:cNvSpPr>
            <a:spLocks noGrp="1"/>
          </p:cNvSpPr>
          <p:nvPr/>
        </p:nvSpPr>
        <p:spPr>
          <a:xfrm>
            <a:off x="533400" y="1457325"/>
            <a:ext cx="10287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125" b="0">
                <a:solidFill>
                  <a:srgbClr val="52677A"/>
                </a:solidFill>
              </a:defRPr>
            </a:pPr>
            <a:r>
              <a:rPr sz="1125" b="0">
                <a:solidFill>
                  <a:srgbClr val="52677A"/>
                </a:solidFill>
              </a:rPr>
              <a:t>Defend the integration logic, processing method and operational safeguards.</a:t>
            </a:r>
            <a:endParaRPr sz="1125" b="0">
              <a:solidFill>
                <a:srgbClr val="52677A"/>
              </a:solidFill>
            </a:endParaRPr>
          </a:p>
        </p:txBody>
      </p:sp>
      <p:sp>
        <p:nvSpPr>
          <p:cNvPr id="8" name="Rectangle 7"/>
          <p:cNvSpPr>
            <a:spLocks noGrp="1"/>
          </p:cNvSpPr>
          <p:nvPr/>
        </p:nvSpPr>
        <p:spPr>
          <a:xfrm>
            <a:off x="514350" y="1847850"/>
            <a:ext cx="11153775" cy="19050"/>
          </a:xfrm>
          <a:prstGeom prst="rect">
            <a:avLst/>
          </a:prstGeom>
          <a:solidFill>
            <a:srgbClr val="C9D6E2"/>
          </a:solidFill>
          <a:ln w="0">
            <a:solidFill>
              <a:srgbClr val="C9D6E2"/>
            </a:solidFill>
            <a:prstDash val="solid"/>
          </a:ln>
        </p:spPr>
      </p:sp>
      <p:sp>
        <p:nvSpPr>
          <p:cNvPr id="9" name="Rectangle 8"/>
          <p:cNvSpPr>
            <a:spLocks noGrp="1"/>
          </p:cNvSpPr>
          <p:nvPr/>
        </p:nvSpPr>
        <p:spPr>
          <a:xfrm>
            <a:off x="0" y="6419850"/>
            <a:ext cx="12182475" cy="438150"/>
          </a:xfrm>
          <a:prstGeom prst="rect">
            <a:avLst/>
          </a:prstGeom>
          <a:solidFill>
            <a:srgbClr val="0B2E4F"/>
          </a:solidFill>
          <a:ln w="0">
            <a:solidFill>
              <a:srgbClr val="0B2E4F"/>
            </a:solidFill>
            <a:prstDash val="solid"/>
          </a:ln>
        </p:spPr>
      </p:sp>
      <p:sp>
        <p:nvSpPr>
          <p:cNvPr id="10" name="Rectangle 9"/>
          <p:cNvSpPr>
            <a:spLocks noGrp="1"/>
          </p:cNvSpPr>
          <p:nvPr/>
        </p:nvSpPr>
        <p:spPr>
          <a:xfrm>
            <a:off x="533400" y="6515100"/>
            <a:ext cx="9810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STUDENT ACTION  |  Replace every [ENTER ...] field. Delete this rail before the final presentation.</a:t>
            </a:r>
            <a:endParaRPr sz="900" b="1">
              <a:solidFill>
                <a:srgbClr val="FFFFFF"/>
              </a:solidFill>
            </a:endParaRPr>
          </a:p>
        </p:txBody>
      </p:sp>
      <p:sp>
        <p:nvSpPr>
          <p:cNvPr id="11" name="Rectangle 10"/>
          <p:cNvSpPr>
            <a:spLocks noGrp="1"/>
          </p:cNvSpPr>
          <p:nvPr/>
        </p:nvSpPr>
        <p:spPr>
          <a:xfrm>
            <a:off x="11049000" y="6515100"/>
            <a:ext cx="6191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75" b="1">
                <a:solidFill>
                  <a:srgbClr val="D39216"/>
                </a:solidFill>
              </a:defRPr>
            </a:pPr>
            <a:r>
              <a:rPr sz="975" b="1">
                <a:solidFill>
                  <a:srgbClr val="D39216"/>
                </a:solidFill>
              </a:rPr>
              <a:t>15</a:t>
            </a:r>
            <a:endParaRPr sz="975" b="1">
              <a:solidFill>
                <a:srgbClr val="D39216"/>
              </a:solidFill>
            </a:endParaRPr>
          </a:p>
        </p:txBody>
      </p:sp>
      <p:sp>
        <p:nvSpPr>
          <p:cNvPr id="12" name="Rectangle 11"/>
          <p:cNvSpPr>
            <a:spLocks noGrp="1"/>
          </p:cNvSpPr>
          <p:nvPr/>
        </p:nvSpPr>
        <p:spPr>
          <a:xfrm>
            <a:off x="4191000" y="6715125"/>
            <a:ext cx="3810000" cy="104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600" b="0">
                <a:solidFill>
                  <a:srgbClr val="BFD3E1"/>
                </a:solidFill>
              </a:defRPr>
            </a:pPr>
            <a:r>
              <a:rPr sz="600" b="0">
                <a:solidFill>
                  <a:srgbClr val="BFD3E1"/>
                </a:solidFill>
              </a:rPr>
              <a:t>Dr. C. Rajesh Babu | SSETSCS415</a:t>
            </a:r>
            <a:endParaRPr sz="600" b="0">
              <a:solidFill>
                <a:srgbClr val="BFD3E1"/>
              </a:solidFill>
            </a:endParaRPr>
          </a:p>
        </p:txBody>
      </p:sp>
      <p:sp>
        <p:nvSpPr>
          <p:cNvPr id="13" name="Rectangle 12"/>
          <p:cNvSpPr>
            <a:spLocks noGrp="1"/>
          </p:cNvSpPr>
          <p:nvPr/>
        </p:nvSpPr>
        <p:spPr>
          <a:xfrm>
            <a:off x="514350" y="2143125"/>
            <a:ext cx="5314950" cy="36195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6E2"/>
            </a:solidFill>
            <a:prstDash val="solid"/>
          </a:ln>
        </p:spPr>
      </p:sp>
      <p:sp>
        <p:nvSpPr>
          <p:cNvPr id="14" name="Rectangle 13"/>
          <p:cNvSpPr>
            <a:spLocks noGrp="1"/>
          </p:cNvSpPr>
          <p:nvPr/>
        </p:nvSpPr>
        <p:spPr>
          <a:xfrm>
            <a:off x="514350" y="2143125"/>
            <a:ext cx="57150" cy="3619500"/>
          </a:xfrm>
          <a:prstGeom prst="rect">
            <a:avLst/>
          </a:prstGeom>
          <a:solidFill>
            <a:srgbClr val="1264A3"/>
          </a:solidFill>
          <a:ln w="0">
            <a:solidFill>
              <a:srgbClr val="1264A3"/>
            </a:solidFill>
            <a:prstDash val="solid"/>
          </a:ln>
        </p:spPr>
      </p:sp>
      <p:sp>
        <p:nvSpPr>
          <p:cNvPr id="15" name="Rectangle 14"/>
          <p:cNvSpPr>
            <a:spLocks noGrp="1"/>
          </p:cNvSpPr>
          <p:nvPr/>
        </p:nvSpPr>
        <p:spPr>
          <a:xfrm>
            <a:off x="723900" y="2295525"/>
            <a:ext cx="49149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>
                <a:solidFill>
                  <a:srgbClr val="1264A3"/>
                </a:solidFill>
              </a:defRPr>
            </a:pPr>
            <a:r>
              <a:rPr sz="900" b="1">
                <a:solidFill>
                  <a:srgbClr val="1264A3"/>
                </a:solidFill>
              </a:rPr>
              <a:t>DESIGN AND DECISION FLOW</a:t>
            </a:r>
            <a:endParaRPr sz="900" b="1">
              <a:solidFill>
                <a:srgbClr val="1264A3"/>
              </a:solidFill>
            </a:endParaRPr>
          </a:p>
        </p:txBody>
      </p:sp>
      <p:sp>
        <p:nvSpPr>
          <p:cNvPr id="16" name="Rectangle 15"/>
          <p:cNvSpPr>
            <a:spLocks noGrp="1"/>
          </p:cNvSpPr>
          <p:nvPr/>
        </p:nvSpPr>
        <p:spPr>
          <a:xfrm>
            <a:off x="723900" y="2600325"/>
            <a:ext cx="4914900" cy="3028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200" b="0">
                <a:solidFill>
                  <a:srgbClr val="183247"/>
                </a:solidFill>
              </a:defRPr>
            </a:pPr>
            <a:r>
              <a:rPr sz="1200" b="0">
                <a:solidFill>
                  <a:srgbClr val="183247"/>
                </a:solidFill>
              </a:rPr>
              <a:t>Incident report (lat/lng, severity) → input validation → PostGIS ST_DWithin + KNN (&lt;-&gt;) query against available responders → nearest available responder locked and assigned → RDS insert + Redis cache update → WebSocket push to marshal + dashboard → on error: no responder within 500m falls back to control-room broadcast alert.</a:t>
            </a:r>
            <a:endParaRPr sz="1200" b="0">
              <a:solidFill>
                <a:srgbClr val="183247"/>
              </a:solidFill>
            </a:endParaRPr>
          </a:p>
          <a:p>
            <a:endParaRPr sz="1200"/>
          </a:p>
          <a:p>
            <a:pPr>
              <a:defRPr sz="1200" b="0">
                <a:solidFill>
                  <a:srgbClr val="183247"/>
                </a:solidFill>
              </a:defRPr>
            </a:pPr>
            <a:r>
              <a:rPr sz="1200" b="0">
                <a:solidFill>
                  <a:srgbClr val="183247"/>
                </a:solidFill>
              </a:rPr>
              <a:t>Input -&gt; validation -&gt; processing -&gt; data/service call -&gt; output -&gt; error path</a:t>
            </a:r>
            <a:endParaRPr sz="1200" b="0">
              <a:solidFill>
                <a:srgbClr val="183247"/>
              </a:solidFill>
            </a:endParaRPr>
          </a:p>
          <a:p>
            <a:endParaRPr sz="1200"/>
          </a:p>
          <a:p>
            <a:pPr>
              <a:defRPr sz="1200" b="0">
                <a:solidFill>
                  <a:srgbClr val="183247"/>
                </a:solidFill>
              </a:defRPr>
            </a:pPr>
            <a:r>
              <a:rPr sz="1200" b="0">
                <a:solidFill>
                  <a:srgbClr val="183247"/>
                </a:solidFill>
              </a:rPr>
              <a:t>Label the algorithm, data transformation, API contract and control decision.</a:t>
            </a:r>
            <a:endParaRPr sz="1200" b="0">
              <a:solidFill>
                <a:srgbClr val="183247"/>
              </a:solidFill>
            </a:endParaRPr>
          </a:p>
        </p:txBody>
      </p:sp>
      <p:sp>
        <p:nvSpPr>
          <p:cNvPr id="17" name="Rectangle 16"/>
          <p:cNvSpPr>
            <a:spLocks noGrp="1"/>
          </p:cNvSpPr>
          <p:nvPr/>
        </p:nvSpPr>
        <p:spPr>
          <a:xfrm>
            <a:off x="6057900" y="2143125"/>
            <a:ext cx="5610225" cy="36195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6E2"/>
            </a:solidFill>
            <a:prstDash val="solid"/>
          </a:ln>
        </p:spPr>
      </p:sp>
      <p:sp>
        <p:nvSpPr>
          <p:cNvPr id="18" name="Rectangle 17"/>
          <p:cNvSpPr>
            <a:spLocks noGrp="1"/>
          </p:cNvSpPr>
          <p:nvPr/>
        </p:nvSpPr>
        <p:spPr>
          <a:xfrm>
            <a:off x="6057900" y="2143125"/>
            <a:ext cx="57150" cy="3619500"/>
          </a:xfrm>
          <a:prstGeom prst="rect">
            <a:avLst/>
          </a:prstGeom>
          <a:solidFill>
            <a:srgbClr val="0B7895"/>
          </a:solidFill>
          <a:ln w="0">
            <a:solidFill>
              <a:srgbClr val="0B7895"/>
            </a:solidFill>
            <a:prstDash val="solid"/>
          </a:ln>
        </p:spPr>
      </p:sp>
      <p:sp>
        <p:nvSpPr>
          <p:cNvPr id="19" name="Rectangle 18"/>
          <p:cNvSpPr>
            <a:spLocks noGrp="1"/>
          </p:cNvSpPr>
          <p:nvPr/>
        </p:nvSpPr>
        <p:spPr>
          <a:xfrm>
            <a:off x="6267450" y="2295525"/>
            <a:ext cx="521017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>
                <a:solidFill>
                  <a:srgbClr val="0B7895"/>
                </a:solidFill>
              </a:defRPr>
            </a:pPr>
            <a:r>
              <a:rPr sz="900" b="1">
                <a:solidFill>
                  <a:srgbClr val="0B7895"/>
                </a:solidFill>
              </a:rPr>
              <a:t>TECHNICAL DEFENSE</a:t>
            </a:r>
            <a:endParaRPr sz="900" b="1">
              <a:solidFill>
                <a:srgbClr val="0B7895"/>
              </a:solidFill>
            </a:endParaRPr>
          </a:p>
        </p:txBody>
      </p:sp>
      <p:sp>
        <p:nvSpPr>
          <p:cNvPr id="20" name="Rectangle 19"/>
          <p:cNvSpPr>
            <a:spLocks noGrp="1"/>
          </p:cNvSpPr>
          <p:nvPr/>
        </p:nvSpPr>
        <p:spPr>
          <a:xfrm>
            <a:off x="6267450" y="2600325"/>
            <a:ext cx="5210175" cy="3028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200" b="0">
                <a:solidFill>
                  <a:srgbClr val="183247"/>
                </a:solidFill>
              </a:defRPr>
            </a:pPr>
            <a:r>
              <a:rPr sz="1200" b="0">
                <a:solidFill>
                  <a:srgbClr val="183247"/>
                </a:solidFill>
              </a:rPr>
              <a:t>PostGIS K-nearest-neighbor (KNN) index scan using the &lt;-&gt; distance operator over a GiST spatial index on responder location</a:t>
            </a:r>
            <a:endParaRPr sz="1200" b="0">
              <a:solidFill>
                <a:srgbClr val="183247"/>
              </a:solidFill>
            </a:endParaRPr>
          </a:p>
          <a:p>
            <a:endParaRPr sz="1200"/>
          </a:p>
          <a:p>
            <a:pPr>
              <a:defRPr sz="1200" b="0">
                <a:solidFill>
                  <a:srgbClr val="183247"/>
                </a:solidFill>
              </a:defRPr>
            </a:pPr>
            <a:r>
              <a:rPr sz="1200" b="0">
                <a:solidFill>
                  <a:srgbClr val="183247"/>
                </a:solidFill>
              </a:rPr>
              <a:t>Incidents and Responders tables with PostGIS geography(Point) columns; incident-responder assignment stored as a foreign-keyed join row</a:t>
            </a:r>
            <a:endParaRPr sz="1200" b="0">
              <a:solidFill>
                <a:srgbClr val="183247"/>
              </a:solidFill>
            </a:endParaRPr>
          </a:p>
          <a:p>
            <a:endParaRPr sz="1200"/>
          </a:p>
          <a:p>
            <a:pPr>
              <a:defRPr sz="1200" b="0">
                <a:solidFill>
                  <a:srgbClr val="183247"/>
                </a:solidFill>
              </a:defRPr>
            </a:pPr>
            <a:r>
              <a:rPr sz="1200" b="0">
                <a:solidFill>
                  <a:srgbClr val="183247"/>
                </a:solidFill>
              </a:rPr>
              <a:t>~340ms average routing decision under load; GiST index gives O(log n) nearest-neighbor lookup versus O(n) for a linear scan</a:t>
            </a:r>
            <a:endParaRPr sz="1200" b="0">
              <a:solidFill>
                <a:srgbClr val="183247"/>
              </a:solidFill>
            </a:endParaRPr>
          </a:p>
          <a:p>
            <a:endParaRPr sz="1200"/>
          </a:p>
          <a:p>
            <a:pPr>
              <a:defRPr sz="1200" b="0">
                <a:solidFill>
                  <a:srgbClr val="183247"/>
                </a:solidFill>
              </a:defRPr>
            </a:pPr>
            <a:r>
              <a:rPr sz="1200" b="0">
                <a:solidFill>
                  <a:srgbClr val="183247"/>
                </a:solidFill>
              </a:rPr>
              <a:t>Row-level locking on responder assignment to prevent double-dispatch; JWT-authenticated incident endpoints; retry queue on RDS timeout</a:t>
            </a:r>
            <a:endParaRPr sz="1200" b="0">
              <a:solidFill>
                <a:srgbClr val="183247"/>
              </a:solidFill>
            </a:endParaRPr>
          </a:p>
          <a:p>
            <a:endParaRPr sz="1200"/>
          </a:p>
          <a:p>
            <a:pPr>
              <a:defRPr sz="1200" b="0">
                <a:solidFill>
                  <a:srgbClr val="183247"/>
                </a:solidFill>
              </a:defRPr>
            </a:pPr>
            <a:r>
              <a:rPr sz="1200" b="0">
                <a:solidFill>
                  <a:srgbClr val="183247"/>
                </a:solidFill>
              </a:rPr>
              <a:t>Haversine-formula loop over all responders in application code — rejected, does not scale past ~50 responders and lacks indexed spatial queries</a:t>
            </a:r>
            <a:endParaRPr sz="1200" b="0">
              <a:solidFill>
                <a:srgbClr val="183247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0" name="Rectangle 39"/>
          <p:cNvSpPr>
            <a:spLocks noGrp="1"/>
          </p:cNvSpPr>
          <p:nvPr/>
        </p:nvSpPr>
        <p:spPr>
          <a:xfrm>
            <a:off x="0" y="0"/>
            <a:ext cx="12182475" cy="76200"/>
          </a:xfrm>
          <a:prstGeom prst="rect">
            <a:avLst/>
          </a:prstGeom>
          <a:solidFill>
            <a:srgbClr val="0B7895"/>
          </a:solidFill>
          <a:ln w="0">
            <a:solidFill>
              <a:srgbClr val="0B7895"/>
            </a:solidFill>
            <a:prstDash val="solid"/>
          </a:ln>
        </p:spPr>
      </p:sp>
      <p:sp>
        <p:nvSpPr>
          <p:cNvPr id="2" name="Rounded Rectangle 1"/>
          <p:cNvSpPr>
            <a:spLocks noGrp="1"/>
          </p:cNvSpPr>
          <p:nvPr/>
        </p:nvSpPr>
        <p:spPr>
          <a:xfrm>
            <a:off x="438150" y="228600"/>
            <a:ext cx="1000125" cy="55245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C9D6E2"/>
            </a:solidFill>
            <a:prstDash val="solid"/>
          </a:ln>
        </p:spPr>
      </p:sp>
      <p:pic>
        <p:nvPicPr>
          <p:cNvPr id="42" name="Picture 4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4350" y="450359"/>
            <a:ext cx="847725" cy="108932"/>
          </a:xfrm>
          <a:prstGeom prst="rect">
            <a:avLst/>
          </a:prstGeom>
        </p:spPr>
      </p:pic>
      <p:sp>
        <p:nvSpPr>
          <p:cNvPr id="4" name="Rectangle 3"/>
          <p:cNvSpPr>
            <a:spLocks noGrp="1"/>
          </p:cNvSpPr>
          <p:nvPr/>
        </p:nvSpPr>
        <p:spPr>
          <a:xfrm>
            <a:off x="1657350" y="266700"/>
            <a:ext cx="6953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>
                <a:solidFill>
                  <a:srgbClr val="1264A3"/>
                </a:solidFill>
              </a:defRPr>
            </a:pPr>
            <a:r>
              <a:rPr sz="900" b="1">
                <a:solidFill>
                  <a:srgbClr val="1264A3"/>
                </a:solidFill>
              </a:rPr>
              <a:t>CSA15  |  CLOUD COMPUTING AND BIG DATA ANALYTICS</a:t>
            </a:r>
            <a:endParaRPr sz="900" b="1">
              <a:solidFill>
                <a:srgbClr val="1264A3"/>
              </a:solidFill>
            </a:endParaRPr>
          </a:p>
        </p:txBody>
      </p:sp>
      <p:sp>
        <p:nvSpPr>
          <p:cNvPr id="5" name="Rectangle 4"/>
          <p:cNvSpPr>
            <a:spLocks noGrp="1"/>
          </p:cNvSpPr>
          <p:nvPr/>
        </p:nvSpPr>
        <p:spPr>
          <a:xfrm>
            <a:off x="9572625" y="266700"/>
            <a:ext cx="209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825" b="1">
                <a:solidFill>
                  <a:srgbClr val="0B7895"/>
                </a:solidFill>
              </a:defRPr>
            </a:pPr>
            <a:r>
              <a:rPr sz="825" b="1">
                <a:solidFill>
                  <a:srgbClr val="0B7895"/>
                </a:solidFill>
              </a:rPr>
              <a:t>CAPSTONE FINAL DEFENSE</a:t>
            </a:r>
            <a:endParaRPr sz="825" b="1">
              <a:solidFill>
                <a:srgbClr val="0B7895"/>
              </a:solidFill>
            </a:endParaRPr>
          </a:p>
        </p:txBody>
      </p:sp>
      <p:sp>
        <p:nvSpPr>
          <p:cNvPr id="6" name="Rectangle 5"/>
          <p:cNvSpPr>
            <a:spLocks noGrp="1"/>
          </p:cNvSpPr>
          <p:nvPr/>
        </p:nvSpPr>
        <p:spPr>
          <a:xfrm>
            <a:off x="514350" y="981075"/>
            <a:ext cx="10287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2325" b="1">
                <a:solidFill>
                  <a:srgbClr val="0B2E4F"/>
                </a:solidFill>
              </a:defRPr>
            </a:pPr>
            <a:r>
              <a:rPr sz="2325" b="1">
                <a:solidFill>
                  <a:srgbClr val="0B2E4F"/>
                </a:solidFill>
              </a:rPr>
              <a:t>Module 3: Implementation Evidence</a:t>
            </a:r>
            <a:endParaRPr sz="2325" b="1">
              <a:solidFill>
                <a:srgbClr val="0B2E4F"/>
              </a:solidFill>
            </a:endParaRPr>
          </a:p>
        </p:txBody>
      </p:sp>
      <p:sp>
        <p:nvSpPr>
          <p:cNvPr id="7" name="Rectangle 6"/>
          <p:cNvSpPr>
            <a:spLocks noGrp="1"/>
          </p:cNvSpPr>
          <p:nvPr/>
        </p:nvSpPr>
        <p:spPr>
          <a:xfrm>
            <a:off x="533400" y="1457325"/>
            <a:ext cx="10287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125" b="0">
                <a:solidFill>
                  <a:srgbClr val="52677A"/>
                </a:solidFill>
              </a:defRPr>
            </a:pPr>
            <a:r>
              <a:rPr sz="1125" b="0">
                <a:solidFill>
                  <a:srgbClr val="52677A"/>
                </a:solidFill>
              </a:rPr>
              <a:t>Prove the final module produces the expected product-level output.</a:t>
            </a:r>
            <a:endParaRPr sz="1125" b="0">
              <a:solidFill>
                <a:srgbClr val="52677A"/>
              </a:solidFill>
            </a:endParaRPr>
          </a:p>
        </p:txBody>
      </p:sp>
      <p:sp>
        <p:nvSpPr>
          <p:cNvPr id="8" name="Rectangle 7"/>
          <p:cNvSpPr>
            <a:spLocks noGrp="1"/>
          </p:cNvSpPr>
          <p:nvPr/>
        </p:nvSpPr>
        <p:spPr>
          <a:xfrm>
            <a:off x="514350" y="1847850"/>
            <a:ext cx="11153775" cy="19050"/>
          </a:xfrm>
          <a:prstGeom prst="rect">
            <a:avLst/>
          </a:prstGeom>
          <a:solidFill>
            <a:srgbClr val="C9D6E2"/>
          </a:solidFill>
          <a:ln w="0">
            <a:solidFill>
              <a:srgbClr val="C9D6E2"/>
            </a:solidFill>
            <a:prstDash val="solid"/>
          </a:ln>
        </p:spPr>
      </p:sp>
      <p:sp>
        <p:nvSpPr>
          <p:cNvPr id="9" name="Rectangle 8"/>
          <p:cNvSpPr>
            <a:spLocks noGrp="1"/>
          </p:cNvSpPr>
          <p:nvPr/>
        </p:nvSpPr>
        <p:spPr>
          <a:xfrm>
            <a:off x="0" y="6419850"/>
            <a:ext cx="12182475" cy="438150"/>
          </a:xfrm>
          <a:prstGeom prst="rect">
            <a:avLst/>
          </a:prstGeom>
          <a:solidFill>
            <a:srgbClr val="0B2E4F"/>
          </a:solidFill>
          <a:ln w="0">
            <a:solidFill>
              <a:srgbClr val="0B2E4F"/>
            </a:solidFill>
            <a:prstDash val="solid"/>
          </a:ln>
        </p:spPr>
      </p:sp>
      <p:sp>
        <p:nvSpPr>
          <p:cNvPr id="10" name="Rectangle 9"/>
          <p:cNvSpPr>
            <a:spLocks noGrp="1"/>
          </p:cNvSpPr>
          <p:nvPr/>
        </p:nvSpPr>
        <p:spPr>
          <a:xfrm>
            <a:off x="533400" y="6515100"/>
            <a:ext cx="9810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STUDENT ACTION  |  Replace every [ENTER ...] field. Delete this rail before the final presentation.</a:t>
            </a:r>
            <a:endParaRPr sz="900" b="1">
              <a:solidFill>
                <a:srgbClr val="FFFFFF"/>
              </a:solidFill>
            </a:endParaRPr>
          </a:p>
        </p:txBody>
      </p:sp>
      <p:sp>
        <p:nvSpPr>
          <p:cNvPr id="11" name="Rectangle 10"/>
          <p:cNvSpPr>
            <a:spLocks noGrp="1"/>
          </p:cNvSpPr>
          <p:nvPr/>
        </p:nvSpPr>
        <p:spPr>
          <a:xfrm>
            <a:off x="11049000" y="6515100"/>
            <a:ext cx="6191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75" b="1">
                <a:solidFill>
                  <a:srgbClr val="D39216"/>
                </a:solidFill>
              </a:defRPr>
            </a:pPr>
            <a:r>
              <a:rPr sz="975" b="1">
                <a:solidFill>
                  <a:srgbClr val="D39216"/>
                </a:solidFill>
              </a:rPr>
              <a:t>16</a:t>
            </a:r>
            <a:endParaRPr sz="975" b="1">
              <a:solidFill>
                <a:srgbClr val="D39216"/>
              </a:solidFill>
            </a:endParaRPr>
          </a:p>
        </p:txBody>
      </p:sp>
      <p:sp>
        <p:nvSpPr>
          <p:cNvPr id="12" name="Rectangle 11"/>
          <p:cNvSpPr>
            <a:spLocks noGrp="1"/>
          </p:cNvSpPr>
          <p:nvPr/>
        </p:nvSpPr>
        <p:spPr>
          <a:xfrm>
            <a:off x="4191000" y="6715125"/>
            <a:ext cx="3810000" cy="104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600" b="0">
                <a:solidFill>
                  <a:srgbClr val="BFD3E1"/>
                </a:solidFill>
              </a:defRPr>
            </a:pPr>
            <a:r>
              <a:rPr sz="600" b="0">
                <a:solidFill>
                  <a:srgbClr val="BFD3E1"/>
                </a:solidFill>
              </a:rPr>
              <a:t>Dr. C. Rajesh Babu | SSETSCS415</a:t>
            </a:r>
            <a:endParaRPr sz="600" b="0">
              <a:solidFill>
                <a:srgbClr val="BFD3E1"/>
              </a:solidFill>
            </a:endParaRPr>
          </a:p>
        </p:txBody>
      </p:sp>
      <p:sp>
        <p:nvSpPr>
          <p:cNvPr id="13" name="Rectangle 12"/>
          <p:cNvSpPr>
            <a:spLocks noGrp="1"/>
          </p:cNvSpPr>
          <p:nvPr/>
        </p:nvSpPr>
        <p:spPr>
          <a:xfrm>
            <a:off x="0" y="0"/>
            <a:ext cx="12182475" cy="76200"/>
          </a:xfrm>
          <a:prstGeom prst="rect">
            <a:avLst/>
          </a:prstGeom>
          <a:solidFill>
            <a:srgbClr val="0B7895"/>
          </a:solidFill>
          <a:ln w="0">
            <a:solidFill>
              <a:srgbClr val="0B7895"/>
            </a:solidFill>
            <a:prstDash val="solid"/>
          </a:ln>
        </p:spPr>
      </p:sp>
      <p:sp>
        <p:nvSpPr>
          <p:cNvPr id="14" name="Rounded Rectangle 13"/>
          <p:cNvSpPr>
            <a:spLocks noGrp="1"/>
          </p:cNvSpPr>
          <p:nvPr/>
        </p:nvSpPr>
        <p:spPr>
          <a:xfrm>
            <a:off x="438150" y="228600"/>
            <a:ext cx="1000125" cy="55245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C9D6E2"/>
            </a:solidFill>
            <a:prstDash val="solid"/>
          </a:ln>
        </p:spPr>
      </p:sp>
      <p:pic>
        <p:nvPicPr>
          <p:cNvPr id="54" name="Picture 5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4350" y="450359"/>
            <a:ext cx="847725" cy="108932"/>
          </a:xfrm>
          <a:prstGeom prst="rect">
            <a:avLst/>
          </a:prstGeom>
        </p:spPr>
      </p:pic>
      <p:sp>
        <p:nvSpPr>
          <p:cNvPr id="16" name="Rectangle 15"/>
          <p:cNvSpPr>
            <a:spLocks noGrp="1"/>
          </p:cNvSpPr>
          <p:nvPr/>
        </p:nvSpPr>
        <p:spPr>
          <a:xfrm>
            <a:off x="1657350" y="266700"/>
            <a:ext cx="6953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>
                <a:solidFill>
                  <a:srgbClr val="1264A3"/>
                </a:solidFill>
              </a:defRPr>
            </a:pPr>
            <a:r>
              <a:rPr sz="900" b="1">
                <a:solidFill>
                  <a:srgbClr val="1264A3"/>
                </a:solidFill>
              </a:rPr>
              <a:t>CSA15  |  CLOUD COMPUTING AND BIG DATA ANALYTICS</a:t>
            </a:r>
            <a:endParaRPr sz="900" b="1">
              <a:solidFill>
                <a:srgbClr val="1264A3"/>
              </a:solidFill>
            </a:endParaRPr>
          </a:p>
        </p:txBody>
      </p:sp>
      <p:sp>
        <p:nvSpPr>
          <p:cNvPr id="17" name="Rectangle 16"/>
          <p:cNvSpPr>
            <a:spLocks noGrp="1"/>
          </p:cNvSpPr>
          <p:nvPr/>
        </p:nvSpPr>
        <p:spPr>
          <a:xfrm>
            <a:off x="9572625" y="266700"/>
            <a:ext cx="209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825" b="1">
                <a:solidFill>
                  <a:srgbClr val="0B7895"/>
                </a:solidFill>
              </a:defRPr>
            </a:pPr>
            <a:r>
              <a:rPr sz="825" b="1">
                <a:solidFill>
                  <a:srgbClr val="0B7895"/>
                </a:solidFill>
              </a:rPr>
              <a:t>BUILD EVIDENCE</a:t>
            </a:r>
            <a:endParaRPr sz="825" b="1">
              <a:solidFill>
                <a:srgbClr val="0B7895"/>
              </a:solidFill>
            </a:endParaRPr>
          </a:p>
        </p:txBody>
      </p:sp>
      <p:sp>
        <p:nvSpPr>
          <p:cNvPr id="18" name="Rectangle 17"/>
          <p:cNvSpPr>
            <a:spLocks noGrp="1"/>
          </p:cNvSpPr>
          <p:nvPr/>
        </p:nvSpPr>
        <p:spPr>
          <a:xfrm>
            <a:off x="514350" y="981075"/>
            <a:ext cx="10287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2325" b="1">
                <a:solidFill>
                  <a:srgbClr val="0B2E4F"/>
                </a:solidFill>
              </a:defRPr>
            </a:pPr>
            <a:r>
              <a:rPr sz="2325" b="1">
                <a:solidFill>
                  <a:srgbClr val="0B2E4F"/>
                </a:solidFill>
              </a:rPr>
              <a:t>Module 3: Implementation Evidence</a:t>
            </a:r>
            <a:endParaRPr sz="2325" b="1">
              <a:solidFill>
                <a:srgbClr val="0B2E4F"/>
              </a:solidFill>
            </a:endParaRPr>
          </a:p>
        </p:txBody>
      </p:sp>
      <p:sp>
        <p:nvSpPr>
          <p:cNvPr id="19" name="Rectangle 18"/>
          <p:cNvSpPr>
            <a:spLocks noGrp="1"/>
          </p:cNvSpPr>
          <p:nvPr/>
        </p:nvSpPr>
        <p:spPr>
          <a:xfrm>
            <a:off x="533400" y="1457325"/>
            <a:ext cx="10287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125" b="0">
                <a:solidFill>
                  <a:srgbClr val="52677A"/>
                </a:solidFill>
              </a:defRPr>
            </a:pPr>
            <a:r>
              <a:rPr sz="1125" b="0">
                <a:solidFill>
                  <a:srgbClr val="52677A"/>
                </a:solidFill>
              </a:rPr>
              <a:t>Prove the final module produces the expected product-level output.</a:t>
            </a:r>
            <a:endParaRPr sz="1125" b="0">
              <a:solidFill>
                <a:srgbClr val="52677A"/>
              </a:solidFill>
            </a:endParaRPr>
          </a:p>
        </p:txBody>
      </p:sp>
      <p:sp>
        <p:nvSpPr>
          <p:cNvPr id="20" name="Rectangle 19"/>
          <p:cNvSpPr>
            <a:spLocks noGrp="1"/>
          </p:cNvSpPr>
          <p:nvPr/>
        </p:nvSpPr>
        <p:spPr>
          <a:xfrm>
            <a:off x="514350" y="1847850"/>
            <a:ext cx="11153775" cy="19050"/>
          </a:xfrm>
          <a:prstGeom prst="rect">
            <a:avLst/>
          </a:prstGeom>
          <a:solidFill>
            <a:srgbClr val="C9D6E2"/>
          </a:solidFill>
          <a:ln w="0">
            <a:solidFill>
              <a:srgbClr val="C9D6E2"/>
            </a:solidFill>
            <a:prstDash val="solid"/>
          </a:ln>
        </p:spPr>
      </p:sp>
      <p:sp>
        <p:nvSpPr>
          <p:cNvPr id="21" name="Rectangle 20"/>
          <p:cNvSpPr>
            <a:spLocks noGrp="1"/>
          </p:cNvSpPr>
          <p:nvPr/>
        </p:nvSpPr>
        <p:spPr>
          <a:xfrm>
            <a:off x="0" y="6419850"/>
            <a:ext cx="12182475" cy="438150"/>
          </a:xfrm>
          <a:prstGeom prst="rect">
            <a:avLst/>
          </a:prstGeom>
          <a:solidFill>
            <a:srgbClr val="0B2E4F"/>
          </a:solidFill>
          <a:ln w="0">
            <a:solidFill>
              <a:srgbClr val="0B2E4F"/>
            </a:solidFill>
            <a:prstDash val="solid"/>
          </a:ln>
        </p:spPr>
      </p:sp>
      <p:sp>
        <p:nvSpPr>
          <p:cNvPr id="22" name="Rectangle 21"/>
          <p:cNvSpPr>
            <a:spLocks noGrp="1"/>
          </p:cNvSpPr>
          <p:nvPr/>
        </p:nvSpPr>
        <p:spPr>
          <a:xfrm>
            <a:off x="533400" y="6515100"/>
            <a:ext cx="9810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STUDENT ACTION  |  Replace every [ENTER ...] field. Delete this rail before the final presentation.</a:t>
            </a:r>
            <a:endParaRPr sz="900" b="1">
              <a:solidFill>
                <a:srgbClr val="FFFFFF"/>
              </a:solidFill>
            </a:endParaRPr>
          </a:p>
        </p:txBody>
      </p:sp>
      <p:sp>
        <p:nvSpPr>
          <p:cNvPr id="23" name="Rectangle 22"/>
          <p:cNvSpPr>
            <a:spLocks noGrp="1"/>
          </p:cNvSpPr>
          <p:nvPr/>
        </p:nvSpPr>
        <p:spPr>
          <a:xfrm>
            <a:off x="11049000" y="6515100"/>
            <a:ext cx="6191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75" b="1">
                <a:solidFill>
                  <a:srgbClr val="D39216"/>
                </a:solidFill>
              </a:defRPr>
            </a:pPr>
            <a:r>
              <a:rPr sz="975" b="1">
                <a:solidFill>
                  <a:srgbClr val="D39216"/>
                </a:solidFill>
              </a:rPr>
              <a:t>16</a:t>
            </a:r>
            <a:endParaRPr sz="975" b="1">
              <a:solidFill>
                <a:srgbClr val="D39216"/>
              </a:solidFill>
            </a:endParaRPr>
          </a:p>
        </p:txBody>
      </p:sp>
      <p:sp>
        <p:nvSpPr>
          <p:cNvPr id="24" name="Rectangle 23"/>
          <p:cNvSpPr>
            <a:spLocks noGrp="1"/>
          </p:cNvSpPr>
          <p:nvPr/>
        </p:nvSpPr>
        <p:spPr>
          <a:xfrm>
            <a:off x="4191000" y="6715125"/>
            <a:ext cx="3810000" cy="104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600" b="0">
                <a:solidFill>
                  <a:srgbClr val="BFD3E1"/>
                </a:solidFill>
              </a:defRPr>
            </a:pPr>
            <a:r>
              <a:rPr sz="600" b="0">
                <a:solidFill>
                  <a:srgbClr val="BFD3E1"/>
                </a:solidFill>
              </a:rPr>
              <a:t>Dr. C. Rajesh Babu | SSETSCS415</a:t>
            </a:r>
            <a:endParaRPr sz="600" b="0">
              <a:solidFill>
                <a:srgbClr val="BFD3E1"/>
              </a:solidFill>
            </a:endParaRPr>
          </a:p>
        </p:txBody>
      </p:sp>
      <p:sp>
        <p:nvSpPr>
          <p:cNvPr id="25" name="Rectangle 24"/>
          <p:cNvSpPr>
            <a:spLocks noGrp="1"/>
          </p:cNvSpPr>
          <p:nvPr/>
        </p:nvSpPr>
        <p:spPr>
          <a:xfrm>
            <a:off x="514350" y="2133600"/>
            <a:ext cx="6534150" cy="3714750"/>
          </a:xfrm>
          <a:prstGeom prst="rect">
            <a:avLst/>
          </a:prstGeom>
          <a:solidFill>
            <a:srgbClr val="EAF3F8"/>
          </a:solidFill>
          <a:ln w="19050">
            <a:solidFill>
              <a:srgbClr val="1264A3"/>
            </a:solidFill>
            <a:prstDash val="solid"/>
          </a:ln>
        </p:spPr>
      </p:sp>
      <p:sp>
        <p:nvSpPr>
          <p:cNvPr id="26" name="Rectangle 25"/>
          <p:cNvSpPr>
            <a:spLocks noGrp="1"/>
          </p:cNvSpPr>
          <p:nvPr/>
        </p:nvSpPr>
        <p:spPr>
          <a:xfrm>
            <a:off x="809625" y="3333750"/>
            <a:ext cx="59436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425" b="1">
                <a:solidFill>
                  <a:srgbClr val="1264A3"/>
                </a:solidFill>
              </a:defRPr>
            </a:pPr>
            <a:r>
              <a:rPr sz="1425" b="1">
                <a:solidFill>
                  <a:srgbClr val="1264A3"/>
                </a:solidFill>
              </a:rPr>
              <a:t>Screenshot slot: marshal app — incident report submitted, showing auto-assigned responder name, distance and ETA.</a:t>
            </a:r>
            <a:endParaRPr sz="1425" b="1">
              <a:solidFill>
                <a:srgbClr val="1264A3"/>
              </a:solidFill>
            </a:endParaRPr>
          </a:p>
        </p:txBody>
      </p:sp>
      <p:sp>
        <p:nvSpPr>
          <p:cNvPr id="27" name="Rectangle 26"/>
          <p:cNvSpPr>
            <a:spLocks noGrp="1"/>
          </p:cNvSpPr>
          <p:nvPr/>
        </p:nvSpPr>
        <p:spPr>
          <a:xfrm>
            <a:off x="876300" y="3952875"/>
            <a:ext cx="5810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050" b="0">
                <a:solidFill>
                  <a:srgbClr val="52677A"/>
                </a:solidFill>
              </a:defRPr>
            </a:pPr>
            <a:r>
              <a:rPr sz="1050" b="0">
                <a:solidFill>
                  <a:srgbClr val="52677A"/>
                </a:solidFill>
              </a:rPr>
              <a:t>Use a readable image. Crop browser chrome and expose the result, not an empty interface.</a:t>
            </a:r>
            <a:endParaRPr sz="1050" b="0">
              <a:solidFill>
                <a:srgbClr val="52677A"/>
              </a:solidFill>
            </a:endParaRPr>
          </a:p>
        </p:txBody>
      </p:sp>
      <p:sp>
        <p:nvSpPr>
          <p:cNvPr id="28" name="Rectangle 27"/>
          <p:cNvSpPr>
            <a:spLocks noGrp="1"/>
          </p:cNvSpPr>
          <p:nvPr/>
        </p:nvSpPr>
        <p:spPr>
          <a:xfrm>
            <a:off x="7296150" y="2133600"/>
            <a:ext cx="4371975" cy="10668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6E2"/>
            </a:solidFill>
            <a:prstDash val="solid"/>
          </a:ln>
        </p:spPr>
      </p:sp>
      <p:sp>
        <p:nvSpPr>
          <p:cNvPr id="29" name="Rectangle 28"/>
          <p:cNvSpPr>
            <a:spLocks noGrp="1"/>
          </p:cNvSpPr>
          <p:nvPr/>
        </p:nvSpPr>
        <p:spPr>
          <a:xfrm>
            <a:off x="7296150" y="2133600"/>
            <a:ext cx="57150" cy="1066800"/>
          </a:xfrm>
          <a:prstGeom prst="rect">
            <a:avLst/>
          </a:prstGeom>
          <a:solidFill>
            <a:srgbClr val="1264A3"/>
          </a:solidFill>
          <a:ln w="0">
            <a:solidFill>
              <a:srgbClr val="1264A3"/>
            </a:solidFill>
            <a:prstDash val="solid"/>
          </a:ln>
        </p:spPr>
      </p:sp>
      <p:sp>
        <p:nvSpPr>
          <p:cNvPr id="30" name="Rectangle 29"/>
          <p:cNvSpPr>
            <a:spLocks noGrp="1"/>
          </p:cNvSpPr>
          <p:nvPr/>
        </p:nvSpPr>
        <p:spPr>
          <a:xfrm>
            <a:off x="7505700" y="2286000"/>
            <a:ext cx="397192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>
                <a:solidFill>
                  <a:srgbClr val="1264A3"/>
                </a:solidFill>
              </a:defRPr>
            </a:pPr>
            <a:r>
              <a:rPr sz="900" b="1">
                <a:solidFill>
                  <a:srgbClr val="1264A3"/>
                </a:solidFill>
              </a:rPr>
              <a:t>BUILD DETAILS</a:t>
            </a:r>
            <a:endParaRPr sz="900" b="1">
              <a:solidFill>
                <a:srgbClr val="1264A3"/>
              </a:solidFill>
            </a:endParaRPr>
          </a:p>
        </p:txBody>
      </p:sp>
      <p:sp>
        <p:nvSpPr>
          <p:cNvPr id="31" name="Rectangle 30"/>
          <p:cNvSpPr>
            <a:spLocks noGrp="1"/>
          </p:cNvSpPr>
          <p:nvPr/>
        </p:nvSpPr>
        <p:spPr>
          <a:xfrm>
            <a:off x="7505700" y="2590800"/>
            <a:ext cx="3971925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125" b="0">
                <a:solidFill>
                  <a:srgbClr val="183247"/>
                </a:solidFill>
              </a:defRPr>
            </a:pPr>
            <a:r>
              <a:rPr sz="1125" b="0">
                <a:solidFill>
                  <a:srgbClr val="183247"/>
                </a:solidFill>
              </a:rPr>
              <a:t>Node.js 18 + Express, PostgreSQL 15 + PostGIS 3.3 on AWS RDS, deployed on ECS Fargate (1 vCPU / 2GB)</a:t>
            </a:r>
            <a:endParaRPr sz="1125" b="0">
              <a:solidFill>
                <a:srgbClr val="183247"/>
              </a:solidFill>
            </a:endParaRPr>
          </a:p>
        </p:txBody>
      </p:sp>
      <p:sp>
        <p:nvSpPr>
          <p:cNvPr id="32" name="Rectangle 31"/>
          <p:cNvSpPr>
            <a:spLocks noGrp="1"/>
          </p:cNvSpPr>
          <p:nvPr/>
        </p:nvSpPr>
        <p:spPr>
          <a:xfrm>
            <a:off x="7296150" y="3333750"/>
            <a:ext cx="4371975" cy="10668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6E2"/>
            </a:solidFill>
            <a:prstDash val="solid"/>
          </a:ln>
        </p:spPr>
      </p:sp>
      <p:sp>
        <p:nvSpPr>
          <p:cNvPr id="33" name="Rectangle 32"/>
          <p:cNvSpPr>
            <a:spLocks noGrp="1"/>
          </p:cNvSpPr>
          <p:nvPr/>
        </p:nvSpPr>
        <p:spPr>
          <a:xfrm>
            <a:off x="7296150" y="3333750"/>
            <a:ext cx="57150" cy="1066800"/>
          </a:xfrm>
          <a:prstGeom prst="rect">
            <a:avLst/>
          </a:prstGeom>
          <a:solidFill>
            <a:srgbClr val="0B7895"/>
          </a:solidFill>
          <a:ln w="0">
            <a:solidFill>
              <a:srgbClr val="0B7895"/>
            </a:solidFill>
            <a:prstDash val="solid"/>
          </a:ln>
        </p:spPr>
      </p:sp>
      <p:sp>
        <p:nvSpPr>
          <p:cNvPr id="34" name="Rectangle 33"/>
          <p:cNvSpPr>
            <a:spLocks noGrp="1"/>
          </p:cNvSpPr>
          <p:nvPr/>
        </p:nvSpPr>
        <p:spPr>
          <a:xfrm>
            <a:off x="7505700" y="3486150"/>
            <a:ext cx="397192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>
                <a:solidFill>
                  <a:srgbClr val="0B7895"/>
                </a:solidFill>
              </a:defRPr>
            </a:pPr>
            <a:r>
              <a:rPr sz="900" b="1">
                <a:solidFill>
                  <a:srgbClr val="0B7895"/>
                </a:solidFill>
              </a:rPr>
              <a:t>VALIDATION EVIDENCE</a:t>
            </a:r>
            <a:endParaRPr sz="900" b="1">
              <a:solidFill>
                <a:srgbClr val="0B7895"/>
              </a:solidFill>
            </a:endParaRPr>
          </a:p>
        </p:txBody>
      </p:sp>
      <p:sp>
        <p:nvSpPr>
          <p:cNvPr id="35" name="Rectangle 34"/>
          <p:cNvSpPr>
            <a:spLocks noGrp="1"/>
          </p:cNvSpPr>
          <p:nvPr/>
        </p:nvSpPr>
        <p:spPr>
          <a:xfrm>
            <a:off x="7505700" y="3790950"/>
            <a:ext cx="3971925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125" b="0">
                <a:solidFill>
                  <a:srgbClr val="183247"/>
                </a:solidFill>
              </a:defRPr>
            </a:pPr>
            <a:r>
              <a:rPr sz="1125" b="0">
                <a:solidFill>
                  <a:srgbClr val="183247"/>
                </a:solidFill>
              </a:rPr>
              <a:t>200 simulated incidents across 40 zones; 96% auto-assigned within 200m; 1.9s average end-to-end decision time</a:t>
            </a:r>
            <a:endParaRPr sz="1125" b="0">
              <a:solidFill>
                <a:srgbClr val="183247"/>
              </a:solidFill>
            </a:endParaRPr>
          </a:p>
        </p:txBody>
      </p:sp>
      <p:sp>
        <p:nvSpPr>
          <p:cNvPr id="36" name="Rectangle 35"/>
          <p:cNvSpPr>
            <a:spLocks noGrp="1"/>
          </p:cNvSpPr>
          <p:nvPr/>
        </p:nvSpPr>
        <p:spPr>
          <a:xfrm>
            <a:off x="7296150" y="4533900"/>
            <a:ext cx="4371975" cy="1314450"/>
          </a:xfrm>
          <a:prstGeom prst="rect">
            <a:avLst/>
          </a:prstGeom>
          <a:solidFill>
            <a:srgbClr val="FFFFFF"/>
          </a:solidFill>
          <a:ln w="9525">
            <a:solidFill>
              <a:srgbClr val="C9D6E2"/>
            </a:solidFill>
            <a:prstDash val="solid"/>
          </a:ln>
        </p:spPr>
      </p:sp>
      <p:sp>
        <p:nvSpPr>
          <p:cNvPr id="37" name="Rectangle 36"/>
          <p:cNvSpPr>
            <a:spLocks noGrp="1"/>
          </p:cNvSpPr>
          <p:nvPr/>
        </p:nvSpPr>
        <p:spPr>
          <a:xfrm>
            <a:off x="7296150" y="4533900"/>
            <a:ext cx="57150" cy="1314450"/>
          </a:xfrm>
          <a:prstGeom prst="rect">
            <a:avLst/>
          </a:prstGeom>
          <a:solidFill>
            <a:srgbClr val="D39216"/>
          </a:solidFill>
          <a:ln w="0">
            <a:solidFill>
              <a:srgbClr val="D39216"/>
            </a:solidFill>
            <a:prstDash val="solid"/>
          </a:ln>
        </p:spPr>
      </p:sp>
      <p:sp>
        <p:nvSpPr>
          <p:cNvPr id="38" name="Rectangle 37"/>
          <p:cNvSpPr>
            <a:spLocks noGrp="1"/>
          </p:cNvSpPr>
          <p:nvPr/>
        </p:nvSpPr>
        <p:spPr>
          <a:xfrm>
            <a:off x="7505700" y="4686300"/>
            <a:ext cx="397192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>
                <a:solidFill>
                  <a:srgbClr val="D39216"/>
                </a:solidFill>
              </a:defRPr>
            </a:pPr>
            <a:r>
              <a:rPr sz="900" b="1">
                <a:solidFill>
                  <a:srgbClr val="D39216"/>
                </a:solidFill>
              </a:rPr>
              <a:t>MODULE HAND-OFF</a:t>
            </a:r>
            <a:endParaRPr sz="900" b="1">
              <a:solidFill>
                <a:srgbClr val="D39216"/>
              </a:solidFill>
            </a:endParaRPr>
          </a:p>
        </p:txBody>
      </p:sp>
      <p:sp>
        <p:nvSpPr>
          <p:cNvPr id="39" name="Rectangle 38"/>
          <p:cNvSpPr>
            <a:spLocks noGrp="1"/>
          </p:cNvSpPr>
          <p:nvPr/>
        </p:nvSpPr>
        <p:spPr>
          <a:xfrm>
            <a:off x="7505700" y="4991100"/>
            <a:ext cx="3971925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125" b="0">
                <a:solidFill>
                  <a:srgbClr val="183247"/>
                </a:solidFill>
              </a:defRPr>
            </a:pPr>
            <a:r>
              <a:rPr sz="1125" b="0">
                <a:solidFill>
                  <a:srgbClr val="183247"/>
                </a:solidFill>
              </a:rPr>
              <a:t>Incident and responder-assignment records passed to Module 4 for live analytics and admin-dashboard reporting</a:t>
            </a:r>
            <a:endParaRPr sz="1125" b="0">
              <a:solidFill>
                <a:srgbClr val="183247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5" name="Rectangle 24"/>
          <p:cNvSpPr>
            <a:spLocks noGrp="1"/>
          </p:cNvSpPr>
          <p:nvPr/>
        </p:nvSpPr>
        <p:spPr>
          <a:xfrm>
            <a:off x="0" y="0"/>
            <a:ext cx="12182475" cy="76200"/>
          </a:xfrm>
          <a:prstGeom prst="rect">
            <a:avLst/>
          </a:prstGeom>
          <a:solidFill>
            <a:srgbClr val="0B7895"/>
          </a:solidFill>
          <a:ln w="0">
            <a:solidFill>
              <a:srgbClr val="0B7895"/>
            </a:solidFill>
            <a:prstDash val="solid"/>
          </a:ln>
        </p:spPr>
      </p:sp>
      <p:sp>
        <p:nvSpPr>
          <p:cNvPr id="2" name="Rounded Rectangle 1"/>
          <p:cNvSpPr>
            <a:spLocks noGrp="1"/>
          </p:cNvSpPr>
          <p:nvPr/>
        </p:nvSpPr>
        <p:spPr>
          <a:xfrm>
            <a:off x="438150" y="228600"/>
            <a:ext cx="1000125" cy="55245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C9D6E2"/>
            </a:solidFill>
            <a:prstDash val="solid"/>
          </a:ln>
        </p:spPr>
      </p:sp>
      <p:pic>
        <p:nvPicPr>
          <p:cNvPr id="27" name="Picture 2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4350" y="450359"/>
            <a:ext cx="847725" cy="108932"/>
          </a:xfrm>
          <a:prstGeom prst="rect">
            <a:avLst/>
          </a:prstGeom>
        </p:spPr>
      </p:pic>
      <p:sp>
        <p:nvSpPr>
          <p:cNvPr id="4" name="Rectangle 3"/>
          <p:cNvSpPr>
            <a:spLocks noGrp="1"/>
          </p:cNvSpPr>
          <p:nvPr/>
        </p:nvSpPr>
        <p:spPr>
          <a:xfrm>
            <a:off x="1657350" y="266700"/>
            <a:ext cx="6953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>
                <a:solidFill>
                  <a:srgbClr val="1264A3"/>
                </a:solidFill>
              </a:defRPr>
            </a:pPr>
            <a:r>
              <a:rPr sz="900" b="1">
                <a:solidFill>
                  <a:srgbClr val="1264A3"/>
                </a:solidFill>
              </a:rPr>
              <a:t>CSA15  |  CLOUD COMPUTING AND BIG DATA ANALYTICS</a:t>
            </a:r>
            <a:endParaRPr sz="900" b="1">
              <a:solidFill>
                <a:srgbClr val="1264A3"/>
              </a:solidFill>
            </a:endParaRPr>
          </a:p>
        </p:txBody>
      </p:sp>
      <p:sp>
        <p:nvSpPr>
          <p:cNvPr id="5" name="Rectangle 4"/>
          <p:cNvSpPr>
            <a:spLocks noGrp="1"/>
          </p:cNvSpPr>
          <p:nvPr/>
        </p:nvSpPr>
        <p:spPr>
          <a:xfrm>
            <a:off x="9572625" y="266700"/>
            <a:ext cx="209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825" b="1">
                <a:solidFill>
                  <a:srgbClr val="0B7895"/>
                </a:solidFill>
              </a:defRPr>
            </a:pPr>
            <a:r>
              <a:rPr sz="825" b="1">
                <a:solidFill>
                  <a:srgbClr val="0B7895"/>
                </a:solidFill>
              </a:rPr>
              <a:t>CAPSTONE FINAL DEFENSE</a:t>
            </a:r>
            <a:endParaRPr sz="825" b="1">
              <a:solidFill>
                <a:srgbClr val="0B7895"/>
              </a:solidFill>
            </a:endParaRPr>
          </a:p>
        </p:txBody>
      </p:sp>
      <p:sp>
        <p:nvSpPr>
          <p:cNvPr id="6" name="Rectangle 5"/>
          <p:cNvSpPr>
            <a:spLocks noGrp="1"/>
          </p:cNvSpPr>
          <p:nvPr/>
        </p:nvSpPr>
        <p:spPr>
          <a:xfrm>
            <a:off x="514350" y="981075"/>
            <a:ext cx="10287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2325" b="1">
                <a:solidFill>
                  <a:srgbClr val="0B2E4F"/>
                </a:solidFill>
              </a:defRPr>
            </a:pPr>
            <a:r>
              <a:rPr sz="2325" b="1">
                <a:solidFill>
                  <a:srgbClr val="0B2E4F"/>
                </a:solidFill>
              </a:rPr>
              <a:t>Module 4: Functional Scope</a:t>
            </a:r>
            <a:endParaRPr sz="2325" b="1">
              <a:solidFill>
                <a:srgbClr val="0B2E4F"/>
              </a:solidFill>
            </a:endParaRPr>
          </a:p>
        </p:txBody>
      </p:sp>
      <p:sp>
        <p:nvSpPr>
          <p:cNvPr id="7" name="Rectangle 6"/>
          <p:cNvSpPr>
            <a:spLocks noGrp="1"/>
          </p:cNvSpPr>
          <p:nvPr/>
        </p:nvSpPr>
        <p:spPr>
          <a:xfrm>
            <a:off x="533400" y="1457325"/>
            <a:ext cx="10287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125" b="0">
                <a:solidFill>
                  <a:srgbClr val="52677A"/>
                </a:solidFill>
              </a:defRPr>
            </a:pPr>
            <a:r>
              <a:rPr sz="1125" b="0">
                <a:solidFill>
                  <a:srgbClr val="52677A"/>
                </a:solidFill>
              </a:rPr>
              <a:t>Define the final major module and its contribution to the complete product.</a:t>
            </a:r>
            <a:endParaRPr sz="1125" b="0">
              <a:solidFill>
                <a:srgbClr val="52677A"/>
              </a:solidFill>
            </a:endParaRPr>
          </a:p>
        </p:txBody>
      </p:sp>
      <p:sp>
        <p:nvSpPr>
          <p:cNvPr id="8" name="Rectangle 7"/>
          <p:cNvSpPr>
            <a:spLocks noGrp="1"/>
          </p:cNvSpPr>
          <p:nvPr/>
        </p:nvSpPr>
        <p:spPr>
          <a:xfrm>
            <a:off x="514350" y="1847850"/>
            <a:ext cx="11153775" cy="19050"/>
          </a:xfrm>
          <a:prstGeom prst="rect">
            <a:avLst/>
          </a:prstGeom>
          <a:solidFill>
            <a:srgbClr val="C9D6E2"/>
          </a:solidFill>
          <a:ln w="0">
            <a:solidFill>
              <a:srgbClr val="C9D6E2"/>
            </a:solidFill>
            <a:prstDash val="solid"/>
          </a:ln>
        </p:spPr>
      </p:sp>
      <p:sp>
        <p:nvSpPr>
          <p:cNvPr id="9" name="Rectangle 8"/>
          <p:cNvSpPr>
            <a:spLocks noGrp="1"/>
          </p:cNvSpPr>
          <p:nvPr/>
        </p:nvSpPr>
        <p:spPr>
          <a:xfrm>
            <a:off x="0" y="6419850"/>
            <a:ext cx="12182475" cy="438150"/>
          </a:xfrm>
          <a:prstGeom prst="rect">
            <a:avLst/>
          </a:prstGeom>
          <a:solidFill>
            <a:srgbClr val="0B2E4F"/>
          </a:solidFill>
          <a:ln w="0">
            <a:solidFill>
              <a:srgbClr val="0B2E4F"/>
            </a:solidFill>
            <a:prstDash val="solid"/>
          </a:ln>
        </p:spPr>
      </p:sp>
      <p:sp>
        <p:nvSpPr>
          <p:cNvPr id="10" name="Rectangle 9"/>
          <p:cNvSpPr>
            <a:spLocks noGrp="1"/>
          </p:cNvSpPr>
          <p:nvPr/>
        </p:nvSpPr>
        <p:spPr>
          <a:xfrm>
            <a:off x="533400" y="6515100"/>
            <a:ext cx="9810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STUDENT ACTION  |  Replace every [ENTER ...] field. Delete this rail before the final presentation.</a:t>
            </a:r>
            <a:endParaRPr sz="900" b="1">
              <a:solidFill>
                <a:srgbClr val="FFFFFF"/>
              </a:solidFill>
            </a:endParaRPr>
          </a:p>
        </p:txBody>
      </p:sp>
      <p:sp>
        <p:nvSpPr>
          <p:cNvPr id="11" name="Rectangle 10"/>
          <p:cNvSpPr>
            <a:spLocks noGrp="1"/>
          </p:cNvSpPr>
          <p:nvPr/>
        </p:nvSpPr>
        <p:spPr>
          <a:xfrm>
            <a:off x="11049000" y="6515100"/>
            <a:ext cx="6191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75" b="1">
                <a:solidFill>
                  <a:srgbClr val="D39216"/>
                </a:solidFill>
              </a:defRPr>
            </a:pPr>
            <a:r>
              <a:rPr sz="975" b="1">
                <a:solidFill>
                  <a:srgbClr val="D39216"/>
                </a:solidFill>
              </a:rPr>
              <a:t>17</a:t>
            </a:r>
            <a:endParaRPr sz="975" b="1">
              <a:solidFill>
                <a:srgbClr val="D39216"/>
              </a:solidFill>
            </a:endParaRPr>
          </a:p>
        </p:txBody>
      </p:sp>
      <p:sp>
        <p:nvSpPr>
          <p:cNvPr id="12" name="Rectangle 11"/>
          <p:cNvSpPr>
            <a:spLocks noGrp="1"/>
          </p:cNvSpPr>
          <p:nvPr/>
        </p:nvSpPr>
        <p:spPr>
          <a:xfrm>
            <a:off x="4191000" y="6715125"/>
            <a:ext cx="3810000" cy="104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600" b="0">
                <a:solidFill>
                  <a:srgbClr val="BFD3E1"/>
                </a:solidFill>
              </a:defRPr>
            </a:pPr>
            <a:r>
              <a:rPr sz="600" b="0">
                <a:solidFill>
                  <a:srgbClr val="BFD3E1"/>
                </a:solidFill>
              </a:rPr>
              <a:t>Dr. C. Rajesh Babu | SSETSCS415</a:t>
            </a:r>
            <a:endParaRPr sz="600" b="0">
              <a:solidFill>
                <a:srgbClr val="BFD3E1"/>
              </a:solidFill>
            </a:endParaRPr>
          </a:p>
        </p:txBody>
      </p:sp>
      <p:sp>
        <p:nvSpPr>
          <p:cNvPr id="13" name="Rectangle 12"/>
          <p:cNvSpPr>
            <a:spLocks noGrp="1"/>
          </p:cNvSpPr>
          <p:nvPr/>
        </p:nvSpPr>
        <p:spPr>
          <a:xfrm>
            <a:off x="514350" y="2143125"/>
            <a:ext cx="3565525" cy="3571875"/>
          </a:xfrm>
          <a:prstGeom prst="rect">
            <a:avLst/>
          </a:prstGeom>
          <a:solidFill>
            <a:srgbClr val="FFFFFF"/>
          </a:solidFill>
          <a:ln w="9525">
            <a:solidFill>
              <a:srgbClr val="C9D6E2"/>
            </a:solidFill>
            <a:prstDash val="solid"/>
          </a:ln>
        </p:spPr>
      </p:sp>
      <p:sp>
        <p:nvSpPr>
          <p:cNvPr id="14" name="Rectangle 13"/>
          <p:cNvSpPr>
            <a:spLocks noGrp="1"/>
          </p:cNvSpPr>
          <p:nvPr/>
        </p:nvSpPr>
        <p:spPr>
          <a:xfrm>
            <a:off x="514350" y="2143125"/>
            <a:ext cx="57150" cy="3571875"/>
          </a:xfrm>
          <a:prstGeom prst="rect">
            <a:avLst/>
          </a:prstGeom>
          <a:solidFill>
            <a:srgbClr val="1264A3"/>
          </a:solidFill>
          <a:ln w="0">
            <a:solidFill>
              <a:srgbClr val="1264A3"/>
            </a:solidFill>
            <a:prstDash val="solid"/>
          </a:ln>
        </p:spPr>
      </p:sp>
      <p:sp>
        <p:nvSpPr>
          <p:cNvPr id="15" name="Rectangle 14"/>
          <p:cNvSpPr>
            <a:spLocks noGrp="1"/>
          </p:cNvSpPr>
          <p:nvPr/>
        </p:nvSpPr>
        <p:spPr>
          <a:xfrm>
            <a:off x="723900" y="2295525"/>
            <a:ext cx="316547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>
                <a:solidFill>
                  <a:srgbClr val="1264A3"/>
                </a:solidFill>
              </a:defRPr>
            </a:pPr>
            <a:r>
              <a:rPr sz="900" b="1">
                <a:solidFill>
                  <a:srgbClr val="1264A3"/>
                </a:solidFill>
              </a:rPr>
              <a:t>PURPOSE</a:t>
            </a:r>
            <a:endParaRPr sz="900" b="1">
              <a:solidFill>
                <a:srgbClr val="1264A3"/>
              </a:solidFill>
            </a:endParaRPr>
          </a:p>
        </p:txBody>
      </p:sp>
      <p:sp>
        <p:nvSpPr>
          <p:cNvPr id="16" name="Rectangle 15"/>
          <p:cNvSpPr>
            <a:spLocks noGrp="1"/>
          </p:cNvSpPr>
          <p:nvPr/>
        </p:nvSpPr>
        <p:spPr>
          <a:xfrm>
            <a:off x="723900" y="2600325"/>
            <a:ext cx="3165475" cy="2981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275" b="0">
                <a:solidFill>
                  <a:srgbClr val="183247"/>
                </a:solidFill>
              </a:defRPr>
            </a:pPr>
            <a:r>
              <a:rPr sz="1275" b="0">
                <a:solidFill>
                  <a:srgbClr val="183247"/>
                </a:solidFill>
              </a:rPr>
              <a:t>Gives organizers and admins a live operational view — per-zone density trends, incident feed, responder status and rollup KPIs — aggregated from Modules 1–3 into a single React/Recharts dashboard.</a:t>
            </a:r>
            <a:endParaRPr sz="1275" b="0">
              <a:solidFill>
                <a:srgbClr val="183247"/>
              </a:solidFill>
            </a:endParaRPr>
          </a:p>
        </p:txBody>
      </p:sp>
      <p:sp>
        <p:nvSpPr>
          <p:cNvPr id="17" name="Rectangle 16"/>
          <p:cNvSpPr>
            <a:spLocks noGrp="1"/>
          </p:cNvSpPr>
          <p:nvPr/>
        </p:nvSpPr>
        <p:spPr>
          <a:xfrm>
            <a:off x="4308475" y="2143125"/>
            <a:ext cx="3565525" cy="3571875"/>
          </a:xfrm>
          <a:prstGeom prst="rect">
            <a:avLst/>
          </a:prstGeom>
          <a:solidFill>
            <a:srgbClr val="FFFFFF"/>
          </a:solidFill>
          <a:ln w="9525">
            <a:solidFill>
              <a:srgbClr val="C9D6E2"/>
            </a:solidFill>
            <a:prstDash val="solid"/>
          </a:ln>
        </p:spPr>
      </p:sp>
      <p:sp>
        <p:nvSpPr>
          <p:cNvPr id="18" name="Rectangle 17"/>
          <p:cNvSpPr>
            <a:spLocks noGrp="1"/>
          </p:cNvSpPr>
          <p:nvPr/>
        </p:nvSpPr>
        <p:spPr>
          <a:xfrm>
            <a:off x="4308475" y="2143125"/>
            <a:ext cx="57150" cy="3571875"/>
          </a:xfrm>
          <a:prstGeom prst="rect">
            <a:avLst/>
          </a:prstGeom>
          <a:solidFill>
            <a:srgbClr val="0B7895"/>
          </a:solidFill>
          <a:ln w="0">
            <a:solidFill>
              <a:srgbClr val="0B7895"/>
            </a:solidFill>
            <a:prstDash val="solid"/>
          </a:ln>
        </p:spPr>
      </p:sp>
      <p:sp>
        <p:nvSpPr>
          <p:cNvPr id="19" name="Rectangle 18"/>
          <p:cNvSpPr>
            <a:spLocks noGrp="1"/>
          </p:cNvSpPr>
          <p:nvPr/>
        </p:nvSpPr>
        <p:spPr>
          <a:xfrm>
            <a:off x="4518025" y="2295525"/>
            <a:ext cx="316547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>
                <a:solidFill>
                  <a:srgbClr val="0B7895"/>
                </a:solidFill>
              </a:defRPr>
            </a:pPr>
            <a:r>
              <a:rPr sz="900" b="1">
                <a:solidFill>
                  <a:srgbClr val="0B7895"/>
                </a:solidFill>
              </a:rPr>
              <a:t>INTERFACE CONTRACT</a:t>
            </a:r>
            <a:endParaRPr sz="900" b="1">
              <a:solidFill>
                <a:srgbClr val="0B7895"/>
              </a:solidFill>
            </a:endParaRPr>
          </a:p>
        </p:txBody>
      </p:sp>
      <p:sp>
        <p:nvSpPr>
          <p:cNvPr id="20" name="Rectangle 19"/>
          <p:cNvSpPr>
            <a:spLocks noGrp="1"/>
          </p:cNvSpPr>
          <p:nvPr/>
        </p:nvSpPr>
        <p:spPr>
          <a:xfrm>
            <a:off x="4518025" y="2600325"/>
            <a:ext cx="3165475" cy="2981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275" b="0">
                <a:solidFill>
                  <a:srgbClr val="183247"/>
                </a:solidFill>
              </a:defRPr>
            </a:pPr>
            <a:r>
              <a:rPr sz="1275" b="0">
                <a:solidFill>
                  <a:srgbClr val="183247"/>
                </a:solidFill>
              </a:rPr>
              <a:t>GET /analytics/summary, /analytics/zones/{id}/history → JSON KPI + time-series payloads; depends on Redis-cached rollups written by a scheduled Analytics Lambda; dashboard subscribes over WebSocket for live updates.</a:t>
            </a:r>
            <a:endParaRPr sz="1275" b="0">
              <a:solidFill>
                <a:srgbClr val="183247"/>
              </a:solidFill>
            </a:endParaRPr>
          </a:p>
        </p:txBody>
      </p:sp>
      <p:sp>
        <p:nvSpPr>
          <p:cNvPr id="21" name="Rectangle 20"/>
          <p:cNvSpPr>
            <a:spLocks noGrp="1"/>
          </p:cNvSpPr>
          <p:nvPr/>
        </p:nvSpPr>
        <p:spPr>
          <a:xfrm>
            <a:off x="8102600" y="2143125"/>
            <a:ext cx="3565525" cy="3571875"/>
          </a:xfrm>
          <a:prstGeom prst="rect">
            <a:avLst/>
          </a:prstGeom>
          <a:solidFill>
            <a:srgbClr val="FFFFFF"/>
          </a:solidFill>
          <a:ln w="9525">
            <a:solidFill>
              <a:srgbClr val="C9D6E2"/>
            </a:solidFill>
            <a:prstDash val="solid"/>
          </a:ln>
        </p:spPr>
      </p:sp>
      <p:sp>
        <p:nvSpPr>
          <p:cNvPr id="22" name="Rectangle 21"/>
          <p:cNvSpPr>
            <a:spLocks noGrp="1"/>
          </p:cNvSpPr>
          <p:nvPr/>
        </p:nvSpPr>
        <p:spPr>
          <a:xfrm>
            <a:off x="8102600" y="2143125"/>
            <a:ext cx="57150" cy="3571875"/>
          </a:xfrm>
          <a:prstGeom prst="rect">
            <a:avLst/>
          </a:prstGeom>
          <a:solidFill>
            <a:srgbClr val="D39216"/>
          </a:solidFill>
          <a:ln w="0">
            <a:solidFill>
              <a:srgbClr val="D39216"/>
            </a:solidFill>
            <a:prstDash val="solid"/>
          </a:ln>
        </p:spPr>
      </p:sp>
      <p:sp>
        <p:nvSpPr>
          <p:cNvPr id="23" name="Rectangle 22"/>
          <p:cNvSpPr>
            <a:spLocks noGrp="1"/>
          </p:cNvSpPr>
          <p:nvPr/>
        </p:nvSpPr>
        <p:spPr>
          <a:xfrm>
            <a:off x="8312150" y="2295525"/>
            <a:ext cx="316547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>
                <a:solidFill>
                  <a:srgbClr val="D39216"/>
                </a:solidFill>
              </a:defRPr>
            </a:pPr>
            <a:r>
              <a:rPr sz="900" b="1">
                <a:solidFill>
                  <a:srgbClr val="D39216"/>
                </a:solidFill>
              </a:rPr>
              <a:t>ENGINEERING DECISION</a:t>
            </a:r>
            <a:endParaRPr sz="900" b="1">
              <a:solidFill>
                <a:srgbClr val="D39216"/>
              </a:solidFill>
            </a:endParaRPr>
          </a:p>
        </p:txBody>
      </p:sp>
      <p:sp>
        <p:nvSpPr>
          <p:cNvPr id="24" name="Rectangle 23"/>
          <p:cNvSpPr>
            <a:spLocks noGrp="1"/>
          </p:cNvSpPr>
          <p:nvPr/>
        </p:nvSpPr>
        <p:spPr>
          <a:xfrm>
            <a:off x="8312150" y="2600325"/>
            <a:ext cx="3165475" cy="2981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275" b="0">
                <a:solidFill>
                  <a:srgbClr val="183247"/>
                </a:solidFill>
              </a:defRPr>
            </a:pPr>
            <a:r>
              <a:rPr sz="1275" b="0">
                <a:solidFill>
                  <a:srgbClr val="183247"/>
                </a:solidFill>
              </a:rPr>
              <a:t>Scheduled AWS Lambda (every 5 min) pre-aggregates RDS history into Redis-cached summaries for a React/Recharts frontend; querying RDS directly on every dashboard load was considered but rejected — it pushed p95 latency above the 500ms budget under concurrent admin sessions.</a:t>
            </a:r>
            <a:endParaRPr sz="1275" b="0">
              <a:solidFill>
                <a:srgbClr val="183247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1" name="Rectangle 20"/>
          <p:cNvSpPr>
            <a:spLocks noGrp="1"/>
          </p:cNvSpPr>
          <p:nvPr/>
        </p:nvSpPr>
        <p:spPr>
          <a:xfrm>
            <a:off x="0" y="0"/>
            <a:ext cx="12182475" cy="76200"/>
          </a:xfrm>
          <a:prstGeom prst="rect">
            <a:avLst/>
          </a:prstGeom>
          <a:solidFill>
            <a:srgbClr val="0B7895"/>
          </a:solidFill>
          <a:ln w="0">
            <a:solidFill>
              <a:srgbClr val="0B7895"/>
            </a:solidFill>
            <a:prstDash val="solid"/>
          </a:ln>
        </p:spPr>
      </p:sp>
      <p:sp>
        <p:nvSpPr>
          <p:cNvPr id="2" name="Rounded Rectangle 1"/>
          <p:cNvSpPr>
            <a:spLocks noGrp="1"/>
          </p:cNvSpPr>
          <p:nvPr/>
        </p:nvSpPr>
        <p:spPr>
          <a:xfrm>
            <a:off x="438150" y="228600"/>
            <a:ext cx="1000125" cy="55245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C9D6E2"/>
            </a:solidFill>
            <a:prstDash val="solid"/>
          </a:ln>
        </p:spPr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4350" y="450359"/>
            <a:ext cx="847725" cy="108932"/>
          </a:xfrm>
          <a:prstGeom prst="rect">
            <a:avLst/>
          </a:prstGeom>
        </p:spPr>
      </p:pic>
      <p:sp>
        <p:nvSpPr>
          <p:cNvPr id="4" name="Rectangle 3"/>
          <p:cNvSpPr>
            <a:spLocks noGrp="1"/>
          </p:cNvSpPr>
          <p:nvPr/>
        </p:nvSpPr>
        <p:spPr>
          <a:xfrm>
            <a:off x="1657350" y="266700"/>
            <a:ext cx="6953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>
                <a:solidFill>
                  <a:srgbClr val="1264A3"/>
                </a:solidFill>
              </a:defRPr>
            </a:pPr>
            <a:r>
              <a:rPr sz="900" b="1">
                <a:solidFill>
                  <a:srgbClr val="1264A3"/>
                </a:solidFill>
              </a:rPr>
              <a:t>CSA15  |  CLOUD COMPUTING AND BIG DATA ANALYTICS</a:t>
            </a:r>
            <a:endParaRPr sz="900" b="1">
              <a:solidFill>
                <a:srgbClr val="1264A3"/>
              </a:solidFill>
            </a:endParaRPr>
          </a:p>
        </p:txBody>
      </p:sp>
      <p:sp>
        <p:nvSpPr>
          <p:cNvPr id="5" name="Rectangle 4"/>
          <p:cNvSpPr>
            <a:spLocks noGrp="1"/>
          </p:cNvSpPr>
          <p:nvPr/>
        </p:nvSpPr>
        <p:spPr>
          <a:xfrm>
            <a:off x="9572625" y="266700"/>
            <a:ext cx="209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825" b="1">
                <a:solidFill>
                  <a:srgbClr val="0B7895"/>
                </a:solidFill>
              </a:defRPr>
            </a:pPr>
            <a:r>
              <a:rPr sz="825" b="1">
                <a:solidFill>
                  <a:srgbClr val="0B7895"/>
                </a:solidFill>
              </a:rPr>
              <a:t>CAPSTONE FINAL DEFENSE</a:t>
            </a:r>
            <a:endParaRPr sz="825" b="1">
              <a:solidFill>
                <a:srgbClr val="0B7895"/>
              </a:solidFill>
            </a:endParaRPr>
          </a:p>
        </p:txBody>
      </p:sp>
      <p:sp>
        <p:nvSpPr>
          <p:cNvPr id="6" name="Rectangle 5"/>
          <p:cNvSpPr>
            <a:spLocks noGrp="1"/>
          </p:cNvSpPr>
          <p:nvPr/>
        </p:nvSpPr>
        <p:spPr>
          <a:xfrm>
            <a:off x="514350" y="981075"/>
            <a:ext cx="10287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2325" b="1">
                <a:solidFill>
                  <a:srgbClr val="0B2E4F"/>
                </a:solidFill>
              </a:defRPr>
            </a:pPr>
            <a:r>
              <a:rPr sz="2325" b="1">
                <a:solidFill>
                  <a:srgbClr val="0B2E4F"/>
                </a:solidFill>
              </a:rPr>
              <a:t>Module 4: Technical Design</a:t>
            </a:r>
            <a:endParaRPr sz="2325" b="1">
              <a:solidFill>
                <a:srgbClr val="0B2E4F"/>
              </a:solidFill>
            </a:endParaRPr>
          </a:p>
        </p:txBody>
      </p:sp>
      <p:sp>
        <p:nvSpPr>
          <p:cNvPr id="7" name="Rectangle 6"/>
          <p:cNvSpPr>
            <a:spLocks noGrp="1"/>
          </p:cNvSpPr>
          <p:nvPr/>
        </p:nvSpPr>
        <p:spPr>
          <a:xfrm>
            <a:off x="533400" y="1457325"/>
            <a:ext cx="10287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125" b="0">
                <a:solidFill>
                  <a:srgbClr val="52677A"/>
                </a:solidFill>
              </a:defRPr>
            </a:pPr>
            <a:r>
              <a:rPr sz="1125" b="0">
                <a:solidFill>
                  <a:srgbClr val="52677A"/>
                </a:solidFill>
              </a:rPr>
              <a:t>Defend the integration logic, processing method and operational safeguards.</a:t>
            </a:r>
            <a:endParaRPr sz="1125" b="0">
              <a:solidFill>
                <a:srgbClr val="52677A"/>
              </a:solidFill>
            </a:endParaRPr>
          </a:p>
        </p:txBody>
      </p:sp>
      <p:sp>
        <p:nvSpPr>
          <p:cNvPr id="8" name="Rectangle 7"/>
          <p:cNvSpPr>
            <a:spLocks noGrp="1"/>
          </p:cNvSpPr>
          <p:nvPr/>
        </p:nvSpPr>
        <p:spPr>
          <a:xfrm>
            <a:off x="514350" y="1847850"/>
            <a:ext cx="11153775" cy="19050"/>
          </a:xfrm>
          <a:prstGeom prst="rect">
            <a:avLst/>
          </a:prstGeom>
          <a:solidFill>
            <a:srgbClr val="C9D6E2"/>
          </a:solidFill>
          <a:ln w="0">
            <a:solidFill>
              <a:srgbClr val="C9D6E2"/>
            </a:solidFill>
            <a:prstDash val="solid"/>
          </a:ln>
        </p:spPr>
      </p:sp>
      <p:sp>
        <p:nvSpPr>
          <p:cNvPr id="9" name="Rectangle 8"/>
          <p:cNvSpPr>
            <a:spLocks noGrp="1"/>
          </p:cNvSpPr>
          <p:nvPr/>
        </p:nvSpPr>
        <p:spPr>
          <a:xfrm>
            <a:off x="0" y="6419850"/>
            <a:ext cx="12182475" cy="438150"/>
          </a:xfrm>
          <a:prstGeom prst="rect">
            <a:avLst/>
          </a:prstGeom>
          <a:solidFill>
            <a:srgbClr val="0B2E4F"/>
          </a:solidFill>
          <a:ln w="0">
            <a:solidFill>
              <a:srgbClr val="0B2E4F"/>
            </a:solidFill>
            <a:prstDash val="solid"/>
          </a:ln>
        </p:spPr>
      </p:sp>
      <p:sp>
        <p:nvSpPr>
          <p:cNvPr id="10" name="Rectangle 9"/>
          <p:cNvSpPr>
            <a:spLocks noGrp="1"/>
          </p:cNvSpPr>
          <p:nvPr/>
        </p:nvSpPr>
        <p:spPr>
          <a:xfrm>
            <a:off x="533400" y="6515100"/>
            <a:ext cx="9810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STUDENT ACTION  |  Replace every [ENTER ...] field. Delete this rail before the final presentation.</a:t>
            </a:r>
            <a:endParaRPr sz="900" b="1">
              <a:solidFill>
                <a:srgbClr val="FFFFFF"/>
              </a:solidFill>
            </a:endParaRPr>
          </a:p>
        </p:txBody>
      </p:sp>
      <p:sp>
        <p:nvSpPr>
          <p:cNvPr id="11" name="Rectangle 10"/>
          <p:cNvSpPr>
            <a:spLocks noGrp="1"/>
          </p:cNvSpPr>
          <p:nvPr/>
        </p:nvSpPr>
        <p:spPr>
          <a:xfrm>
            <a:off x="11049000" y="6515100"/>
            <a:ext cx="6191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75" b="1">
                <a:solidFill>
                  <a:srgbClr val="D39216"/>
                </a:solidFill>
              </a:defRPr>
            </a:pPr>
            <a:r>
              <a:rPr sz="975" b="1">
                <a:solidFill>
                  <a:srgbClr val="D39216"/>
                </a:solidFill>
              </a:rPr>
              <a:t>18</a:t>
            </a:r>
            <a:endParaRPr sz="975" b="1">
              <a:solidFill>
                <a:srgbClr val="D39216"/>
              </a:solidFill>
            </a:endParaRPr>
          </a:p>
        </p:txBody>
      </p:sp>
      <p:sp>
        <p:nvSpPr>
          <p:cNvPr id="12" name="Rectangle 11"/>
          <p:cNvSpPr>
            <a:spLocks noGrp="1"/>
          </p:cNvSpPr>
          <p:nvPr/>
        </p:nvSpPr>
        <p:spPr>
          <a:xfrm>
            <a:off x="4191000" y="6715125"/>
            <a:ext cx="3810000" cy="104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600" b="0">
                <a:solidFill>
                  <a:srgbClr val="BFD3E1"/>
                </a:solidFill>
              </a:defRPr>
            </a:pPr>
            <a:r>
              <a:rPr sz="600" b="0">
                <a:solidFill>
                  <a:srgbClr val="BFD3E1"/>
                </a:solidFill>
              </a:rPr>
              <a:t>Dr. C. Rajesh Babu | SSETSCS415</a:t>
            </a:r>
            <a:endParaRPr sz="600" b="0">
              <a:solidFill>
                <a:srgbClr val="BFD3E1"/>
              </a:solidFill>
            </a:endParaRPr>
          </a:p>
        </p:txBody>
      </p:sp>
      <p:sp>
        <p:nvSpPr>
          <p:cNvPr id="13" name="Rectangle 12"/>
          <p:cNvSpPr>
            <a:spLocks noGrp="1"/>
          </p:cNvSpPr>
          <p:nvPr/>
        </p:nvSpPr>
        <p:spPr>
          <a:xfrm>
            <a:off x="514350" y="2143125"/>
            <a:ext cx="5314950" cy="36195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6E2"/>
            </a:solidFill>
            <a:prstDash val="solid"/>
          </a:ln>
        </p:spPr>
      </p:sp>
      <p:sp>
        <p:nvSpPr>
          <p:cNvPr id="14" name="Rectangle 13"/>
          <p:cNvSpPr>
            <a:spLocks noGrp="1"/>
          </p:cNvSpPr>
          <p:nvPr/>
        </p:nvSpPr>
        <p:spPr>
          <a:xfrm>
            <a:off x="514350" y="2143125"/>
            <a:ext cx="57150" cy="3619500"/>
          </a:xfrm>
          <a:prstGeom prst="rect">
            <a:avLst/>
          </a:prstGeom>
          <a:solidFill>
            <a:srgbClr val="1264A3"/>
          </a:solidFill>
          <a:ln w="0">
            <a:solidFill>
              <a:srgbClr val="1264A3"/>
            </a:solidFill>
            <a:prstDash val="solid"/>
          </a:ln>
        </p:spPr>
      </p:sp>
      <p:sp>
        <p:nvSpPr>
          <p:cNvPr id="15" name="Rectangle 14"/>
          <p:cNvSpPr>
            <a:spLocks noGrp="1"/>
          </p:cNvSpPr>
          <p:nvPr/>
        </p:nvSpPr>
        <p:spPr>
          <a:xfrm>
            <a:off x="723900" y="2295525"/>
            <a:ext cx="49149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>
                <a:solidFill>
                  <a:srgbClr val="1264A3"/>
                </a:solidFill>
              </a:defRPr>
            </a:pPr>
            <a:r>
              <a:rPr sz="900" b="1">
                <a:solidFill>
                  <a:srgbClr val="1264A3"/>
                </a:solidFill>
              </a:rPr>
              <a:t>DESIGN AND DECISION FLOW</a:t>
            </a:r>
            <a:endParaRPr sz="900" b="1">
              <a:solidFill>
                <a:srgbClr val="1264A3"/>
              </a:solidFill>
            </a:endParaRPr>
          </a:p>
        </p:txBody>
      </p:sp>
      <p:sp>
        <p:nvSpPr>
          <p:cNvPr id="16" name="Rectangle 15"/>
          <p:cNvSpPr>
            <a:spLocks noGrp="1"/>
          </p:cNvSpPr>
          <p:nvPr/>
        </p:nvSpPr>
        <p:spPr>
          <a:xfrm>
            <a:off x="723900" y="2600325"/>
            <a:ext cx="4914900" cy="3028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200" b="0">
                <a:solidFill>
                  <a:srgbClr val="183247"/>
                </a:solidFill>
              </a:defRPr>
            </a:pPr>
            <a:r>
              <a:rPr sz="1200" b="0">
                <a:solidFill>
                  <a:srgbClr val="183247"/>
                </a:solidFill>
              </a:rPr>
              <a:t>Scheduled Lambda trigger (5 min) → pull latest density/incident/responder rows from RDS → aggregate per-zone and event-wide KPIs → write to Redis cache → dashboard GET/WebSocket delivers cached summary → on error: Lambda failure keeps last-cached summary and logs a CloudWatch alarm.</a:t>
            </a:r>
            <a:endParaRPr sz="1200" b="0">
              <a:solidFill>
                <a:srgbClr val="183247"/>
              </a:solidFill>
            </a:endParaRPr>
          </a:p>
          <a:p>
            <a:endParaRPr sz="1200"/>
          </a:p>
          <a:p>
            <a:pPr>
              <a:defRPr sz="1200" b="0">
                <a:solidFill>
                  <a:srgbClr val="183247"/>
                </a:solidFill>
              </a:defRPr>
            </a:pPr>
            <a:r>
              <a:rPr sz="1200" b="0">
                <a:solidFill>
                  <a:srgbClr val="183247"/>
                </a:solidFill>
              </a:rPr>
              <a:t>Input -&gt; validation -&gt; processing -&gt; data/service call -&gt; output -&gt; error path</a:t>
            </a:r>
            <a:endParaRPr sz="1200" b="0">
              <a:solidFill>
                <a:srgbClr val="183247"/>
              </a:solidFill>
            </a:endParaRPr>
          </a:p>
          <a:p>
            <a:endParaRPr sz="1200"/>
          </a:p>
          <a:p>
            <a:pPr>
              <a:defRPr sz="1200" b="0">
                <a:solidFill>
                  <a:srgbClr val="183247"/>
                </a:solidFill>
              </a:defRPr>
            </a:pPr>
            <a:r>
              <a:rPr sz="1200" b="0">
                <a:solidFill>
                  <a:srgbClr val="183247"/>
                </a:solidFill>
              </a:rPr>
              <a:t>Label the algorithm, data transformation, API contract and control decision.</a:t>
            </a:r>
            <a:endParaRPr sz="1200" b="0">
              <a:solidFill>
                <a:srgbClr val="183247"/>
              </a:solidFill>
            </a:endParaRPr>
          </a:p>
        </p:txBody>
      </p:sp>
      <p:sp>
        <p:nvSpPr>
          <p:cNvPr id="17" name="Rectangle 16"/>
          <p:cNvSpPr>
            <a:spLocks noGrp="1"/>
          </p:cNvSpPr>
          <p:nvPr/>
        </p:nvSpPr>
        <p:spPr>
          <a:xfrm>
            <a:off x="6057900" y="2143125"/>
            <a:ext cx="5610225" cy="36195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6E2"/>
            </a:solidFill>
            <a:prstDash val="solid"/>
          </a:ln>
        </p:spPr>
      </p:sp>
      <p:sp>
        <p:nvSpPr>
          <p:cNvPr id="18" name="Rectangle 17"/>
          <p:cNvSpPr>
            <a:spLocks noGrp="1"/>
          </p:cNvSpPr>
          <p:nvPr/>
        </p:nvSpPr>
        <p:spPr>
          <a:xfrm>
            <a:off x="6057900" y="2143125"/>
            <a:ext cx="57150" cy="3619500"/>
          </a:xfrm>
          <a:prstGeom prst="rect">
            <a:avLst/>
          </a:prstGeom>
          <a:solidFill>
            <a:srgbClr val="0B7895"/>
          </a:solidFill>
          <a:ln w="0">
            <a:solidFill>
              <a:srgbClr val="0B7895"/>
            </a:solidFill>
            <a:prstDash val="solid"/>
          </a:ln>
        </p:spPr>
      </p:sp>
      <p:sp>
        <p:nvSpPr>
          <p:cNvPr id="19" name="Rectangle 18"/>
          <p:cNvSpPr>
            <a:spLocks noGrp="1"/>
          </p:cNvSpPr>
          <p:nvPr/>
        </p:nvSpPr>
        <p:spPr>
          <a:xfrm>
            <a:off x="6267450" y="2295525"/>
            <a:ext cx="521017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>
                <a:solidFill>
                  <a:srgbClr val="0B7895"/>
                </a:solidFill>
              </a:defRPr>
            </a:pPr>
            <a:r>
              <a:rPr sz="900" b="1">
                <a:solidFill>
                  <a:srgbClr val="0B7895"/>
                </a:solidFill>
              </a:rPr>
              <a:t>TECHNICAL DEFENSE</a:t>
            </a:r>
            <a:endParaRPr sz="900" b="1">
              <a:solidFill>
                <a:srgbClr val="0B7895"/>
              </a:solidFill>
            </a:endParaRPr>
          </a:p>
        </p:txBody>
      </p:sp>
      <p:sp>
        <p:nvSpPr>
          <p:cNvPr id="20" name="Rectangle 19"/>
          <p:cNvSpPr>
            <a:spLocks noGrp="1"/>
          </p:cNvSpPr>
          <p:nvPr/>
        </p:nvSpPr>
        <p:spPr>
          <a:xfrm>
            <a:off x="6267450" y="2600325"/>
            <a:ext cx="5210175" cy="3028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200" b="0">
                <a:solidFill>
                  <a:srgbClr val="183247"/>
                </a:solidFill>
              </a:defRPr>
            </a:pPr>
            <a:r>
              <a:rPr sz="1200" b="0">
                <a:solidFill>
                  <a:srgbClr val="183247"/>
                </a:solidFill>
              </a:rPr>
              <a:t>Scheduled rollup aggregation (CloudWatch Events → Lambda) producing per-zone and event-wide KPI summaries</a:t>
            </a:r>
            <a:endParaRPr sz="1200" b="0">
              <a:solidFill>
                <a:srgbClr val="183247"/>
              </a:solidFill>
            </a:endParaRPr>
          </a:p>
          <a:p>
            <a:endParaRPr sz="1200"/>
          </a:p>
          <a:p>
            <a:pPr>
              <a:defRPr sz="1200" b="0">
                <a:solidFill>
                  <a:srgbClr val="183247"/>
                </a:solidFill>
              </a:defRPr>
            </a:pPr>
            <a:r>
              <a:rPr sz="1200" b="0">
                <a:solidFill>
                  <a:srgbClr val="183247"/>
                </a:solidFill>
              </a:rPr>
              <a:t>Denormalized summary objects keyed by eventId/zoneId, cached in Redis with a 5-minute TTL</a:t>
            </a:r>
            <a:endParaRPr sz="1200" b="0">
              <a:solidFill>
                <a:srgbClr val="183247"/>
              </a:solidFill>
            </a:endParaRPr>
          </a:p>
          <a:p>
            <a:endParaRPr sz="1200"/>
          </a:p>
          <a:p>
            <a:pPr>
              <a:defRPr sz="1200" b="0">
                <a:solidFill>
                  <a:srgbClr val="183247"/>
                </a:solidFill>
              </a:defRPr>
            </a:pPr>
            <a:r>
              <a:rPr sz="1200" b="0">
                <a:solidFill>
                  <a:srgbClr val="183247"/>
                </a:solidFill>
              </a:rPr>
              <a:t>640ms average dashboard load, 5s WebSocket refresh; the Lambda rollup itself completes in ~1.2s for 40 zones</a:t>
            </a:r>
            <a:endParaRPr sz="1200" b="0">
              <a:solidFill>
                <a:srgbClr val="183247"/>
              </a:solidFill>
            </a:endParaRPr>
          </a:p>
          <a:p>
            <a:endParaRPr sz="1200"/>
          </a:p>
          <a:p>
            <a:pPr>
              <a:defRPr sz="1200" b="0">
                <a:solidFill>
                  <a:srgbClr val="183247"/>
                </a:solidFill>
              </a:defRPr>
            </a:pPr>
            <a:r>
              <a:rPr sz="1200" b="0">
                <a:solidFill>
                  <a:srgbClr val="183247"/>
                </a:solidFill>
              </a:rPr>
              <a:t>IAM-scoped Lambda execution role, JWT-authenticated dashboard APIs, read-only RDS credentials on the analytics path</a:t>
            </a:r>
            <a:endParaRPr sz="1200" b="0">
              <a:solidFill>
                <a:srgbClr val="183247"/>
              </a:solidFill>
            </a:endParaRPr>
          </a:p>
          <a:p>
            <a:endParaRPr sz="1200"/>
          </a:p>
          <a:p>
            <a:pPr>
              <a:defRPr sz="1200" b="0">
                <a:solidFill>
                  <a:srgbClr val="183247"/>
                </a:solidFill>
              </a:defRPr>
            </a:pPr>
            <a:r>
              <a:rPr sz="1200" b="0">
                <a:solidFill>
                  <a:srgbClr val="183247"/>
                </a:solidFill>
              </a:rPr>
              <a:t>Client-side aggregation directly from raw event streams — rejected, pushed heavy computation to the browser and broke the ≤1s load target</a:t>
            </a:r>
            <a:endParaRPr sz="1200" b="0">
              <a:solidFill>
                <a:srgbClr val="183247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0" name="Rectangle 39"/>
          <p:cNvSpPr>
            <a:spLocks noGrp="1"/>
          </p:cNvSpPr>
          <p:nvPr/>
        </p:nvSpPr>
        <p:spPr>
          <a:xfrm>
            <a:off x="0" y="0"/>
            <a:ext cx="12182475" cy="76200"/>
          </a:xfrm>
          <a:prstGeom prst="rect">
            <a:avLst/>
          </a:prstGeom>
          <a:solidFill>
            <a:srgbClr val="0B7895"/>
          </a:solidFill>
          <a:ln w="0">
            <a:solidFill>
              <a:srgbClr val="0B7895"/>
            </a:solidFill>
            <a:prstDash val="solid"/>
          </a:ln>
        </p:spPr>
      </p:sp>
      <p:sp>
        <p:nvSpPr>
          <p:cNvPr id="2" name="Rounded Rectangle 1"/>
          <p:cNvSpPr>
            <a:spLocks noGrp="1"/>
          </p:cNvSpPr>
          <p:nvPr/>
        </p:nvSpPr>
        <p:spPr>
          <a:xfrm>
            <a:off x="438150" y="228600"/>
            <a:ext cx="1000125" cy="55245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C9D6E2"/>
            </a:solidFill>
            <a:prstDash val="solid"/>
          </a:ln>
        </p:spPr>
      </p:sp>
      <p:pic>
        <p:nvPicPr>
          <p:cNvPr id="42" name="Picture 4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4350" y="450359"/>
            <a:ext cx="847725" cy="108932"/>
          </a:xfrm>
          <a:prstGeom prst="rect">
            <a:avLst/>
          </a:prstGeom>
        </p:spPr>
      </p:pic>
      <p:sp>
        <p:nvSpPr>
          <p:cNvPr id="4" name="Rectangle 3"/>
          <p:cNvSpPr>
            <a:spLocks noGrp="1"/>
          </p:cNvSpPr>
          <p:nvPr/>
        </p:nvSpPr>
        <p:spPr>
          <a:xfrm>
            <a:off x="1657350" y="266700"/>
            <a:ext cx="6953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>
                <a:solidFill>
                  <a:srgbClr val="1264A3"/>
                </a:solidFill>
              </a:defRPr>
            </a:pPr>
            <a:r>
              <a:rPr sz="900" b="1">
                <a:solidFill>
                  <a:srgbClr val="1264A3"/>
                </a:solidFill>
              </a:rPr>
              <a:t>CSA15  |  CLOUD COMPUTING AND BIG DATA ANALYTICS</a:t>
            </a:r>
            <a:endParaRPr sz="900" b="1">
              <a:solidFill>
                <a:srgbClr val="1264A3"/>
              </a:solidFill>
            </a:endParaRPr>
          </a:p>
        </p:txBody>
      </p:sp>
      <p:sp>
        <p:nvSpPr>
          <p:cNvPr id="5" name="Rectangle 4"/>
          <p:cNvSpPr>
            <a:spLocks noGrp="1"/>
          </p:cNvSpPr>
          <p:nvPr/>
        </p:nvSpPr>
        <p:spPr>
          <a:xfrm>
            <a:off x="9572625" y="266700"/>
            <a:ext cx="209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825" b="1">
                <a:solidFill>
                  <a:srgbClr val="0B7895"/>
                </a:solidFill>
              </a:defRPr>
            </a:pPr>
            <a:r>
              <a:rPr sz="825" b="1">
                <a:solidFill>
                  <a:srgbClr val="0B7895"/>
                </a:solidFill>
              </a:rPr>
              <a:t>CAPSTONE FINAL DEFENSE</a:t>
            </a:r>
            <a:endParaRPr sz="825" b="1">
              <a:solidFill>
                <a:srgbClr val="0B7895"/>
              </a:solidFill>
            </a:endParaRPr>
          </a:p>
        </p:txBody>
      </p:sp>
      <p:sp>
        <p:nvSpPr>
          <p:cNvPr id="6" name="Rectangle 5"/>
          <p:cNvSpPr>
            <a:spLocks noGrp="1"/>
          </p:cNvSpPr>
          <p:nvPr/>
        </p:nvSpPr>
        <p:spPr>
          <a:xfrm>
            <a:off x="514350" y="981075"/>
            <a:ext cx="10287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2325" b="1">
                <a:solidFill>
                  <a:srgbClr val="0B2E4F"/>
                </a:solidFill>
              </a:defRPr>
            </a:pPr>
            <a:r>
              <a:rPr sz="2325" b="1">
                <a:solidFill>
                  <a:srgbClr val="0B2E4F"/>
                </a:solidFill>
              </a:rPr>
              <a:t>Module 4: Implementation Evidence</a:t>
            </a:r>
            <a:endParaRPr sz="2325" b="1">
              <a:solidFill>
                <a:srgbClr val="0B2E4F"/>
              </a:solidFill>
            </a:endParaRPr>
          </a:p>
        </p:txBody>
      </p:sp>
      <p:sp>
        <p:nvSpPr>
          <p:cNvPr id="7" name="Rectangle 6"/>
          <p:cNvSpPr>
            <a:spLocks noGrp="1"/>
          </p:cNvSpPr>
          <p:nvPr/>
        </p:nvSpPr>
        <p:spPr>
          <a:xfrm>
            <a:off x="533400" y="1457325"/>
            <a:ext cx="10287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125" b="0">
                <a:solidFill>
                  <a:srgbClr val="52677A"/>
                </a:solidFill>
              </a:defRPr>
            </a:pPr>
            <a:r>
              <a:rPr sz="1125" b="0">
                <a:solidFill>
                  <a:srgbClr val="52677A"/>
                </a:solidFill>
              </a:rPr>
              <a:t>Prove the final module produces the expected product-level output.</a:t>
            </a:r>
            <a:endParaRPr sz="1125" b="0">
              <a:solidFill>
                <a:srgbClr val="52677A"/>
              </a:solidFill>
            </a:endParaRPr>
          </a:p>
        </p:txBody>
      </p:sp>
      <p:sp>
        <p:nvSpPr>
          <p:cNvPr id="8" name="Rectangle 7"/>
          <p:cNvSpPr>
            <a:spLocks noGrp="1"/>
          </p:cNvSpPr>
          <p:nvPr/>
        </p:nvSpPr>
        <p:spPr>
          <a:xfrm>
            <a:off x="514350" y="1847850"/>
            <a:ext cx="11153775" cy="19050"/>
          </a:xfrm>
          <a:prstGeom prst="rect">
            <a:avLst/>
          </a:prstGeom>
          <a:solidFill>
            <a:srgbClr val="C9D6E2"/>
          </a:solidFill>
          <a:ln w="0">
            <a:solidFill>
              <a:srgbClr val="C9D6E2"/>
            </a:solidFill>
            <a:prstDash val="solid"/>
          </a:ln>
        </p:spPr>
      </p:sp>
      <p:sp>
        <p:nvSpPr>
          <p:cNvPr id="9" name="Rectangle 8"/>
          <p:cNvSpPr>
            <a:spLocks noGrp="1"/>
          </p:cNvSpPr>
          <p:nvPr/>
        </p:nvSpPr>
        <p:spPr>
          <a:xfrm>
            <a:off x="0" y="6419850"/>
            <a:ext cx="12182475" cy="438150"/>
          </a:xfrm>
          <a:prstGeom prst="rect">
            <a:avLst/>
          </a:prstGeom>
          <a:solidFill>
            <a:srgbClr val="0B2E4F"/>
          </a:solidFill>
          <a:ln w="0">
            <a:solidFill>
              <a:srgbClr val="0B2E4F"/>
            </a:solidFill>
            <a:prstDash val="solid"/>
          </a:ln>
        </p:spPr>
      </p:sp>
      <p:sp>
        <p:nvSpPr>
          <p:cNvPr id="10" name="Rectangle 9"/>
          <p:cNvSpPr>
            <a:spLocks noGrp="1"/>
          </p:cNvSpPr>
          <p:nvPr/>
        </p:nvSpPr>
        <p:spPr>
          <a:xfrm>
            <a:off x="533400" y="6515100"/>
            <a:ext cx="9810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STUDENT ACTION  |  Replace every [ENTER ...] field. Delete this rail before the final presentation.</a:t>
            </a:r>
            <a:endParaRPr sz="900" b="1">
              <a:solidFill>
                <a:srgbClr val="FFFFFF"/>
              </a:solidFill>
            </a:endParaRPr>
          </a:p>
        </p:txBody>
      </p:sp>
      <p:sp>
        <p:nvSpPr>
          <p:cNvPr id="11" name="Rectangle 10"/>
          <p:cNvSpPr>
            <a:spLocks noGrp="1"/>
          </p:cNvSpPr>
          <p:nvPr/>
        </p:nvSpPr>
        <p:spPr>
          <a:xfrm>
            <a:off x="11049000" y="6515100"/>
            <a:ext cx="6191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75" b="1">
                <a:solidFill>
                  <a:srgbClr val="D39216"/>
                </a:solidFill>
              </a:defRPr>
            </a:pPr>
            <a:r>
              <a:rPr sz="975" b="1">
                <a:solidFill>
                  <a:srgbClr val="D39216"/>
                </a:solidFill>
              </a:rPr>
              <a:t>19</a:t>
            </a:r>
            <a:endParaRPr sz="975" b="1">
              <a:solidFill>
                <a:srgbClr val="D39216"/>
              </a:solidFill>
            </a:endParaRPr>
          </a:p>
        </p:txBody>
      </p:sp>
      <p:sp>
        <p:nvSpPr>
          <p:cNvPr id="12" name="Rectangle 11"/>
          <p:cNvSpPr>
            <a:spLocks noGrp="1"/>
          </p:cNvSpPr>
          <p:nvPr/>
        </p:nvSpPr>
        <p:spPr>
          <a:xfrm>
            <a:off x="4191000" y="6715125"/>
            <a:ext cx="3810000" cy="104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600" b="0">
                <a:solidFill>
                  <a:srgbClr val="BFD3E1"/>
                </a:solidFill>
              </a:defRPr>
            </a:pPr>
            <a:r>
              <a:rPr sz="600" b="0">
                <a:solidFill>
                  <a:srgbClr val="BFD3E1"/>
                </a:solidFill>
              </a:rPr>
              <a:t>Dr. C. Rajesh Babu | SSETSCS415</a:t>
            </a:r>
            <a:endParaRPr sz="600" b="0">
              <a:solidFill>
                <a:srgbClr val="BFD3E1"/>
              </a:solidFill>
            </a:endParaRPr>
          </a:p>
        </p:txBody>
      </p:sp>
      <p:sp>
        <p:nvSpPr>
          <p:cNvPr id="13" name="Rectangle 12"/>
          <p:cNvSpPr>
            <a:spLocks noGrp="1"/>
          </p:cNvSpPr>
          <p:nvPr/>
        </p:nvSpPr>
        <p:spPr>
          <a:xfrm>
            <a:off x="0" y="0"/>
            <a:ext cx="12182475" cy="76200"/>
          </a:xfrm>
          <a:prstGeom prst="rect">
            <a:avLst/>
          </a:prstGeom>
          <a:solidFill>
            <a:srgbClr val="0B7895"/>
          </a:solidFill>
          <a:ln w="0">
            <a:solidFill>
              <a:srgbClr val="0B7895"/>
            </a:solidFill>
            <a:prstDash val="solid"/>
          </a:ln>
        </p:spPr>
      </p:sp>
      <p:sp>
        <p:nvSpPr>
          <p:cNvPr id="14" name="Rounded Rectangle 13"/>
          <p:cNvSpPr>
            <a:spLocks noGrp="1"/>
          </p:cNvSpPr>
          <p:nvPr/>
        </p:nvSpPr>
        <p:spPr>
          <a:xfrm>
            <a:off x="438150" y="228600"/>
            <a:ext cx="1000125" cy="55245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C9D6E2"/>
            </a:solidFill>
            <a:prstDash val="solid"/>
          </a:ln>
        </p:spPr>
      </p:sp>
      <p:pic>
        <p:nvPicPr>
          <p:cNvPr id="54" name="Picture 5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4350" y="450359"/>
            <a:ext cx="847725" cy="108932"/>
          </a:xfrm>
          <a:prstGeom prst="rect">
            <a:avLst/>
          </a:prstGeom>
        </p:spPr>
      </p:pic>
      <p:sp>
        <p:nvSpPr>
          <p:cNvPr id="16" name="Rectangle 15"/>
          <p:cNvSpPr>
            <a:spLocks noGrp="1"/>
          </p:cNvSpPr>
          <p:nvPr/>
        </p:nvSpPr>
        <p:spPr>
          <a:xfrm>
            <a:off x="1657350" y="266700"/>
            <a:ext cx="6953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>
                <a:solidFill>
                  <a:srgbClr val="1264A3"/>
                </a:solidFill>
              </a:defRPr>
            </a:pPr>
            <a:r>
              <a:rPr sz="900" b="1">
                <a:solidFill>
                  <a:srgbClr val="1264A3"/>
                </a:solidFill>
              </a:rPr>
              <a:t>CSA15  |  CLOUD COMPUTING AND BIG DATA ANALYTICS</a:t>
            </a:r>
            <a:endParaRPr sz="900" b="1">
              <a:solidFill>
                <a:srgbClr val="1264A3"/>
              </a:solidFill>
            </a:endParaRPr>
          </a:p>
        </p:txBody>
      </p:sp>
      <p:sp>
        <p:nvSpPr>
          <p:cNvPr id="17" name="Rectangle 16"/>
          <p:cNvSpPr>
            <a:spLocks noGrp="1"/>
          </p:cNvSpPr>
          <p:nvPr/>
        </p:nvSpPr>
        <p:spPr>
          <a:xfrm>
            <a:off x="9572625" y="266700"/>
            <a:ext cx="209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825" b="1">
                <a:solidFill>
                  <a:srgbClr val="0B7895"/>
                </a:solidFill>
              </a:defRPr>
            </a:pPr>
            <a:r>
              <a:rPr sz="825" b="1">
                <a:solidFill>
                  <a:srgbClr val="0B7895"/>
                </a:solidFill>
              </a:rPr>
              <a:t>BUILD EVIDENCE</a:t>
            </a:r>
            <a:endParaRPr sz="825" b="1">
              <a:solidFill>
                <a:srgbClr val="0B7895"/>
              </a:solidFill>
            </a:endParaRPr>
          </a:p>
        </p:txBody>
      </p:sp>
      <p:sp>
        <p:nvSpPr>
          <p:cNvPr id="18" name="Rectangle 17"/>
          <p:cNvSpPr>
            <a:spLocks noGrp="1"/>
          </p:cNvSpPr>
          <p:nvPr/>
        </p:nvSpPr>
        <p:spPr>
          <a:xfrm>
            <a:off x="514350" y="981075"/>
            <a:ext cx="10287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2325" b="1">
                <a:solidFill>
                  <a:srgbClr val="0B2E4F"/>
                </a:solidFill>
              </a:defRPr>
            </a:pPr>
            <a:r>
              <a:rPr sz="2325" b="1">
                <a:solidFill>
                  <a:srgbClr val="0B2E4F"/>
                </a:solidFill>
              </a:rPr>
              <a:t>Module 4: Implementation Evidence</a:t>
            </a:r>
            <a:endParaRPr sz="2325" b="1">
              <a:solidFill>
                <a:srgbClr val="0B2E4F"/>
              </a:solidFill>
            </a:endParaRPr>
          </a:p>
        </p:txBody>
      </p:sp>
      <p:sp>
        <p:nvSpPr>
          <p:cNvPr id="19" name="Rectangle 18"/>
          <p:cNvSpPr>
            <a:spLocks noGrp="1"/>
          </p:cNvSpPr>
          <p:nvPr/>
        </p:nvSpPr>
        <p:spPr>
          <a:xfrm>
            <a:off x="533400" y="1457325"/>
            <a:ext cx="10287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125" b="0">
                <a:solidFill>
                  <a:srgbClr val="52677A"/>
                </a:solidFill>
              </a:defRPr>
            </a:pPr>
            <a:r>
              <a:rPr sz="1125" b="0">
                <a:solidFill>
                  <a:srgbClr val="52677A"/>
                </a:solidFill>
              </a:rPr>
              <a:t>Prove the final module produces the expected product-level output.</a:t>
            </a:r>
            <a:endParaRPr sz="1125" b="0">
              <a:solidFill>
                <a:srgbClr val="52677A"/>
              </a:solidFill>
            </a:endParaRPr>
          </a:p>
        </p:txBody>
      </p:sp>
      <p:sp>
        <p:nvSpPr>
          <p:cNvPr id="20" name="Rectangle 19"/>
          <p:cNvSpPr>
            <a:spLocks noGrp="1"/>
          </p:cNvSpPr>
          <p:nvPr/>
        </p:nvSpPr>
        <p:spPr>
          <a:xfrm>
            <a:off x="514350" y="1847850"/>
            <a:ext cx="11153775" cy="19050"/>
          </a:xfrm>
          <a:prstGeom prst="rect">
            <a:avLst/>
          </a:prstGeom>
          <a:solidFill>
            <a:srgbClr val="C9D6E2"/>
          </a:solidFill>
          <a:ln w="0">
            <a:solidFill>
              <a:srgbClr val="C9D6E2"/>
            </a:solidFill>
            <a:prstDash val="solid"/>
          </a:ln>
        </p:spPr>
      </p:sp>
      <p:sp>
        <p:nvSpPr>
          <p:cNvPr id="21" name="Rectangle 20"/>
          <p:cNvSpPr>
            <a:spLocks noGrp="1"/>
          </p:cNvSpPr>
          <p:nvPr/>
        </p:nvSpPr>
        <p:spPr>
          <a:xfrm>
            <a:off x="0" y="6419850"/>
            <a:ext cx="12182475" cy="438150"/>
          </a:xfrm>
          <a:prstGeom prst="rect">
            <a:avLst/>
          </a:prstGeom>
          <a:solidFill>
            <a:srgbClr val="0B2E4F"/>
          </a:solidFill>
          <a:ln w="0">
            <a:solidFill>
              <a:srgbClr val="0B2E4F"/>
            </a:solidFill>
            <a:prstDash val="solid"/>
          </a:ln>
        </p:spPr>
      </p:sp>
      <p:sp>
        <p:nvSpPr>
          <p:cNvPr id="22" name="Rectangle 21"/>
          <p:cNvSpPr>
            <a:spLocks noGrp="1"/>
          </p:cNvSpPr>
          <p:nvPr/>
        </p:nvSpPr>
        <p:spPr>
          <a:xfrm>
            <a:off x="533400" y="6515100"/>
            <a:ext cx="9810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STUDENT ACTION  |  Replace every [ENTER ...] field. Delete this rail before the final presentation.</a:t>
            </a:r>
            <a:endParaRPr sz="900" b="1">
              <a:solidFill>
                <a:srgbClr val="FFFFFF"/>
              </a:solidFill>
            </a:endParaRPr>
          </a:p>
        </p:txBody>
      </p:sp>
      <p:sp>
        <p:nvSpPr>
          <p:cNvPr id="23" name="Rectangle 22"/>
          <p:cNvSpPr>
            <a:spLocks noGrp="1"/>
          </p:cNvSpPr>
          <p:nvPr/>
        </p:nvSpPr>
        <p:spPr>
          <a:xfrm>
            <a:off x="11049000" y="6515100"/>
            <a:ext cx="6191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75" b="1">
                <a:solidFill>
                  <a:srgbClr val="D39216"/>
                </a:solidFill>
              </a:defRPr>
            </a:pPr>
            <a:r>
              <a:rPr sz="975" b="1">
                <a:solidFill>
                  <a:srgbClr val="D39216"/>
                </a:solidFill>
              </a:rPr>
              <a:t>19</a:t>
            </a:r>
            <a:endParaRPr sz="975" b="1">
              <a:solidFill>
                <a:srgbClr val="D39216"/>
              </a:solidFill>
            </a:endParaRPr>
          </a:p>
        </p:txBody>
      </p:sp>
      <p:sp>
        <p:nvSpPr>
          <p:cNvPr id="24" name="Rectangle 23"/>
          <p:cNvSpPr>
            <a:spLocks noGrp="1"/>
          </p:cNvSpPr>
          <p:nvPr/>
        </p:nvSpPr>
        <p:spPr>
          <a:xfrm>
            <a:off x="4191000" y="6715125"/>
            <a:ext cx="3810000" cy="104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600" b="0">
                <a:solidFill>
                  <a:srgbClr val="BFD3E1"/>
                </a:solidFill>
              </a:defRPr>
            </a:pPr>
            <a:r>
              <a:rPr sz="600" b="0">
                <a:solidFill>
                  <a:srgbClr val="BFD3E1"/>
                </a:solidFill>
              </a:rPr>
              <a:t>Dr. C. Rajesh Babu | SSETSCS415</a:t>
            </a:r>
            <a:endParaRPr sz="600" b="0">
              <a:solidFill>
                <a:srgbClr val="BFD3E1"/>
              </a:solidFill>
            </a:endParaRPr>
          </a:p>
        </p:txBody>
      </p:sp>
      <p:sp>
        <p:nvSpPr>
          <p:cNvPr id="25" name="Rectangle 24"/>
          <p:cNvSpPr>
            <a:spLocks noGrp="1"/>
          </p:cNvSpPr>
          <p:nvPr/>
        </p:nvSpPr>
        <p:spPr>
          <a:xfrm>
            <a:off x="514350" y="2133600"/>
            <a:ext cx="6534150" cy="3714750"/>
          </a:xfrm>
          <a:prstGeom prst="rect">
            <a:avLst/>
          </a:prstGeom>
          <a:solidFill>
            <a:srgbClr val="EAF3F8"/>
          </a:solidFill>
          <a:ln w="19050">
            <a:solidFill>
              <a:srgbClr val="1264A3"/>
            </a:solidFill>
            <a:prstDash val="solid"/>
          </a:ln>
        </p:spPr>
      </p:sp>
      <p:sp>
        <p:nvSpPr>
          <p:cNvPr id="26" name="Rectangle 25"/>
          <p:cNvSpPr>
            <a:spLocks noGrp="1"/>
          </p:cNvSpPr>
          <p:nvPr/>
        </p:nvSpPr>
        <p:spPr>
          <a:xfrm>
            <a:off x="809625" y="3333750"/>
            <a:ext cx="59436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425" b="1">
                <a:solidFill>
                  <a:srgbClr val="1264A3"/>
                </a:solidFill>
              </a:defRPr>
            </a:pPr>
            <a:r>
              <a:rPr sz="1425" b="1">
                <a:solidFill>
                  <a:srgbClr val="1264A3"/>
                </a:solidFill>
              </a:rPr>
              <a:t>Screenshot slot: admin dashboard — live zone-density heatmap, incident feed and responder-status panel with 4-hour event KPIs.</a:t>
            </a:r>
            <a:endParaRPr sz="1425" b="1">
              <a:solidFill>
                <a:srgbClr val="1264A3"/>
              </a:solidFill>
            </a:endParaRPr>
          </a:p>
        </p:txBody>
      </p:sp>
      <p:sp>
        <p:nvSpPr>
          <p:cNvPr id="27" name="Rectangle 26"/>
          <p:cNvSpPr>
            <a:spLocks noGrp="1"/>
          </p:cNvSpPr>
          <p:nvPr/>
        </p:nvSpPr>
        <p:spPr>
          <a:xfrm>
            <a:off x="876300" y="3952875"/>
            <a:ext cx="5810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050" b="0">
                <a:solidFill>
                  <a:srgbClr val="52677A"/>
                </a:solidFill>
              </a:defRPr>
            </a:pPr>
            <a:r>
              <a:rPr sz="1050" b="0">
                <a:solidFill>
                  <a:srgbClr val="52677A"/>
                </a:solidFill>
              </a:rPr>
              <a:t>Use a readable image. Crop browser chrome and expose the result, not an empty interface.</a:t>
            </a:r>
            <a:endParaRPr sz="1050" b="0">
              <a:solidFill>
                <a:srgbClr val="52677A"/>
              </a:solidFill>
            </a:endParaRPr>
          </a:p>
        </p:txBody>
      </p:sp>
      <p:sp>
        <p:nvSpPr>
          <p:cNvPr id="28" name="Rectangle 27"/>
          <p:cNvSpPr>
            <a:spLocks noGrp="1"/>
          </p:cNvSpPr>
          <p:nvPr/>
        </p:nvSpPr>
        <p:spPr>
          <a:xfrm>
            <a:off x="7296150" y="2133600"/>
            <a:ext cx="4371975" cy="10668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6E2"/>
            </a:solidFill>
            <a:prstDash val="solid"/>
          </a:ln>
        </p:spPr>
      </p:sp>
      <p:sp>
        <p:nvSpPr>
          <p:cNvPr id="29" name="Rectangle 28"/>
          <p:cNvSpPr>
            <a:spLocks noGrp="1"/>
          </p:cNvSpPr>
          <p:nvPr/>
        </p:nvSpPr>
        <p:spPr>
          <a:xfrm>
            <a:off x="7296150" y="2133600"/>
            <a:ext cx="57150" cy="1066800"/>
          </a:xfrm>
          <a:prstGeom prst="rect">
            <a:avLst/>
          </a:prstGeom>
          <a:solidFill>
            <a:srgbClr val="1264A3"/>
          </a:solidFill>
          <a:ln w="0">
            <a:solidFill>
              <a:srgbClr val="1264A3"/>
            </a:solidFill>
            <a:prstDash val="solid"/>
          </a:ln>
        </p:spPr>
      </p:sp>
      <p:sp>
        <p:nvSpPr>
          <p:cNvPr id="30" name="Rectangle 29"/>
          <p:cNvSpPr>
            <a:spLocks noGrp="1"/>
          </p:cNvSpPr>
          <p:nvPr/>
        </p:nvSpPr>
        <p:spPr>
          <a:xfrm>
            <a:off x="7505700" y="2286000"/>
            <a:ext cx="397192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>
                <a:solidFill>
                  <a:srgbClr val="1264A3"/>
                </a:solidFill>
              </a:defRPr>
            </a:pPr>
            <a:r>
              <a:rPr sz="900" b="1">
                <a:solidFill>
                  <a:srgbClr val="1264A3"/>
                </a:solidFill>
              </a:rPr>
              <a:t>BUILD DETAILS</a:t>
            </a:r>
            <a:endParaRPr sz="900" b="1">
              <a:solidFill>
                <a:srgbClr val="1264A3"/>
              </a:solidFill>
            </a:endParaRPr>
          </a:p>
        </p:txBody>
      </p:sp>
      <p:sp>
        <p:nvSpPr>
          <p:cNvPr id="31" name="Rectangle 30"/>
          <p:cNvSpPr>
            <a:spLocks noGrp="1"/>
          </p:cNvSpPr>
          <p:nvPr/>
        </p:nvSpPr>
        <p:spPr>
          <a:xfrm>
            <a:off x="7505700" y="2590800"/>
            <a:ext cx="3971925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125" b="0">
                <a:solidFill>
                  <a:srgbClr val="183247"/>
                </a:solidFill>
              </a:defRPr>
            </a:pPr>
            <a:r>
              <a:rPr sz="1125" b="0">
                <a:solidFill>
                  <a:srgbClr val="183247"/>
                </a:solidFill>
              </a:rPr>
              <a:t>React 18 + Recharts, AWS Lambda (Node.js 18) rollups, Redis 7 cache, deployed behind the same ECS Fargate / API Gateway stack</a:t>
            </a:r>
            <a:endParaRPr sz="1125" b="0">
              <a:solidFill>
                <a:srgbClr val="183247"/>
              </a:solidFill>
            </a:endParaRPr>
          </a:p>
        </p:txBody>
      </p:sp>
      <p:sp>
        <p:nvSpPr>
          <p:cNvPr id="32" name="Rectangle 31"/>
          <p:cNvSpPr>
            <a:spLocks noGrp="1"/>
          </p:cNvSpPr>
          <p:nvPr/>
        </p:nvSpPr>
        <p:spPr>
          <a:xfrm>
            <a:off x="7296150" y="3333750"/>
            <a:ext cx="4371975" cy="10668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6E2"/>
            </a:solidFill>
            <a:prstDash val="solid"/>
          </a:ln>
        </p:spPr>
      </p:sp>
      <p:sp>
        <p:nvSpPr>
          <p:cNvPr id="33" name="Rectangle 32"/>
          <p:cNvSpPr>
            <a:spLocks noGrp="1"/>
          </p:cNvSpPr>
          <p:nvPr/>
        </p:nvSpPr>
        <p:spPr>
          <a:xfrm>
            <a:off x="7296150" y="3333750"/>
            <a:ext cx="57150" cy="1066800"/>
          </a:xfrm>
          <a:prstGeom prst="rect">
            <a:avLst/>
          </a:prstGeom>
          <a:solidFill>
            <a:srgbClr val="0B7895"/>
          </a:solidFill>
          <a:ln w="0">
            <a:solidFill>
              <a:srgbClr val="0B7895"/>
            </a:solidFill>
            <a:prstDash val="solid"/>
          </a:ln>
        </p:spPr>
      </p:sp>
      <p:sp>
        <p:nvSpPr>
          <p:cNvPr id="34" name="Rectangle 33"/>
          <p:cNvSpPr>
            <a:spLocks noGrp="1"/>
          </p:cNvSpPr>
          <p:nvPr/>
        </p:nvSpPr>
        <p:spPr>
          <a:xfrm>
            <a:off x="7505700" y="3486150"/>
            <a:ext cx="397192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>
                <a:solidFill>
                  <a:srgbClr val="0B7895"/>
                </a:solidFill>
              </a:defRPr>
            </a:pPr>
            <a:r>
              <a:rPr sz="900" b="1">
                <a:solidFill>
                  <a:srgbClr val="0B7895"/>
                </a:solidFill>
              </a:rPr>
              <a:t>VALIDATION EVIDENCE</a:t>
            </a:r>
            <a:endParaRPr sz="900" b="1">
              <a:solidFill>
                <a:srgbClr val="0B7895"/>
              </a:solidFill>
            </a:endParaRPr>
          </a:p>
        </p:txBody>
      </p:sp>
      <p:sp>
        <p:nvSpPr>
          <p:cNvPr id="35" name="Rectangle 34"/>
          <p:cNvSpPr>
            <a:spLocks noGrp="1"/>
          </p:cNvSpPr>
          <p:nvPr/>
        </p:nvSpPr>
        <p:spPr>
          <a:xfrm>
            <a:off x="7505700" y="3790950"/>
            <a:ext cx="3971925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125" b="0">
                <a:solidFill>
                  <a:srgbClr val="183247"/>
                </a:solidFill>
              </a:defRPr>
            </a:pPr>
            <a:r>
              <a:rPr sz="1125" b="0">
                <a:solidFill>
                  <a:srgbClr val="183247"/>
                </a:solidFill>
              </a:rPr>
              <a:t>Load test across 40 zones: 640ms avg dashboard load, 5s confirmed WebSocket refresh, 0 dropped updates over a 4-hour soak test</a:t>
            </a:r>
            <a:endParaRPr sz="1125" b="0">
              <a:solidFill>
                <a:srgbClr val="183247"/>
              </a:solidFill>
            </a:endParaRPr>
          </a:p>
        </p:txBody>
      </p:sp>
      <p:sp>
        <p:nvSpPr>
          <p:cNvPr id="36" name="Rectangle 35"/>
          <p:cNvSpPr>
            <a:spLocks noGrp="1"/>
          </p:cNvSpPr>
          <p:nvPr/>
        </p:nvSpPr>
        <p:spPr>
          <a:xfrm>
            <a:off x="7296150" y="4533900"/>
            <a:ext cx="4371975" cy="1314450"/>
          </a:xfrm>
          <a:prstGeom prst="rect">
            <a:avLst/>
          </a:prstGeom>
          <a:solidFill>
            <a:srgbClr val="FFFFFF"/>
          </a:solidFill>
          <a:ln w="9525">
            <a:solidFill>
              <a:srgbClr val="C9D6E2"/>
            </a:solidFill>
            <a:prstDash val="solid"/>
          </a:ln>
        </p:spPr>
      </p:sp>
      <p:sp>
        <p:nvSpPr>
          <p:cNvPr id="37" name="Rectangle 36"/>
          <p:cNvSpPr>
            <a:spLocks noGrp="1"/>
          </p:cNvSpPr>
          <p:nvPr/>
        </p:nvSpPr>
        <p:spPr>
          <a:xfrm>
            <a:off x="7296150" y="4533900"/>
            <a:ext cx="57150" cy="1314450"/>
          </a:xfrm>
          <a:prstGeom prst="rect">
            <a:avLst/>
          </a:prstGeom>
          <a:solidFill>
            <a:srgbClr val="D39216"/>
          </a:solidFill>
          <a:ln w="0">
            <a:solidFill>
              <a:srgbClr val="D39216"/>
            </a:solidFill>
            <a:prstDash val="solid"/>
          </a:ln>
        </p:spPr>
      </p:sp>
      <p:sp>
        <p:nvSpPr>
          <p:cNvPr id="38" name="Rectangle 37"/>
          <p:cNvSpPr>
            <a:spLocks noGrp="1"/>
          </p:cNvSpPr>
          <p:nvPr/>
        </p:nvSpPr>
        <p:spPr>
          <a:xfrm>
            <a:off x="7505700" y="4686300"/>
            <a:ext cx="397192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>
                <a:solidFill>
                  <a:srgbClr val="D39216"/>
                </a:solidFill>
              </a:defRPr>
            </a:pPr>
            <a:r>
              <a:rPr sz="900" b="1">
                <a:solidFill>
                  <a:srgbClr val="D39216"/>
                </a:solidFill>
              </a:rPr>
              <a:t>MODULE HAND-OFF</a:t>
            </a:r>
            <a:endParaRPr sz="900" b="1">
              <a:solidFill>
                <a:srgbClr val="D39216"/>
              </a:solidFill>
            </a:endParaRPr>
          </a:p>
        </p:txBody>
      </p:sp>
      <p:sp>
        <p:nvSpPr>
          <p:cNvPr id="39" name="Rectangle 38"/>
          <p:cNvSpPr>
            <a:spLocks noGrp="1"/>
          </p:cNvSpPr>
          <p:nvPr/>
        </p:nvSpPr>
        <p:spPr>
          <a:xfrm>
            <a:off x="7505700" y="4991100"/>
            <a:ext cx="3971925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125" b="0">
                <a:solidFill>
                  <a:srgbClr val="183247"/>
                </a:solidFill>
              </a:defRPr>
            </a:pPr>
            <a:r>
              <a:rPr sz="1125" b="0">
                <a:solidFill>
                  <a:srgbClr val="183247"/>
                </a:solidFill>
              </a:rPr>
              <a:t>Aggregated KPIs and event history feed the final results/evaluation and infrastructure-defense slides</a:t>
            </a:r>
            <a:endParaRPr sz="1125" b="0">
              <a:solidFill>
                <a:srgbClr val="183247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1" name="Rectangle 20"/>
          <p:cNvSpPr>
            <a:spLocks noGrp="1"/>
          </p:cNvSpPr>
          <p:nvPr/>
        </p:nvSpPr>
        <p:spPr>
          <a:xfrm>
            <a:off x="0" y="0"/>
            <a:ext cx="12182475" cy="76200"/>
          </a:xfrm>
          <a:prstGeom prst="rect">
            <a:avLst/>
          </a:prstGeom>
          <a:solidFill>
            <a:srgbClr val="0B7895"/>
          </a:solidFill>
          <a:ln w="0">
            <a:solidFill>
              <a:srgbClr val="0B7895"/>
            </a:solidFill>
            <a:prstDash val="solid"/>
          </a:ln>
        </p:spPr>
      </p:sp>
      <p:sp>
        <p:nvSpPr>
          <p:cNvPr id="2" name="Rounded Rectangle 1"/>
          <p:cNvSpPr>
            <a:spLocks noGrp="1"/>
          </p:cNvSpPr>
          <p:nvPr/>
        </p:nvSpPr>
        <p:spPr>
          <a:xfrm>
            <a:off x="438150" y="228600"/>
            <a:ext cx="1000125" cy="55245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C9D6E2"/>
            </a:solidFill>
            <a:prstDash val="solid"/>
          </a:ln>
        </p:spPr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4350" y="450359"/>
            <a:ext cx="847725" cy="108932"/>
          </a:xfrm>
          <a:prstGeom prst="rect">
            <a:avLst/>
          </a:prstGeom>
        </p:spPr>
      </p:pic>
      <p:sp>
        <p:nvSpPr>
          <p:cNvPr id="4" name="Rectangle 3"/>
          <p:cNvSpPr>
            <a:spLocks noGrp="1"/>
          </p:cNvSpPr>
          <p:nvPr/>
        </p:nvSpPr>
        <p:spPr>
          <a:xfrm>
            <a:off x="1657350" y="266700"/>
            <a:ext cx="6953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>
                <a:solidFill>
                  <a:srgbClr val="1264A3"/>
                </a:solidFill>
              </a:defRPr>
            </a:pPr>
            <a:r>
              <a:rPr sz="900" b="1">
                <a:solidFill>
                  <a:srgbClr val="1264A3"/>
                </a:solidFill>
              </a:rPr>
              <a:t>CSA15  |  CLOUD COMPUTING AND BIG DATA ANALYTICS</a:t>
            </a:r>
            <a:endParaRPr sz="900" b="1">
              <a:solidFill>
                <a:srgbClr val="1264A3"/>
              </a:solidFill>
            </a:endParaRPr>
          </a:p>
        </p:txBody>
      </p:sp>
      <p:sp>
        <p:nvSpPr>
          <p:cNvPr id="5" name="Rectangle 4"/>
          <p:cNvSpPr>
            <a:spLocks noGrp="1"/>
          </p:cNvSpPr>
          <p:nvPr/>
        </p:nvSpPr>
        <p:spPr>
          <a:xfrm>
            <a:off x="9572625" y="266700"/>
            <a:ext cx="209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825" b="1">
                <a:solidFill>
                  <a:srgbClr val="0B7895"/>
                </a:solidFill>
              </a:defRPr>
            </a:pPr>
            <a:r>
              <a:rPr sz="825" b="1">
                <a:solidFill>
                  <a:srgbClr val="0B7895"/>
                </a:solidFill>
              </a:rPr>
              <a:t>CAPSTONE FINAL DEFENSE</a:t>
            </a:r>
            <a:endParaRPr sz="825" b="1">
              <a:solidFill>
                <a:srgbClr val="0B7895"/>
              </a:solidFill>
            </a:endParaRPr>
          </a:p>
        </p:txBody>
      </p:sp>
      <p:sp>
        <p:nvSpPr>
          <p:cNvPr id="6" name="Rectangle 5"/>
          <p:cNvSpPr>
            <a:spLocks noGrp="1"/>
          </p:cNvSpPr>
          <p:nvPr/>
        </p:nvSpPr>
        <p:spPr>
          <a:xfrm>
            <a:off x="514350" y="981075"/>
            <a:ext cx="10287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2325" b="1">
                <a:solidFill>
                  <a:srgbClr val="0B2E4F"/>
                </a:solidFill>
              </a:defRPr>
            </a:pPr>
            <a:r>
              <a:rPr sz="2325" b="1">
                <a:solidFill>
                  <a:srgbClr val="0B2E4F"/>
                </a:solidFill>
              </a:rPr>
              <a:t>Integrated Product Implementation</a:t>
            </a:r>
            <a:endParaRPr sz="2325" b="1">
              <a:solidFill>
                <a:srgbClr val="0B2E4F"/>
              </a:solidFill>
            </a:endParaRPr>
          </a:p>
        </p:txBody>
      </p:sp>
      <p:sp>
        <p:nvSpPr>
          <p:cNvPr id="7" name="Rectangle 6"/>
          <p:cNvSpPr>
            <a:spLocks noGrp="1"/>
          </p:cNvSpPr>
          <p:nvPr/>
        </p:nvSpPr>
        <p:spPr>
          <a:xfrm>
            <a:off x="533400" y="1457325"/>
            <a:ext cx="10287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125" b="0">
                <a:solidFill>
                  <a:srgbClr val="52677A"/>
                </a:solidFill>
              </a:defRPr>
            </a:pPr>
            <a:r>
              <a:rPr sz="1125" b="0">
                <a:solidFill>
                  <a:srgbClr val="52677A"/>
                </a:solidFill>
              </a:rPr>
              <a:t>Connect frontend, backend, data and cloud operations to the implemented user experience.</a:t>
            </a:r>
            <a:endParaRPr sz="1125" b="0">
              <a:solidFill>
                <a:srgbClr val="52677A"/>
              </a:solidFill>
            </a:endParaRPr>
          </a:p>
        </p:txBody>
      </p:sp>
      <p:sp>
        <p:nvSpPr>
          <p:cNvPr id="8" name="Rectangle 7"/>
          <p:cNvSpPr>
            <a:spLocks noGrp="1"/>
          </p:cNvSpPr>
          <p:nvPr/>
        </p:nvSpPr>
        <p:spPr>
          <a:xfrm>
            <a:off x="514350" y="1847850"/>
            <a:ext cx="11153775" cy="19050"/>
          </a:xfrm>
          <a:prstGeom prst="rect">
            <a:avLst/>
          </a:prstGeom>
          <a:solidFill>
            <a:srgbClr val="C9D6E2"/>
          </a:solidFill>
          <a:ln w="0">
            <a:solidFill>
              <a:srgbClr val="C9D6E2"/>
            </a:solidFill>
            <a:prstDash val="solid"/>
          </a:ln>
        </p:spPr>
      </p:sp>
      <p:sp>
        <p:nvSpPr>
          <p:cNvPr id="9" name="Rectangle 8"/>
          <p:cNvSpPr>
            <a:spLocks noGrp="1"/>
          </p:cNvSpPr>
          <p:nvPr/>
        </p:nvSpPr>
        <p:spPr>
          <a:xfrm>
            <a:off x="0" y="6419850"/>
            <a:ext cx="12182475" cy="438150"/>
          </a:xfrm>
          <a:prstGeom prst="rect">
            <a:avLst/>
          </a:prstGeom>
          <a:solidFill>
            <a:srgbClr val="0B2E4F"/>
          </a:solidFill>
          <a:ln w="0">
            <a:solidFill>
              <a:srgbClr val="0B2E4F"/>
            </a:solidFill>
            <a:prstDash val="solid"/>
          </a:ln>
        </p:spPr>
      </p:sp>
      <p:sp>
        <p:nvSpPr>
          <p:cNvPr id="10" name="Rectangle 9"/>
          <p:cNvSpPr>
            <a:spLocks noGrp="1"/>
          </p:cNvSpPr>
          <p:nvPr/>
        </p:nvSpPr>
        <p:spPr>
          <a:xfrm>
            <a:off x="533400" y="6515100"/>
            <a:ext cx="9810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STUDENT ACTION  |  Replace every [ENTER ...] field. Delete this rail before the final presentation.</a:t>
            </a:r>
            <a:endParaRPr sz="900" b="1">
              <a:solidFill>
                <a:srgbClr val="FFFFFF"/>
              </a:solidFill>
            </a:endParaRPr>
          </a:p>
        </p:txBody>
      </p:sp>
      <p:sp>
        <p:nvSpPr>
          <p:cNvPr id="11" name="Rectangle 10"/>
          <p:cNvSpPr>
            <a:spLocks noGrp="1"/>
          </p:cNvSpPr>
          <p:nvPr/>
        </p:nvSpPr>
        <p:spPr>
          <a:xfrm>
            <a:off x="11049000" y="6515100"/>
            <a:ext cx="6191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75" b="1">
                <a:solidFill>
                  <a:srgbClr val="D39216"/>
                </a:solidFill>
              </a:defRPr>
            </a:pPr>
            <a:r>
              <a:rPr sz="975" b="1">
                <a:solidFill>
                  <a:srgbClr val="D39216"/>
                </a:solidFill>
              </a:rPr>
              <a:t>20</a:t>
            </a:r>
            <a:endParaRPr sz="975" b="1">
              <a:solidFill>
                <a:srgbClr val="D39216"/>
              </a:solidFill>
            </a:endParaRPr>
          </a:p>
        </p:txBody>
      </p:sp>
      <p:sp>
        <p:nvSpPr>
          <p:cNvPr id="12" name="Rectangle 11"/>
          <p:cNvSpPr>
            <a:spLocks noGrp="1"/>
          </p:cNvSpPr>
          <p:nvPr/>
        </p:nvSpPr>
        <p:spPr>
          <a:xfrm>
            <a:off x="4191000" y="6715125"/>
            <a:ext cx="3810000" cy="104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600" b="0">
                <a:solidFill>
                  <a:srgbClr val="BFD3E1"/>
                </a:solidFill>
              </a:defRPr>
            </a:pPr>
            <a:r>
              <a:rPr sz="600" b="0">
                <a:solidFill>
                  <a:srgbClr val="BFD3E1"/>
                </a:solidFill>
              </a:rPr>
              <a:t>Dr. C. Rajesh Babu | SSETSCS415</a:t>
            </a:r>
            <a:endParaRPr sz="600" b="0">
              <a:solidFill>
                <a:srgbClr val="BFD3E1"/>
              </a:solidFill>
            </a:endParaRPr>
          </a:p>
        </p:txBody>
      </p:sp>
      <p:sp>
        <p:nvSpPr>
          <p:cNvPr id="13" name="Rectangle 12"/>
          <p:cNvSpPr>
            <a:spLocks noGrp="1"/>
          </p:cNvSpPr>
          <p:nvPr/>
        </p:nvSpPr>
        <p:spPr>
          <a:xfrm>
            <a:off x="514350" y="2143125"/>
            <a:ext cx="5314950" cy="36195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6E2"/>
            </a:solidFill>
            <a:prstDash val="solid"/>
          </a:ln>
        </p:spPr>
      </p:sp>
      <p:sp>
        <p:nvSpPr>
          <p:cNvPr id="14" name="Rectangle 13"/>
          <p:cNvSpPr>
            <a:spLocks noGrp="1"/>
          </p:cNvSpPr>
          <p:nvPr/>
        </p:nvSpPr>
        <p:spPr>
          <a:xfrm>
            <a:off x="514350" y="2143125"/>
            <a:ext cx="57150" cy="3619500"/>
          </a:xfrm>
          <a:prstGeom prst="rect">
            <a:avLst/>
          </a:prstGeom>
          <a:solidFill>
            <a:srgbClr val="1264A3"/>
          </a:solidFill>
          <a:ln w="0">
            <a:solidFill>
              <a:srgbClr val="1264A3"/>
            </a:solidFill>
            <a:prstDash val="solid"/>
          </a:ln>
        </p:spPr>
      </p:sp>
      <p:sp>
        <p:nvSpPr>
          <p:cNvPr id="15" name="Rectangle 14"/>
          <p:cNvSpPr>
            <a:spLocks noGrp="1"/>
          </p:cNvSpPr>
          <p:nvPr/>
        </p:nvSpPr>
        <p:spPr>
          <a:xfrm>
            <a:off x="723900" y="2295525"/>
            <a:ext cx="49149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>
                <a:solidFill>
                  <a:srgbClr val="1264A3"/>
                </a:solidFill>
              </a:defRPr>
            </a:pPr>
            <a:r>
              <a:rPr sz="900" b="1">
                <a:solidFill>
                  <a:srgbClr val="1264A3"/>
                </a:solidFill>
              </a:rPr>
              <a:t>IMPLEMENTED PRODUCT SURFACE</a:t>
            </a:r>
            <a:endParaRPr sz="900" b="1">
              <a:solidFill>
                <a:srgbClr val="1264A3"/>
              </a:solidFill>
            </a:endParaRPr>
          </a:p>
        </p:txBody>
      </p:sp>
      <p:sp>
        <p:nvSpPr>
          <p:cNvPr id="16" name="Rectangle 15"/>
          <p:cNvSpPr>
            <a:spLocks noGrp="1"/>
          </p:cNvSpPr>
          <p:nvPr/>
        </p:nvSpPr>
        <p:spPr>
          <a:xfrm>
            <a:off x="723900" y="2600325"/>
            <a:ext cx="4914900" cy="3028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200" b="0">
                <a:solidFill>
                  <a:srgbClr val="183247"/>
                </a:solidFill>
              </a:defRPr>
            </a:pPr>
            <a:r>
              <a:rPr sz="1200" b="0">
                <a:solidFill>
                  <a:srgbClr val="183247"/>
                </a:solidFill>
              </a:rPr>
              <a:t>[PASTE 2-3 READABLE PRODUCT SCREENSHOTS]</a:t>
            </a:r>
            <a:endParaRPr sz="1200" b="0">
              <a:solidFill>
                <a:srgbClr val="183247"/>
              </a:solidFill>
            </a:endParaRPr>
          </a:p>
          <a:p>
            <a:endParaRPr sz="1200"/>
          </a:p>
          <a:p>
            <a:pPr>
              <a:defRPr sz="1200" b="0">
                <a:solidFill>
                  <a:srgbClr val="183247"/>
                </a:solidFill>
              </a:defRPr>
            </a:pPr>
            <a:r>
              <a:rPr sz="1200" b="0">
                <a:solidFill>
                  <a:srgbClr val="183247"/>
                </a:solidFill>
              </a:rPr>
              <a:t>Label each screenshot with the user action, working feature and linked module.</a:t>
            </a:r>
            <a:endParaRPr sz="1200" b="0">
              <a:solidFill>
                <a:srgbClr val="183247"/>
              </a:solidFill>
            </a:endParaRPr>
          </a:p>
        </p:txBody>
      </p:sp>
      <p:sp>
        <p:nvSpPr>
          <p:cNvPr id="17" name="Rectangle 16"/>
          <p:cNvSpPr>
            <a:spLocks noGrp="1"/>
          </p:cNvSpPr>
          <p:nvPr/>
        </p:nvSpPr>
        <p:spPr>
          <a:xfrm>
            <a:off x="6057900" y="2143125"/>
            <a:ext cx="5610225" cy="36195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6E2"/>
            </a:solidFill>
            <a:prstDash val="solid"/>
          </a:ln>
        </p:spPr>
      </p:sp>
      <p:sp>
        <p:nvSpPr>
          <p:cNvPr id="18" name="Rectangle 17"/>
          <p:cNvSpPr>
            <a:spLocks noGrp="1"/>
          </p:cNvSpPr>
          <p:nvPr/>
        </p:nvSpPr>
        <p:spPr>
          <a:xfrm>
            <a:off x="6057900" y="2143125"/>
            <a:ext cx="57150" cy="3619500"/>
          </a:xfrm>
          <a:prstGeom prst="rect">
            <a:avLst/>
          </a:prstGeom>
          <a:solidFill>
            <a:srgbClr val="0B7895"/>
          </a:solidFill>
          <a:ln w="0">
            <a:solidFill>
              <a:srgbClr val="0B7895"/>
            </a:solidFill>
            <a:prstDash val="solid"/>
          </a:ln>
        </p:spPr>
      </p:sp>
      <p:sp>
        <p:nvSpPr>
          <p:cNvPr id="19" name="Rectangle 18"/>
          <p:cNvSpPr>
            <a:spLocks noGrp="1"/>
          </p:cNvSpPr>
          <p:nvPr/>
        </p:nvSpPr>
        <p:spPr>
          <a:xfrm>
            <a:off x="6267450" y="2295525"/>
            <a:ext cx="521017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>
                <a:solidFill>
                  <a:srgbClr val="0B7895"/>
                </a:solidFill>
              </a:defRPr>
            </a:pPr>
            <a:r>
              <a:rPr sz="900" b="1">
                <a:solidFill>
                  <a:srgbClr val="0B7895"/>
                </a:solidFill>
              </a:rPr>
              <a:t>TECHNOLOGY AND DEPLOYMENT INVENTORY</a:t>
            </a:r>
            <a:endParaRPr sz="900" b="1">
              <a:solidFill>
                <a:srgbClr val="0B7895"/>
              </a:solidFill>
            </a:endParaRPr>
          </a:p>
        </p:txBody>
      </p:sp>
      <p:sp>
        <p:nvSpPr>
          <p:cNvPr id="20" name="Rectangle 19"/>
          <p:cNvSpPr>
            <a:spLocks noGrp="1"/>
          </p:cNvSpPr>
          <p:nvPr/>
        </p:nvSpPr>
        <p:spPr>
          <a:xfrm>
            <a:off x="6267450" y="2600325"/>
            <a:ext cx="5210175" cy="3028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125" b="0">
                <a:solidFill>
                  <a:srgbClr val="183247"/>
                </a:solidFill>
              </a:defRPr>
            </a:pPr>
            <a:r>
              <a:rPr sz="1125" b="0">
                <a:solidFill>
                  <a:srgbClr val="183247"/>
                </a:solidFill>
              </a:rPr>
              <a:t>Frontend: React 18, Recharts, Tailwind CSS — static build served via S3 + CloudFront</a:t>
            </a:r>
            <a:endParaRPr sz="1125" b="0">
              <a:solidFill>
                <a:srgbClr val="183247"/>
              </a:solidFill>
            </a:endParaRPr>
          </a:p>
          <a:p>
            <a:pPr>
              <a:defRPr sz="1125" b="0">
                <a:solidFill>
                  <a:srgbClr val="183247"/>
                </a:solidFill>
              </a:defRPr>
            </a:pPr>
            <a:r>
              <a:rPr sz="1125" b="0">
                <a:solidFill>
                  <a:srgbClr val="183247"/>
                </a:solidFill>
              </a:rPr>
              <a:t>Backend / API: Node.js 18 + Express (Modules 1 &amp; 3), Python 3.10 + FastAPI/PyTorch (Module 2 inference), on ECS Fargate</a:t>
            </a:r>
            <a:endParaRPr sz="1125" b="0">
              <a:solidFill>
                <a:srgbClr val="183247"/>
              </a:solidFill>
            </a:endParaRPr>
          </a:p>
          <a:p>
            <a:pPr>
              <a:defRPr sz="1125" b="0">
                <a:solidFill>
                  <a:srgbClr val="183247"/>
                </a:solidFill>
              </a:defRPr>
            </a:pPr>
            <a:endParaRPr sz="1125" b="0">
              <a:solidFill>
                <a:srgbClr val="183247"/>
              </a:solidFill>
            </a:endParaRPr>
          </a:p>
          <a:p>
            <a:pPr>
              <a:defRPr sz="1125" b="0">
                <a:solidFill>
                  <a:srgbClr val="183247"/>
                </a:solidFill>
              </a:defRPr>
            </a:pPr>
            <a:r>
              <a:rPr sz="1125" b="0">
                <a:solidFill>
                  <a:srgbClr val="183247"/>
                </a:solidFill>
              </a:rPr>
              <a:t>Database / Storage: PostgreSQL 15 + PostGIS 3.3 on AWS RDS; Redis 7 (ElastiCache); S3 for camera-frame storage</a:t>
            </a:r>
            <a:endParaRPr sz="1125" b="0">
              <a:solidFill>
                <a:srgbClr val="183247"/>
              </a:solidFill>
            </a:endParaRPr>
          </a:p>
          <a:p>
            <a:pPr>
              <a:defRPr sz="1125" b="0">
                <a:solidFill>
                  <a:srgbClr val="183247"/>
                </a:solidFill>
              </a:defRPr>
            </a:pPr>
            <a:endParaRPr sz="1125" b="0">
              <a:solidFill>
                <a:srgbClr val="183247"/>
              </a:solidFill>
            </a:endParaRPr>
          </a:p>
          <a:p>
            <a:pPr>
              <a:defRPr sz="1125" b="0">
                <a:solidFill>
                  <a:srgbClr val="183247"/>
                </a:solidFill>
              </a:defRPr>
            </a:pPr>
            <a:r>
              <a:rPr sz="1125" b="0">
                <a:solidFill>
                  <a:srgbClr val="183247"/>
                </a:solidFill>
              </a:rPr>
              <a:t>Authentication: AWS Cognito issuing JWT access + rotating refresh tokens; RBAC (Organizer/Marshal/Admin) at the API layer</a:t>
            </a:r>
            <a:endParaRPr sz="1125" b="0">
              <a:solidFill>
                <a:srgbClr val="183247"/>
              </a:solidFill>
            </a:endParaRPr>
          </a:p>
          <a:p>
            <a:pPr>
              <a:defRPr sz="1125" b="0">
                <a:solidFill>
                  <a:srgbClr val="183247"/>
                </a:solidFill>
              </a:defRPr>
            </a:pPr>
            <a:endParaRPr sz="1125" b="0">
              <a:solidFill>
                <a:srgbClr val="183247"/>
              </a:solidFill>
            </a:endParaRPr>
          </a:p>
          <a:p>
            <a:pPr>
              <a:defRPr sz="1125" b="0">
                <a:solidFill>
                  <a:srgbClr val="183247"/>
                </a:solidFill>
              </a:defRPr>
            </a:pPr>
            <a:r>
              <a:rPr sz="1125" b="0">
                <a:solidFill>
                  <a:srgbClr val="183247"/>
                </a:solidFill>
              </a:rPr>
              <a:t>Cloud / DevOps: AWS ECS Fargate, API Gateway + ALB, Lambda (analytics rollups), CloudFormation deployment, GitHub Actions CI/CD</a:t>
            </a:r>
            <a:endParaRPr sz="1125" b="0">
              <a:solidFill>
                <a:srgbClr val="183247"/>
              </a:solidFill>
            </a:endParaRPr>
          </a:p>
          <a:p>
            <a:pPr>
              <a:defRPr sz="1125" b="0">
                <a:solidFill>
                  <a:srgbClr val="183247"/>
                </a:solidFill>
              </a:defRPr>
            </a:pPr>
            <a:endParaRPr sz="1125" b="0">
              <a:solidFill>
                <a:srgbClr val="183247"/>
              </a:solidFill>
            </a:endParaRPr>
          </a:p>
          <a:p>
            <a:pPr>
              <a:defRPr sz="1125" b="0">
                <a:solidFill>
                  <a:srgbClr val="183247"/>
                </a:solidFill>
              </a:defRPr>
            </a:pPr>
            <a:r>
              <a:rPr sz="1125" b="0">
                <a:solidFill>
                  <a:srgbClr val="183247"/>
                </a:solidFill>
              </a:rPr>
              <a:t>Monitoring / Analytics: CloudWatch metrics/alarms + Grafana dashboards; custom uptime monitor used for the 4-hour soak test</a:t>
            </a:r>
            <a:endParaRPr sz="1125" b="0">
              <a:solidFill>
                <a:srgbClr val="183247"/>
              </a:solidFill>
            </a:endParaRPr>
          </a:p>
          <a:p>
            <a:pPr>
              <a:defRPr sz="1125" b="0">
                <a:solidFill>
                  <a:srgbClr val="183247"/>
                </a:solidFill>
              </a:defRPr>
            </a:pPr>
            <a:endParaRPr sz="1125" b="0">
              <a:solidFill>
                <a:srgbClr val="183247"/>
              </a:solidFill>
            </a:endParaRPr>
          </a:p>
          <a:p>
            <a:pPr>
              <a:defRPr sz="1125" b="0">
                <a:solidFill>
                  <a:srgbClr val="183247"/>
                </a:solidFill>
              </a:defRPr>
            </a:pPr>
            <a:r>
              <a:rPr sz="1125" b="0">
                <a:solidFill>
                  <a:srgbClr val="183247"/>
                </a:solidFill>
              </a:rPr>
              <a:t>Repository + branch/tag: github.com/crowdcare-team/crowdcare-platform, tag v1.0-capstone-defense</a:t>
            </a:r>
            <a:endParaRPr sz="1125" b="0">
              <a:solidFill>
                <a:srgbClr val="183247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6" name="Rectangle 35"/>
          <p:cNvSpPr>
            <a:spLocks noGrp="1"/>
          </p:cNvSpPr>
          <p:nvPr/>
        </p:nvSpPr>
        <p:spPr>
          <a:xfrm>
            <a:off x="0" y="0"/>
            <a:ext cx="12182475" cy="76200"/>
          </a:xfrm>
          <a:prstGeom prst="rect">
            <a:avLst/>
          </a:prstGeom>
          <a:solidFill>
            <a:srgbClr val="0B7895"/>
          </a:solidFill>
          <a:ln w="0">
            <a:solidFill>
              <a:srgbClr val="0B7895"/>
            </a:solidFill>
            <a:prstDash val="solid"/>
          </a:ln>
        </p:spPr>
      </p:sp>
      <p:sp>
        <p:nvSpPr>
          <p:cNvPr id="2" name="Rounded Rectangle 1"/>
          <p:cNvSpPr>
            <a:spLocks noGrp="1"/>
          </p:cNvSpPr>
          <p:nvPr/>
        </p:nvSpPr>
        <p:spPr>
          <a:xfrm>
            <a:off x="438150" y="228600"/>
            <a:ext cx="1000125" cy="55245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C9D6E2"/>
            </a:solidFill>
            <a:prstDash val="solid"/>
          </a:ln>
        </p:spPr>
      </p:sp>
      <p:pic>
        <p:nvPicPr>
          <p:cNvPr id="38" name="Picture 3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4350" y="450359"/>
            <a:ext cx="847725" cy="108932"/>
          </a:xfrm>
          <a:prstGeom prst="rect">
            <a:avLst/>
          </a:prstGeom>
        </p:spPr>
      </p:pic>
      <p:sp>
        <p:nvSpPr>
          <p:cNvPr id="4" name="Rectangle 3"/>
          <p:cNvSpPr>
            <a:spLocks noGrp="1"/>
          </p:cNvSpPr>
          <p:nvPr/>
        </p:nvSpPr>
        <p:spPr>
          <a:xfrm>
            <a:off x="1657350" y="266700"/>
            <a:ext cx="6953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>
                <a:solidFill>
                  <a:srgbClr val="1264A3"/>
                </a:solidFill>
              </a:defRPr>
            </a:pPr>
            <a:r>
              <a:rPr sz="900" b="1">
                <a:solidFill>
                  <a:srgbClr val="1264A3"/>
                </a:solidFill>
              </a:rPr>
              <a:t>CSA15  |  CLOUD COMPUTING AND BIG DATA ANALYTICS</a:t>
            </a:r>
            <a:endParaRPr sz="900" b="1">
              <a:solidFill>
                <a:srgbClr val="1264A3"/>
              </a:solidFill>
            </a:endParaRPr>
          </a:p>
        </p:txBody>
      </p:sp>
      <p:sp>
        <p:nvSpPr>
          <p:cNvPr id="5" name="Rectangle 4"/>
          <p:cNvSpPr>
            <a:spLocks noGrp="1"/>
          </p:cNvSpPr>
          <p:nvPr/>
        </p:nvSpPr>
        <p:spPr>
          <a:xfrm>
            <a:off x="9572625" y="266700"/>
            <a:ext cx="209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825" b="1">
                <a:solidFill>
                  <a:srgbClr val="0B7895"/>
                </a:solidFill>
              </a:defRPr>
            </a:pPr>
            <a:r>
              <a:rPr sz="825" b="1">
                <a:solidFill>
                  <a:srgbClr val="0B7895"/>
                </a:solidFill>
              </a:rPr>
              <a:t>CAPSTONE FINAL DEFENSE</a:t>
            </a:r>
            <a:endParaRPr sz="825" b="1">
              <a:solidFill>
                <a:srgbClr val="0B7895"/>
              </a:solidFill>
            </a:endParaRPr>
          </a:p>
        </p:txBody>
      </p:sp>
      <p:sp>
        <p:nvSpPr>
          <p:cNvPr id="6" name="Rectangle 5"/>
          <p:cNvSpPr>
            <a:spLocks noGrp="1"/>
          </p:cNvSpPr>
          <p:nvPr/>
        </p:nvSpPr>
        <p:spPr>
          <a:xfrm>
            <a:off x="514350" y="981075"/>
            <a:ext cx="10287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2325" b="1">
                <a:solidFill>
                  <a:srgbClr val="0B2E4F"/>
                </a:solidFill>
              </a:defRPr>
            </a:pPr>
            <a:r>
              <a:rPr sz="2325" b="1">
                <a:solidFill>
                  <a:srgbClr val="0B2E4F"/>
                </a:solidFill>
              </a:rPr>
              <a:t>Deployment and Functional Flow</a:t>
            </a:r>
            <a:endParaRPr sz="2325" b="1">
              <a:solidFill>
                <a:srgbClr val="0B2E4F"/>
              </a:solidFill>
            </a:endParaRPr>
          </a:p>
        </p:txBody>
      </p:sp>
      <p:sp>
        <p:nvSpPr>
          <p:cNvPr id="7" name="Rectangle 6"/>
          <p:cNvSpPr>
            <a:spLocks noGrp="1"/>
          </p:cNvSpPr>
          <p:nvPr/>
        </p:nvSpPr>
        <p:spPr>
          <a:xfrm>
            <a:off x="533400" y="1457325"/>
            <a:ext cx="10287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125" b="0">
                <a:solidFill>
                  <a:srgbClr val="52677A"/>
                </a:solidFill>
              </a:defRPr>
            </a:pPr>
            <a:r>
              <a:rPr sz="1125" b="0">
                <a:solidFill>
                  <a:srgbClr val="52677A"/>
                </a:solidFill>
              </a:rPr>
              <a:t>Trace one complete request from user input to cloud processing and returned output.</a:t>
            </a:r>
            <a:endParaRPr sz="1125" b="0">
              <a:solidFill>
                <a:srgbClr val="52677A"/>
              </a:solidFill>
            </a:endParaRPr>
          </a:p>
        </p:txBody>
      </p:sp>
      <p:sp>
        <p:nvSpPr>
          <p:cNvPr id="8" name="Rectangle 7"/>
          <p:cNvSpPr>
            <a:spLocks noGrp="1"/>
          </p:cNvSpPr>
          <p:nvPr/>
        </p:nvSpPr>
        <p:spPr>
          <a:xfrm>
            <a:off x="514350" y="1847850"/>
            <a:ext cx="11153775" cy="19050"/>
          </a:xfrm>
          <a:prstGeom prst="rect">
            <a:avLst/>
          </a:prstGeom>
          <a:solidFill>
            <a:srgbClr val="C9D6E2"/>
          </a:solidFill>
          <a:ln w="0">
            <a:solidFill>
              <a:srgbClr val="C9D6E2"/>
            </a:solidFill>
            <a:prstDash val="solid"/>
          </a:ln>
        </p:spPr>
      </p:sp>
      <p:sp>
        <p:nvSpPr>
          <p:cNvPr id="9" name="Rectangle 8"/>
          <p:cNvSpPr>
            <a:spLocks noGrp="1"/>
          </p:cNvSpPr>
          <p:nvPr/>
        </p:nvSpPr>
        <p:spPr>
          <a:xfrm>
            <a:off x="0" y="6419850"/>
            <a:ext cx="12182475" cy="438150"/>
          </a:xfrm>
          <a:prstGeom prst="rect">
            <a:avLst/>
          </a:prstGeom>
          <a:solidFill>
            <a:srgbClr val="0B2E4F"/>
          </a:solidFill>
          <a:ln w="0">
            <a:solidFill>
              <a:srgbClr val="0B2E4F"/>
            </a:solidFill>
            <a:prstDash val="solid"/>
          </a:ln>
        </p:spPr>
      </p:sp>
      <p:sp>
        <p:nvSpPr>
          <p:cNvPr id="10" name="Rectangle 9"/>
          <p:cNvSpPr>
            <a:spLocks noGrp="1"/>
          </p:cNvSpPr>
          <p:nvPr/>
        </p:nvSpPr>
        <p:spPr>
          <a:xfrm>
            <a:off x="533400" y="6515100"/>
            <a:ext cx="9810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STUDENT ACTION  |  Replace every [ENTER ...] field. Delete this rail before the final presentation.</a:t>
            </a:r>
            <a:endParaRPr sz="900" b="1">
              <a:solidFill>
                <a:srgbClr val="FFFFFF"/>
              </a:solidFill>
            </a:endParaRPr>
          </a:p>
        </p:txBody>
      </p:sp>
      <p:sp>
        <p:nvSpPr>
          <p:cNvPr id="11" name="Rectangle 10"/>
          <p:cNvSpPr>
            <a:spLocks noGrp="1"/>
          </p:cNvSpPr>
          <p:nvPr/>
        </p:nvSpPr>
        <p:spPr>
          <a:xfrm>
            <a:off x="11049000" y="6515100"/>
            <a:ext cx="6191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75" b="1">
                <a:solidFill>
                  <a:srgbClr val="D39216"/>
                </a:solidFill>
              </a:defRPr>
            </a:pPr>
            <a:r>
              <a:rPr sz="975" b="1">
                <a:solidFill>
                  <a:srgbClr val="D39216"/>
                </a:solidFill>
              </a:rPr>
              <a:t>21</a:t>
            </a:r>
            <a:endParaRPr sz="975" b="1">
              <a:solidFill>
                <a:srgbClr val="D39216"/>
              </a:solidFill>
            </a:endParaRPr>
          </a:p>
        </p:txBody>
      </p:sp>
      <p:sp>
        <p:nvSpPr>
          <p:cNvPr id="12" name="Rectangle 11"/>
          <p:cNvSpPr>
            <a:spLocks noGrp="1"/>
          </p:cNvSpPr>
          <p:nvPr/>
        </p:nvSpPr>
        <p:spPr>
          <a:xfrm>
            <a:off x="4191000" y="6715125"/>
            <a:ext cx="3810000" cy="104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600" b="0">
                <a:solidFill>
                  <a:srgbClr val="BFD3E1"/>
                </a:solidFill>
              </a:defRPr>
            </a:pPr>
            <a:r>
              <a:rPr sz="600" b="0">
                <a:solidFill>
                  <a:srgbClr val="BFD3E1"/>
                </a:solidFill>
              </a:rPr>
              <a:t>Dr. C. Rajesh Babu | SSETSCS415</a:t>
            </a:r>
            <a:endParaRPr sz="600" b="0">
              <a:solidFill>
                <a:srgbClr val="BFD3E1"/>
              </a:solidFill>
            </a:endParaRPr>
          </a:p>
        </p:txBody>
      </p:sp>
      <p:sp>
        <p:nvSpPr>
          <p:cNvPr id="13" name="Rectangle 12"/>
          <p:cNvSpPr>
            <a:spLocks noGrp="1"/>
          </p:cNvSpPr>
          <p:nvPr/>
        </p:nvSpPr>
        <p:spPr>
          <a:xfrm>
            <a:off x="514350" y="2381250"/>
            <a:ext cx="2616994" cy="1066800"/>
          </a:xfrm>
          <a:prstGeom prst="rect">
            <a:avLst/>
          </a:prstGeom>
          <a:solidFill>
            <a:srgbClr val="0B2E4F"/>
          </a:solidFill>
          <a:ln w="0">
            <a:noFill/>
            <a:prstDash val="solid"/>
          </a:ln>
        </p:spPr>
      </p:sp>
      <p:sp>
        <p:nvSpPr>
          <p:cNvPr id="14" name="Rectangle 13"/>
          <p:cNvSpPr>
            <a:spLocks noGrp="1"/>
          </p:cNvSpPr>
          <p:nvPr/>
        </p:nvSpPr>
        <p:spPr>
          <a:xfrm>
            <a:off x="628650" y="2590800"/>
            <a:ext cx="2388394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USER INPUT</a:t>
            </a:r>
            <a:endParaRPr sz="1275" b="1">
              <a:solidFill>
                <a:srgbClr val="FFFFFF"/>
              </a:solidFill>
            </a:endParaRPr>
          </a:p>
        </p:txBody>
      </p:sp>
      <p:sp>
        <p:nvSpPr>
          <p:cNvPr id="15" name="Right Arrow 14"/>
          <p:cNvSpPr>
            <a:spLocks noGrp="1"/>
          </p:cNvSpPr>
          <p:nvPr/>
        </p:nvSpPr>
        <p:spPr>
          <a:xfrm>
            <a:off x="3159919" y="2743200"/>
            <a:ext cx="171450" cy="342900"/>
          </a:xfrm>
          <a:prstGeom prst="rightArrow">
            <a:avLst/>
          </a:prstGeom>
          <a:solidFill>
            <a:srgbClr val="D39216"/>
          </a:solidFill>
          <a:ln w="0">
            <a:solidFill>
              <a:srgbClr val="D39216"/>
            </a:solidFill>
            <a:prstDash val="solid"/>
          </a:ln>
        </p:spPr>
      </p:sp>
      <p:sp>
        <p:nvSpPr>
          <p:cNvPr id="16" name="Rectangle 15"/>
          <p:cNvSpPr>
            <a:spLocks noGrp="1"/>
          </p:cNvSpPr>
          <p:nvPr/>
        </p:nvSpPr>
        <p:spPr>
          <a:xfrm>
            <a:off x="3359944" y="2381250"/>
            <a:ext cx="2616994" cy="1066800"/>
          </a:xfrm>
          <a:prstGeom prst="rect">
            <a:avLst/>
          </a:prstGeom>
          <a:solidFill>
            <a:srgbClr val="1264A3"/>
          </a:solidFill>
          <a:ln w="0">
            <a:noFill/>
            <a:prstDash val="solid"/>
          </a:ln>
        </p:spPr>
      </p:sp>
      <p:sp>
        <p:nvSpPr>
          <p:cNvPr id="17" name="Rectangle 16"/>
          <p:cNvSpPr>
            <a:spLocks noGrp="1"/>
          </p:cNvSpPr>
          <p:nvPr/>
        </p:nvSpPr>
        <p:spPr>
          <a:xfrm>
            <a:off x="3474244" y="2590800"/>
            <a:ext cx="2388394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API + PROCESSING</a:t>
            </a:r>
            <a:endParaRPr sz="1275" b="1">
              <a:solidFill>
                <a:srgbClr val="FFFFFF"/>
              </a:solidFill>
            </a:endParaRPr>
          </a:p>
        </p:txBody>
      </p:sp>
      <p:sp>
        <p:nvSpPr>
          <p:cNvPr id="18" name="Right Arrow 17"/>
          <p:cNvSpPr>
            <a:spLocks noGrp="1"/>
          </p:cNvSpPr>
          <p:nvPr/>
        </p:nvSpPr>
        <p:spPr>
          <a:xfrm>
            <a:off x="6005513" y="2743200"/>
            <a:ext cx="171450" cy="342900"/>
          </a:xfrm>
          <a:prstGeom prst="rightArrow">
            <a:avLst/>
          </a:prstGeom>
          <a:solidFill>
            <a:srgbClr val="D39216"/>
          </a:solidFill>
          <a:ln w="0">
            <a:solidFill>
              <a:srgbClr val="D39216"/>
            </a:solidFill>
            <a:prstDash val="solid"/>
          </a:ln>
        </p:spPr>
      </p:sp>
      <p:sp>
        <p:nvSpPr>
          <p:cNvPr id="19" name="Rectangle 18"/>
          <p:cNvSpPr>
            <a:spLocks noGrp="1"/>
          </p:cNvSpPr>
          <p:nvPr/>
        </p:nvSpPr>
        <p:spPr>
          <a:xfrm>
            <a:off x="6205538" y="2381250"/>
            <a:ext cx="2616994" cy="1066800"/>
          </a:xfrm>
          <a:prstGeom prst="rect">
            <a:avLst/>
          </a:prstGeom>
          <a:solidFill>
            <a:srgbClr val="0B2E4F"/>
          </a:solidFill>
          <a:ln w="0">
            <a:noFill/>
            <a:prstDash val="solid"/>
          </a:ln>
        </p:spPr>
      </p:sp>
      <p:sp>
        <p:nvSpPr>
          <p:cNvPr id="20" name="Rectangle 19"/>
          <p:cNvSpPr>
            <a:spLocks noGrp="1"/>
          </p:cNvSpPr>
          <p:nvPr/>
        </p:nvSpPr>
        <p:spPr>
          <a:xfrm>
            <a:off x="6319838" y="2590800"/>
            <a:ext cx="2388394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CLOUD DATA / SERVICE</a:t>
            </a:r>
            <a:endParaRPr sz="1275" b="1">
              <a:solidFill>
                <a:srgbClr val="FFFFFF"/>
              </a:solidFill>
            </a:endParaRPr>
          </a:p>
        </p:txBody>
      </p:sp>
      <p:sp>
        <p:nvSpPr>
          <p:cNvPr id="21" name="Right Arrow 20"/>
          <p:cNvSpPr>
            <a:spLocks noGrp="1"/>
          </p:cNvSpPr>
          <p:nvPr/>
        </p:nvSpPr>
        <p:spPr>
          <a:xfrm>
            <a:off x="8851106" y="2743200"/>
            <a:ext cx="171450" cy="342900"/>
          </a:xfrm>
          <a:prstGeom prst="rightArrow">
            <a:avLst/>
          </a:prstGeom>
          <a:solidFill>
            <a:srgbClr val="D39216"/>
          </a:solidFill>
          <a:ln w="0">
            <a:solidFill>
              <a:srgbClr val="D39216"/>
            </a:solidFill>
            <a:prstDash val="solid"/>
          </a:ln>
        </p:spPr>
      </p:sp>
      <p:sp>
        <p:nvSpPr>
          <p:cNvPr id="22" name="Rectangle 21"/>
          <p:cNvSpPr>
            <a:spLocks noGrp="1"/>
          </p:cNvSpPr>
          <p:nvPr/>
        </p:nvSpPr>
        <p:spPr>
          <a:xfrm>
            <a:off x="9051131" y="2381250"/>
            <a:ext cx="2616994" cy="1066800"/>
          </a:xfrm>
          <a:prstGeom prst="rect">
            <a:avLst/>
          </a:prstGeom>
          <a:solidFill>
            <a:srgbClr val="1264A3"/>
          </a:solidFill>
          <a:ln w="0">
            <a:noFill/>
            <a:prstDash val="solid"/>
          </a:ln>
        </p:spPr>
      </p:sp>
      <p:sp>
        <p:nvSpPr>
          <p:cNvPr id="23" name="Rectangle 22"/>
          <p:cNvSpPr>
            <a:spLocks noGrp="1"/>
          </p:cNvSpPr>
          <p:nvPr/>
        </p:nvSpPr>
        <p:spPr>
          <a:xfrm>
            <a:off x="9165431" y="2590800"/>
            <a:ext cx="2388394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RESPONSE + EVIDENCE</a:t>
            </a:r>
            <a:endParaRPr sz="1275" b="1">
              <a:solidFill>
                <a:srgbClr val="FFFFFF"/>
              </a:solidFill>
            </a:endParaRPr>
          </a:p>
        </p:txBody>
      </p:sp>
      <p:sp>
        <p:nvSpPr>
          <p:cNvPr id="24" name="Rectangle 23"/>
          <p:cNvSpPr>
            <a:spLocks noGrp="1"/>
          </p:cNvSpPr>
          <p:nvPr/>
        </p:nvSpPr>
        <p:spPr>
          <a:xfrm>
            <a:off x="514350" y="3943350"/>
            <a:ext cx="3565525" cy="19050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6E2"/>
            </a:solidFill>
            <a:prstDash val="solid"/>
          </a:ln>
        </p:spPr>
      </p:sp>
      <p:sp>
        <p:nvSpPr>
          <p:cNvPr id="25" name="Rectangle 24"/>
          <p:cNvSpPr>
            <a:spLocks noGrp="1"/>
          </p:cNvSpPr>
          <p:nvPr/>
        </p:nvSpPr>
        <p:spPr>
          <a:xfrm>
            <a:off x="514350" y="3943350"/>
            <a:ext cx="57150" cy="1905000"/>
          </a:xfrm>
          <a:prstGeom prst="rect">
            <a:avLst/>
          </a:prstGeom>
          <a:solidFill>
            <a:srgbClr val="1264A3"/>
          </a:solidFill>
          <a:ln w="0">
            <a:solidFill>
              <a:srgbClr val="1264A3"/>
            </a:solidFill>
            <a:prstDash val="solid"/>
          </a:ln>
        </p:spPr>
      </p:sp>
      <p:sp>
        <p:nvSpPr>
          <p:cNvPr id="26" name="Rectangle 25"/>
          <p:cNvSpPr>
            <a:spLocks noGrp="1"/>
          </p:cNvSpPr>
          <p:nvPr/>
        </p:nvSpPr>
        <p:spPr>
          <a:xfrm>
            <a:off x="723900" y="4095750"/>
            <a:ext cx="316547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>
                <a:solidFill>
                  <a:srgbClr val="1264A3"/>
                </a:solidFill>
              </a:defRPr>
            </a:pPr>
            <a:r>
              <a:rPr sz="900" b="1">
                <a:solidFill>
                  <a:srgbClr val="1264A3"/>
                </a:solidFill>
              </a:rPr>
              <a:t>DEPLOYMENT ENVIRONMENT</a:t>
            </a:r>
            <a:endParaRPr sz="900" b="1">
              <a:solidFill>
                <a:srgbClr val="1264A3"/>
              </a:solidFill>
            </a:endParaRPr>
          </a:p>
        </p:txBody>
      </p:sp>
      <p:sp>
        <p:nvSpPr>
          <p:cNvPr id="27" name="Rectangle 26"/>
          <p:cNvSpPr>
            <a:spLocks noGrp="1"/>
          </p:cNvSpPr>
          <p:nvPr/>
        </p:nvSpPr>
        <p:spPr>
          <a:xfrm>
            <a:off x="723900" y="4400550"/>
            <a:ext cx="3165475" cy="1314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050" b="0">
                <a:solidFill>
                  <a:srgbClr val="183247"/>
                </a:solidFill>
              </a:defRPr>
            </a:pPr>
            <a:r>
              <a:rPr sz="1050" b="0">
                <a:solidFill>
                  <a:srgbClr val="183247"/>
                </a:solidFill>
              </a:rPr>
              <a:t>AWS ap-south-1 (Mumbai); ECS Fargate (1 vCPU/2GB per service, 3 services), RDS PostgreSQL 15 (db.t3.medium), ElastiCache Redis 7, Lambda Node.js 18; API Gateway custom domain crowdcare-demo.example.com</a:t>
            </a:r>
            <a:endParaRPr sz="1050" b="0">
              <a:solidFill>
                <a:srgbClr val="183247"/>
              </a:solidFill>
            </a:endParaRPr>
          </a:p>
        </p:txBody>
      </p:sp>
      <p:sp>
        <p:nvSpPr>
          <p:cNvPr id="28" name="Rectangle 27"/>
          <p:cNvSpPr>
            <a:spLocks noGrp="1"/>
          </p:cNvSpPr>
          <p:nvPr/>
        </p:nvSpPr>
        <p:spPr>
          <a:xfrm>
            <a:off x="4308475" y="3943350"/>
            <a:ext cx="3565525" cy="19050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6E2"/>
            </a:solidFill>
            <a:prstDash val="solid"/>
          </a:ln>
        </p:spPr>
      </p:sp>
      <p:sp>
        <p:nvSpPr>
          <p:cNvPr id="29" name="Rectangle 28"/>
          <p:cNvSpPr>
            <a:spLocks noGrp="1"/>
          </p:cNvSpPr>
          <p:nvPr/>
        </p:nvSpPr>
        <p:spPr>
          <a:xfrm>
            <a:off x="4308475" y="3943350"/>
            <a:ext cx="57150" cy="1905000"/>
          </a:xfrm>
          <a:prstGeom prst="rect">
            <a:avLst/>
          </a:prstGeom>
          <a:solidFill>
            <a:srgbClr val="0B7895"/>
          </a:solidFill>
          <a:ln w="0">
            <a:solidFill>
              <a:srgbClr val="0B7895"/>
            </a:solidFill>
            <a:prstDash val="solid"/>
          </a:ln>
        </p:spPr>
      </p:sp>
      <p:sp>
        <p:nvSpPr>
          <p:cNvPr id="30" name="Rectangle 29"/>
          <p:cNvSpPr>
            <a:spLocks noGrp="1"/>
          </p:cNvSpPr>
          <p:nvPr/>
        </p:nvSpPr>
        <p:spPr>
          <a:xfrm>
            <a:off x="4518025" y="4095750"/>
            <a:ext cx="316547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>
                <a:solidFill>
                  <a:srgbClr val="0B7895"/>
                </a:solidFill>
              </a:defRPr>
            </a:pPr>
            <a:r>
              <a:rPr sz="900" b="1">
                <a:solidFill>
                  <a:srgbClr val="0B7895"/>
                </a:solidFill>
              </a:rPr>
              <a:t>FUNCTIONAL PROOF</a:t>
            </a:r>
            <a:endParaRPr sz="900" b="1">
              <a:solidFill>
                <a:srgbClr val="0B7895"/>
              </a:solidFill>
            </a:endParaRPr>
          </a:p>
        </p:txBody>
      </p:sp>
      <p:sp>
        <p:nvSpPr>
          <p:cNvPr id="31" name="Rectangle 30"/>
          <p:cNvSpPr>
            <a:spLocks noGrp="1"/>
          </p:cNvSpPr>
          <p:nvPr/>
        </p:nvSpPr>
        <p:spPr>
          <a:xfrm>
            <a:off x="4518025" y="4400550"/>
            <a:ext cx="3165475" cy="1314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050" b="0">
                <a:solidFill>
                  <a:srgbClr val="183247"/>
                </a:solidFill>
              </a:defRPr>
            </a:pPr>
            <a:r>
              <a:rPr sz="1050" b="0">
                <a:solidFill>
                  <a:srgbClr val="183247"/>
                </a:solidFill>
              </a:rPr>
              <a:t>Demo path: marshal submits an incident via the PWA → POST /incidents → PostGIS nearest-responder query → 200 response with assignedResponderId and etaSeconds in 1.9s avg → visible on the organizer dashboard within one WebSocket cycle</a:t>
            </a:r>
            <a:endParaRPr sz="1050" b="0">
              <a:solidFill>
                <a:srgbClr val="183247"/>
              </a:solidFill>
            </a:endParaRPr>
          </a:p>
        </p:txBody>
      </p:sp>
      <p:sp>
        <p:nvSpPr>
          <p:cNvPr id="32" name="Rectangle 31"/>
          <p:cNvSpPr>
            <a:spLocks noGrp="1"/>
          </p:cNvSpPr>
          <p:nvPr/>
        </p:nvSpPr>
        <p:spPr>
          <a:xfrm>
            <a:off x="8102600" y="3943350"/>
            <a:ext cx="3565525" cy="19050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6E2"/>
            </a:solidFill>
            <a:prstDash val="solid"/>
          </a:ln>
        </p:spPr>
      </p:sp>
      <p:sp>
        <p:nvSpPr>
          <p:cNvPr id="33" name="Rectangle 32"/>
          <p:cNvSpPr>
            <a:spLocks noGrp="1"/>
          </p:cNvSpPr>
          <p:nvPr/>
        </p:nvSpPr>
        <p:spPr>
          <a:xfrm>
            <a:off x="8102600" y="3943350"/>
            <a:ext cx="57150" cy="1905000"/>
          </a:xfrm>
          <a:prstGeom prst="rect">
            <a:avLst/>
          </a:prstGeom>
          <a:solidFill>
            <a:srgbClr val="D39216"/>
          </a:solidFill>
          <a:ln w="0">
            <a:solidFill>
              <a:srgbClr val="D39216"/>
            </a:solidFill>
            <a:prstDash val="solid"/>
          </a:ln>
        </p:spPr>
      </p:sp>
      <p:sp>
        <p:nvSpPr>
          <p:cNvPr id="34" name="Rectangle 33"/>
          <p:cNvSpPr>
            <a:spLocks noGrp="1"/>
          </p:cNvSpPr>
          <p:nvPr/>
        </p:nvSpPr>
        <p:spPr>
          <a:xfrm>
            <a:off x="8312150" y="4095750"/>
            <a:ext cx="316547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>
                <a:solidFill>
                  <a:srgbClr val="D39216"/>
                </a:solidFill>
              </a:defRPr>
            </a:pPr>
            <a:r>
              <a:rPr sz="900" b="1">
                <a:solidFill>
                  <a:srgbClr val="D39216"/>
                </a:solidFill>
              </a:rPr>
              <a:t>OPERATIONAL PROOF</a:t>
            </a:r>
            <a:endParaRPr sz="900" b="1">
              <a:solidFill>
                <a:srgbClr val="D39216"/>
              </a:solidFill>
            </a:endParaRPr>
          </a:p>
        </p:txBody>
      </p:sp>
      <p:sp>
        <p:nvSpPr>
          <p:cNvPr id="35" name="Rectangle 34"/>
          <p:cNvSpPr>
            <a:spLocks noGrp="1"/>
          </p:cNvSpPr>
          <p:nvPr/>
        </p:nvSpPr>
        <p:spPr>
          <a:xfrm>
            <a:off x="8312150" y="4400550"/>
            <a:ext cx="3165475" cy="1314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050" b="0">
                <a:solidFill>
                  <a:srgbClr val="183247"/>
                </a:solidFill>
              </a:defRPr>
            </a:pPr>
            <a:r>
              <a:rPr sz="1050" b="0">
                <a:solidFill>
                  <a:srgbClr val="183247"/>
                </a:solidFill>
              </a:rPr>
              <a:t>CloudWatch logs show 0 unhandled 5xx errors over the 4-hour soak test; ECS health checks stayed green throughout; RDS automated daily snapshots provide the rollback route</a:t>
            </a:r>
            <a:endParaRPr sz="1050" b="0">
              <a:solidFill>
                <a:srgbClr val="183247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1" name="Rectangle 30"/>
          <p:cNvSpPr>
            <a:spLocks noGrp="1"/>
          </p:cNvSpPr>
          <p:nvPr/>
        </p:nvSpPr>
        <p:spPr>
          <a:xfrm>
            <a:off x="0" y="0"/>
            <a:ext cx="12182475" cy="76200"/>
          </a:xfrm>
          <a:prstGeom prst="rect">
            <a:avLst/>
          </a:prstGeom>
          <a:solidFill>
            <a:srgbClr val="0B7895"/>
          </a:solidFill>
          <a:ln w="0">
            <a:solidFill>
              <a:srgbClr val="0B7895"/>
            </a:solidFill>
            <a:prstDash val="solid"/>
          </a:ln>
        </p:spPr>
      </p:sp>
      <p:sp>
        <p:nvSpPr>
          <p:cNvPr id="2" name="Rounded Rectangle 1"/>
          <p:cNvSpPr>
            <a:spLocks noGrp="1"/>
          </p:cNvSpPr>
          <p:nvPr/>
        </p:nvSpPr>
        <p:spPr>
          <a:xfrm>
            <a:off x="438150" y="228600"/>
            <a:ext cx="1000125" cy="55245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C9D6E2"/>
            </a:solidFill>
            <a:prstDash val="solid"/>
          </a:ln>
        </p:spPr>
      </p:sp>
      <p:pic>
        <p:nvPicPr>
          <p:cNvPr id="33" name="Picture 3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4350" y="450359"/>
            <a:ext cx="847725" cy="108932"/>
          </a:xfrm>
          <a:prstGeom prst="rect">
            <a:avLst/>
          </a:prstGeom>
        </p:spPr>
      </p:pic>
      <p:sp>
        <p:nvSpPr>
          <p:cNvPr id="4" name="Rectangle 3"/>
          <p:cNvSpPr>
            <a:spLocks noGrp="1"/>
          </p:cNvSpPr>
          <p:nvPr/>
        </p:nvSpPr>
        <p:spPr>
          <a:xfrm>
            <a:off x="1657350" y="266700"/>
            <a:ext cx="6953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>
                <a:solidFill>
                  <a:srgbClr val="1264A3"/>
                </a:solidFill>
              </a:defRPr>
            </a:pPr>
            <a:r>
              <a:rPr sz="900" b="1">
                <a:solidFill>
                  <a:srgbClr val="1264A3"/>
                </a:solidFill>
              </a:rPr>
              <a:t>CSA15  |  CLOUD COMPUTING AND BIG DATA ANALYTICS</a:t>
            </a:r>
            <a:endParaRPr sz="900" b="1">
              <a:solidFill>
                <a:srgbClr val="1264A3"/>
              </a:solidFill>
            </a:endParaRPr>
          </a:p>
        </p:txBody>
      </p:sp>
      <p:sp>
        <p:nvSpPr>
          <p:cNvPr id="5" name="Rectangle 4"/>
          <p:cNvSpPr>
            <a:spLocks noGrp="1"/>
          </p:cNvSpPr>
          <p:nvPr/>
        </p:nvSpPr>
        <p:spPr>
          <a:xfrm>
            <a:off x="9572625" y="266700"/>
            <a:ext cx="209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825" b="1">
                <a:solidFill>
                  <a:srgbClr val="0B7895"/>
                </a:solidFill>
              </a:defRPr>
            </a:pPr>
            <a:r>
              <a:rPr sz="825" b="1">
                <a:solidFill>
                  <a:srgbClr val="0B7895"/>
                </a:solidFill>
              </a:rPr>
              <a:t>CAPSTONE FINAL DEFENSE</a:t>
            </a:r>
            <a:endParaRPr sz="825" b="1">
              <a:solidFill>
                <a:srgbClr val="0B7895"/>
              </a:solidFill>
            </a:endParaRPr>
          </a:p>
        </p:txBody>
      </p:sp>
      <p:sp>
        <p:nvSpPr>
          <p:cNvPr id="6" name="Rectangle 5"/>
          <p:cNvSpPr>
            <a:spLocks noGrp="1"/>
          </p:cNvSpPr>
          <p:nvPr/>
        </p:nvSpPr>
        <p:spPr>
          <a:xfrm>
            <a:off x="514350" y="981075"/>
            <a:ext cx="10287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2325" b="1">
                <a:solidFill>
                  <a:srgbClr val="0B2E4F"/>
                </a:solidFill>
              </a:defRPr>
            </a:pPr>
            <a:r>
              <a:rPr sz="2325" b="1">
                <a:solidFill>
                  <a:srgbClr val="0B2E4F"/>
                </a:solidFill>
              </a:rPr>
              <a:t>Results and Performance Evaluation</a:t>
            </a:r>
            <a:endParaRPr sz="2325" b="1">
              <a:solidFill>
                <a:srgbClr val="0B2E4F"/>
              </a:solidFill>
            </a:endParaRPr>
          </a:p>
        </p:txBody>
      </p:sp>
      <p:sp>
        <p:nvSpPr>
          <p:cNvPr id="7" name="Rectangle 6"/>
          <p:cNvSpPr>
            <a:spLocks noGrp="1"/>
          </p:cNvSpPr>
          <p:nvPr/>
        </p:nvSpPr>
        <p:spPr>
          <a:xfrm>
            <a:off x="533400" y="1457325"/>
            <a:ext cx="10287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125" b="0">
                <a:solidFill>
                  <a:srgbClr val="52677A"/>
                </a:solidFill>
              </a:defRPr>
            </a:pPr>
            <a:r>
              <a:rPr sz="1125" b="0">
                <a:solidFill>
                  <a:srgbClr val="52677A"/>
                </a:solidFill>
              </a:rPr>
              <a:t>Compare achieved measurements with targets or a meaningful baseline.</a:t>
            </a:r>
            <a:endParaRPr sz="1125" b="0">
              <a:solidFill>
                <a:srgbClr val="52677A"/>
              </a:solidFill>
            </a:endParaRPr>
          </a:p>
        </p:txBody>
      </p:sp>
      <p:sp>
        <p:nvSpPr>
          <p:cNvPr id="8" name="Rectangle 7"/>
          <p:cNvSpPr>
            <a:spLocks noGrp="1"/>
          </p:cNvSpPr>
          <p:nvPr/>
        </p:nvSpPr>
        <p:spPr>
          <a:xfrm>
            <a:off x="514350" y="1847850"/>
            <a:ext cx="11153775" cy="19050"/>
          </a:xfrm>
          <a:prstGeom prst="rect">
            <a:avLst/>
          </a:prstGeom>
          <a:solidFill>
            <a:srgbClr val="C9D6E2"/>
          </a:solidFill>
          <a:ln w="0">
            <a:solidFill>
              <a:srgbClr val="C9D6E2"/>
            </a:solidFill>
            <a:prstDash val="solid"/>
          </a:ln>
        </p:spPr>
      </p:sp>
      <p:sp>
        <p:nvSpPr>
          <p:cNvPr id="9" name="Rectangle 8"/>
          <p:cNvSpPr>
            <a:spLocks noGrp="1"/>
          </p:cNvSpPr>
          <p:nvPr/>
        </p:nvSpPr>
        <p:spPr>
          <a:xfrm>
            <a:off x="0" y="6419850"/>
            <a:ext cx="12182475" cy="438150"/>
          </a:xfrm>
          <a:prstGeom prst="rect">
            <a:avLst/>
          </a:prstGeom>
          <a:solidFill>
            <a:srgbClr val="0B2E4F"/>
          </a:solidFill>
          <a:ln w="0">
            <a:solidFill>
              <a:srgbClr val="0B2E4F"/>
            </a:solidFill>
            <a:prstDash val="solid"/>
          </a:ln>
        </p:spPr>
      </p:sp>
      <p:sp>
        <p:nvSpPr>
          <p:cNvPr id="10" name="Rectangle 9"/>
          <p:cNvSpPr>
            <a:spLocks noGrp="1"/>
          </p:cNvSpPr>
          <p:nvPr/>
        </p:nvSpPr>
        <p:spPr>
          <a:xfrm>
            <a:off x="533400" y="6515100"/>
            <a:ext cx="9810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STUDENT ACTION  |  Replace every [ENTER ...] field. Delete this rail before the final presentation.</a:t>
            </a:r>
            <a:endParaRPr sz="900" b="1">
              <a:solidFill>
                <a:srgbClr val="FFFFFF"/>
              </a:solidFill>
            </a:endParaRPr>
          </a:p>
        </p:txBody>
      </p:sp>
      <p:sp>
        <p:nvSpPr>
          <p:cNvPr id="11" name="Rectangle 10"/>
          <p:cNvSpPr>
            <a:spLocks noGrp="1"/>
          </p:cNvSpPr>
          <p:nvPr/>
        </p:nvSpPr>
        <p:spPr>
          <a:xfrm>
            <a:off x="11049000" y="6515100"/>
            <a:ext cx="6191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75" b="1">
                <a:solidFill>
                  <a:srgbClr val="D39216"/>
                </a:solidFill>
              </a:defRPr>
            </a:pPr>
            <a:r>
              <a:rPr sz="975" b="1">
                <a:solidFill>
                  <a:srgbClr val="D39216"/>
                </a:solidFill>
              </a:rPr>
              <a:t>22</a:t>
            </a:r>
            <a:endParaRPr sz="975" b="1">
              <a:solidFill>
                <a:srgbClr val="D39216"/>
              </a:solidFill>
            </a:endParaRPr>
          </a:p>
        </p:txBody>
      </p:sp>
      <p:sp>
        <p:nvSpPr>
          <p:cNvPr id="12" name="Rectangle 11"/>
          <p:cNvSpPr>
            <a:spLocks noGrp="1"/>
          </p:cNvSpPr>
          <p:nvPr/>
        </p:nvSpPr>
        <p:spPr>
          <a:xfrm>
            <a:off x="4191000" y="6715125"/>
            <a:ext cx="3810000" cy="104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600" b="0">
                <a:solidFill>
                  <a:srgbClr val="BFD3E1"/>
                </a:solidFill>
              </a:defRPr>
            </a:pPr>
            <a:r>
              <a:rPr sz="600" b="0">
                <a:solidFill>
                  <a:srgbClr val="BFD3E1"/>
                </a:solidFill>
              </a:rPr>
              <a:t>Dr. C. Rajesh Babu | SSETSCS415</a:t>
            </a:r>
            <a:endParaRPr sz="600" b="0">
              <a:solidFill>
                <a:srgbClr val="BFD3E1"/>
              </a:solidFill>
            </a:endParaRPr>
          </a:p>
        </p:txBody>
      </p:sp>
      <p:sp>
        <p:nvSpPr>
          <p:cNvPr id="13" name="Rectangle 12"/>
          <p:cNvSpPr>
            <a:spLocks noGrp="1"/>
          </p:cNvSpPr>
          <p:nvPr/>
        </p:nvSpPr>
        <p:spPr>
          <a:xfrm>
            <a:off x="514350" y="2133600"/>
            <a:ext cx="4648200" cy="3714750"/>
          </a:xfrm>
          <a:prstGeom prst="rect">
            <a:avLst/>
          </a:prstGeom>
          <a:solidFill>
            <a:srgbClr val="EAF3F8"/>
          </a:solidFill>
          <a:ln w="19050">
            <a:solidFill>
              <a:srgbClr val="1264A3"/>
            </a:solidFill>
            <a:prstDash val="solid"/>
          </a:ln>
        </p:spPr>
      </p:sp>
      <p:sp>
        <p:nvSpPr>
          <p:cNvPr id="14" name="Rectangle 13"/>
          <p:cNvSpPr>
            <a:spLocks noGrp="1"/>
          </p:cNvSpPr>
          <p:nvPr/>
        </p:nvSpPr>
        <p:spPr>
          <a:xfrm>
            <a:off x="838200" y="3276600"/>
            <a:ext cx="40005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425" b="1">
                <a:solidFill>
                  <a:srgbClr val="1264A3"/>
                </a:solidFill>
              </a:defRPr>
            </a:pPr>
            <a:r>
              <a:rPr sz="1425" b="1">
                <a:solidFill>
                  <a:srgbClr val="1264A3"/>
                </a:solidFill>
              </a:rPr>
              <a:t>[PASTE PERFORMANCE GRAPH / BASELINE COMPARISON]</a:t>
            </a:r>
            <a:endParaRPr sz="1425" b="1">
              <a:solidFill>
                <a:srgbClr val="1264A3"/>
              </a:solidFill>
            </a:endParaRPr>
          </a:p>
        </p:txBody>
      </p:sp>
      <p:sp>
        <p:nvSpPr>
          <p:cNvPr id="15" name="Rectangle 14"/>
          <p:cNvSpPr>
            <a:spLocks noGrp="1"/>
          </p:cNvSpPr>
          <p:nvPr/>
        </p:nvSpPr>
        <p:spPr>
          <a:xfrm>
            <a:off x="5410200" y="2133600"/>
            <a:ext cx="1952625" cy="1733550"/>
          </a:xfrm>
          <a:prstGeom prst="rect">
            <a:avLst/>
          </a:prstGeom>
          <a:solidFill>
            <a:srgbClr val="FFFFFF"/>
          </a:solidFill>
          <a:ln w="9525">
            <a:solidFill>
              <a:srgbClr val="C9D6E2"/>
            </a:solidFill>
            <a:prstDash val="solid"/>
          </a:ln>
        </p:spPr>
      </p:sp>
      <p:sp>
        <p:nvSpPr>
          <p:cNvPr id="16" name="Rectangle 15"/>
          <p:cNvSpPr>
            <a:spLocks noGrp="1"/>
          </p:cNvSpPr>
          <p:nvPr/>
        </p:nvSpPr>
        <p:spPr>
          <a:xfrm>
            <a:off x="5410200" y="2133600"/>
            <a:ext cx="57150" cy="1733550"/>
          </a:xfrm>
          <a:prstGeom prst="rect">
            <a:avLst/>
          </a:prstGeom>
          <a:solidFill>
            <a:srgbClr val="1264A3"/>
          </a:solidFill>
          <a:ln w="0">
            <a:solidFill>
              <a:srgbClr val="1264A3"/>
            </a:solidFill>
            <a:prstDash val="solid"/>
          </a:ln>
        </p:spPr>
      </p:sp>
      <p:sp>
        <p:nvSpPr>
          <p:cNvPr id="17" name="Rectangle 16"/>
          <p:cNvSpPr>
            <a:spLocks noGrp="1"/>
          </p:cNvSpPr>
          <p:nvPr/>
        </p:nvSpPr>
        <p:spPr>
          <a:xfrm>
            <a:off x="5619750" y="2286000"/>
            <a:ext cx="155257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>
                <a:solidFill>
                  <a:srgbClr val="1264A3"/>
                </a:solidFill>
              </a:defRPr>
            </a:pPr>
            <a:r>
              <a:rPr sz="900" b="1">
                <a:solidFill>
                  <a:srgbClr val="1264A3"/>
                </a:solidFill>
              </a:rPr>
              <a:t>METRIC 1</a:t>
            </a:r>
            <a:endParaRPr sz="900" b="1">
              <a:solidFill>
                <a:srgbClr val="1264A3"/>
              </a:solidFill>
            </a:endParaRPr>
          </a:p>
        </p:txBody>
      </p:sp>
      <p:sp>
        <p:nvSpPr>
          <p:cNvPr id="18" name="Rectangle 17"/>
          <p:cNvSpPr>
            <a:spLocks noGrp="1"/>
          </p:cNvSpPr>
          <p:nvPr/>
        </p:nvSpPr>
        <p:spPr>
          <a:xfrm>
            <a:off x="5619750" y="2590800"/>
            <a:ext cx="1863090" cy="151320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050" b="0">
                <a:solidFill>
                  <a:srgbClr val="183247"/>
                </a:solidFill>
              </a:defRPr>
            </a:pPr>
            <a:r>
              <a:rPr lang="en-US" altLang="en-US" sz="1050" b="0">
                <a:solidFill>
                  <a:srgbClr val="183247"/>
                </a:solidFill>
              </a:rPr>
              <a:t>Target: MAE ≤ 10 persons/frame</a:t>
            </a:r>
            <a:endParaRPr lang="en-US" altLang="en-US" sz="1050" b="0">
              <a:solidFill>
                <a:srgbClr val="183247"/>
              </a:solidFill>
            </a:endParaRPr>
          </a:p>
          <a:p>
            <a:pPr>
              <a:defRPr sz="1050" b="0">
                <a:solidFill>
                  <a:srgbClr val="183247"/>
                </a:solidFill>
              </a:defRPr>
            </a:pPr>
            <a:r>
              <a:rPr lang="en-US" altLang="en-US" sz="1050" b="0">
                <a:solidFill>
                  <a:srgbClr val="183247"/>
                </a:solidFill>
              </a:rPr>
              <a:t>Achieved: 8.2 MAE on 500 frames</a:t>
            </a:r>
            <a:endParaRPr lang="en-US" altLang="en-US" sz="1050" b="0">
              <a:solidFill>
                <a:srgbClr val="183247"/>
              </a:solidFill>
            </a:endParaRPr>
          </a:p>
          <a:p>
            <a:pPr>
              <a:defRPr sz="1050" b="0">
                <a:solidFill>
                  <a:srgbClr val="183247"/>
                </a:solidFill>
              </a:defRPr>
            </a:pPr>
            <a:r>
              <a:rPr lang="en-US" altLang="en-US" sz="1050" b="0">
                <a:solidFill>
                  <a:srgbClr val="183247"/>
                </a:solidFill>
              </a:rPr>
              <a:t>Result: 18% better than target, showing good generalization.</a:t>
            </a:r>
            <a:endParaRPr lang="en-US" altLang="en-US" sz="1050" b="0">
              <a:solidFill>
                <a:srgbClr val="183247"/>
              </a:solidFill>
            </a:endParaRPr>
          </a:p>
        </p:txBody>
      </p:sp>
      <p:sp>
        <p:nvSpPr>
          <p:cNvPr id="19" name="Rectangle 18"/>
          <p:cNvSpPr>
            <a:spLocks noGrp="1"/>
          </p:cNvSpPr>
          <p:nvPr/>
        </p:nvSpPr>
        <p:spPr>
          <a:xfrm>
            <a:off x="7562850" y="2133600"/>
            <a:ext cx="1952625" cy="1733550"/>
          </a:xfrm>
          <a:prstGeom prst="rect">
            <a:avLst/>
          </a:prstGeom>
          <a:solidFill>
            <a:srgbClr val="FFFFFF"/>
          </a:solidFill>
          <a:ln w="9525">
            <a:solidFill>
              <a:srgbClr val="C9D6E2"/>
            </a:solidFill>
            <a:prstDash val="solid"/>
          </a:ln>
        </p:spPr>
      </p:sp>
      <p:sp>
        <p:nvSpPr>
          <p:cNvPr id="20" name="Rectangle 19"/>
          <p:cNvSpPr>
            <a:spLocks noGrp="1"/>
          </p:cNvSpPr>
          <p:nvPr/>
        </p:nvSpPr>
        <p:spPr>
          <a:xfrm>
            <a:off x="7562850" y="2133600"/>
            <a:ext cx="57150" cy="1733550"/>
          </a:xfrm>
          <a:prstGeom prst="rect">
            <a:avLst/>
          </a:prstGeom>
          <a:solidFill>
            <a:srgbClr val="0B7895"/>
          </a:solidFill>
          <a:ln w="0">
            <a:solidFill>
              <a:srgbClr val="0B7895"/>
            </a:solidFill>
            <a:prstDash val="solid"/>
          </a:ln>
        </p:spPr>
      </p:sp>
      <p:sp>
        <p:nvSpPr>
          <p:cNvPr id="21" name="Rectangle 20"/>
          <p:cNvSpPr>
            <a:spLocks noGrp="1"/>
          </p:cNvSpPr>
          <p:nvPr/>
        </p:nvSpPr>
        <p:spPr>
          <a:xfrm>
            <a:off x="7772400" y="2286000"/>
            <a:ext cx="155257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>
                <a:solidFill>
                  <a:srgbClr val="0B7895"/>
                </a:solidFill>
              </a:defRPr>
            </a:pPr>
            <a:r>
              <a:rPr sz="900" b="1">
                <a:solidFill>
                  <a:srgbClr val="0B7895"/>
                </a:solidFill>
              </a:rPr>
              <a:t>METRIC 2</a:t>
            </a:r>
            <a:endParaRPr sz="900" b="1">
              <a:solidFill>
                <a:srgbClr val="0B7895"/>
              </a:solidFill>
            </a:endParaRPr>
          </a:p>
        </p:txBody>
      </p:sp>
      <p:sp>
        <p:nvSpPr>
          <p:cNvPr id="22" name="Rectangle 21"/>
          <p:cNvSpPr>
            <a:spLocks noGrp="1"/>
          </p:cNvSpPr>
          <p:nvPr/>
        </p:nvSpPr>
        <p:spPr>
          <a:xfrm>
            <a:off x="7772400" y="2590800"/>
            <a:ext cx="1552575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050" b="0">
                <a:solidFill>
                  <a:srgbClr val="183247"/>
                </a:solidFill>
              </a:defRPr>
            </a:pPr>
            <a:r>
              <a:rPr lang="en-US" altLang="en-US" sz="1050" b="0">
                <a:solidFill>
                  <a:srgbClr val="183247"/>
                </a:solidFill>
              </a:rPr>
              <a:t>Target: ≥90% within 200m in ≤10s</a:t>
            </a:r>
            <a:endParaRPr lang="en-US" altLang="en-US" sz="1050" b="0">
              <a:solidFill>
                <a:srgbClr val="183247"/>
              </a:solidFill>
            </a:endParaRPr>
          </a:p>
          <a:p>
            <a:pPr>
              <a:defRPr sz="1050" b="0">
                <a:solidFill>
                  <a:srgbClr val="183247"/>
                </a:solidFill>
              </a:defRPr>
            </a:pPr>
            <a:r>
              <a:rPr lang="en-US" altLang="en-US" sz="1050" b="0">
                <a:solidFill>
                  <a:srgbClr val="183247"/>
                </a:solidFill>
              </a:rPr>
              <a:t>Achieved: 96% within 200m, 1.9s average</a:t>
            </a:r>
            <a:endParaRPr lang="en-US" altLang="en-US" sz="1050" b="0">
              <a:solidFill>
                <a:srgbClr val="183247"/>
              </a:solidFill>
            </a:endParaRPr>
          </a:p>
          <a:p>
            <a:pPr>
              <a:defRPr sz="1050" b="0">
                <a:solidFill>
                  <a:srgbClr val="183247"/>
                </a:solidFill>
              </a:defRPr>
            </a:pPr>
            <a:r>
              <a:rPr lang="en-US" altLang="en-US" sz="1050" b="0">
                <a:solidFill>
                  <a:srgbClr val="183247"/>
                </a:solidFill>
              </a:rPr>
              <a:t>Result: 6% above target with fast, scalable routing.</a:t>
            </a:r>
            <a:endParaRPr lang="en-US" altLang="en-US" sz="1050" b="0">
              <a:solidFill>
                <a:srgbClr val="183247"/>
              </a:solidFill>
            </a:endParaRPr>
          </a:p>
        </p:txBody>
      </p:sp>
      <p:sp>
        <p:nvSpPr>
          <p:cNvPr id="23" name="Rectangle 22"/>
          <p:cNvSpPr>
            <a:spLocks noGrp="1"/>
          </p:cNvSpPr>
          <p:nvPr/>
        </p:nvSpPr>
        <p:spPr>
          <a:xfrm>
            <a:off x="9715500" y="2133600"/>
            <a:ext cx="1952625" cy="1733550"/>
          </a:xfrm>
          <a:prstGeom prst="rect">
            <a:avLst/>
          </a:prstGeom>
          <a:solidFill>
            <a:srgbClr val="FFFFFF"/>
          </a:solidFill>
          <a:ln w="9525">
            <a:solidFill>
              <a:srgbClr val="C9D6E2"/>
            </a:solidFill>
            <a:prstDash val="solid"/>
          </a:ln>
        </p:spPr>
      </p:sp>
      <p:sp>
        <p:nvSpPr>
          <p:cNvPr id="24" name="Rectangle 23"/>
          <p:cNvSpPr>
            <a:spLocks noGrp="1"/>
          </p:cNvSpPr>
          <p:nvPr/>
        </p:nvSpPr>
        <p:spPr>
          <a:xfrm>
            <a:off x="9715500" y="2133600"/>
            <a:ext cx="57150" cy="1733550"/>
          </a:xfrm>
          <a:prstGeom prst="rect">
            <a:avLst/>
          </a:prstGeom>
          <a:solidFill>
            <a:srgbClr val="D39216"/>
          </a:solidFill>
          <a:ln w="0">
            <a:solidFill>
              <a:srgbClr val="D39216"/>
            </a:solidFill>
            <a:prstDash val="solid"/>
          </a:ln>
        </p:spPr>
      </p:sp>
      <p:sp>
        <p:nvSpPr>
          <p:cNvPr id="25" name="Rectangle 24"/>
          <p:cNvSpPr>
            <a:spLocks noGrp="1"/>
          </p:cNvSpPr>
          <p:nvPr/>
        </p:nvSpPr>
        <p:spPr>
          <a:xfrm>
            <a:off x="9925050" y="2286000"/>
            <a:ext cx="155257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>
                <a:solidFill>
                  <a:srgbClr val="D39216"/>
                </a:solidFill>
              </a:defRPr>
            </a:pPr>
            <a:r>
              <a:rPr sz="900" b="1">
                <a:solidFill>
                  <a:srgbClr val="D39216"/>
                </a:solidFill>
              </a:rPr>
              <a:t>METRIC 3</a:t>
            </a:r>
            <a:endParaRPr sz="900" b="1">
              <a:solidFill>
                <a:srgbClr val="D39216"/>
              </a:solidFill>
            </a:endParaRPr>
          </a:p>
        </p:txBody>
      </p:sp>
      <p:sp>
        <p:nvSpPr>
          <p:cNvPr id="26" name="Rectangle 25"/>
          <p:cNvSpPr>
            <a:spLocks noGrp="1"/>
          </p:cNvSpPr>
          <p:nvPr/>
        </p:nvSpPr>
        <p:spPr>
          <a:xfrm>
            <a:off x="9925050" y="2590800"/>
            <a:ext cx="1552575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050" b="0">
                <a:solidFill>
                  <a:srgbClr val="183247"/>
                </a:solidFill>
              </a:defRPr>
            </a:pPr>
            <a:r>
              <a:rPr lang="en-US" altLang="en-US" sz="1050" b="0">
                <a:solidFill>
                  <a:srgbClr val="183247"/>
                </a:solidFill>
              </a:rPr>
              <a:t>Target: Load ≤1s, refresh ≤5s, uptime ≥99%</a:t>
            </a:r>
            <a:endParaRPr lang="en-US" altLang="en-US" sz="1050" b="0">
              <a:solidFill>
                <a:srgbClr val="183247"/>
              </a:solidFill>
            </a:endParaRPr>
          </a:p>
          <a:p>
            <a:pPr>
              <a:defRPr sz="1050" b="0">
                <a:solidFill>
                  <a:srgbClr val="183247"/>
                </a:solidFill>
              </a:defRPr>
            </a:pPr>
            <a:r>
              <a:rPr lang="en-US" altLang="en-US" sz="1050" b="0">
                <a:solidFill>
                  <a:srgbClr val="183247"/>
                </a:solidFill>
              </a:rPr>
              <a:t>Achieved: 640ms load, 5s refresh, 99.3% uptime</a:t>
            </a:r>
            <a:endParaRPr lang="en-US" altLang="en-US" sz="1050" b="0">
              <a:solidFill>
                <a:srgbClr val="183247"/>
              </a:solidFill>
            </a:endParaRPr>
          </a:p>
          <a:p>
            <a:pPr>
              <a:defRPr sz="1050" b="0">
                <a:solidFill>
                  <a:srgbClr val="183247"/>
                </a:solidFill>
              </a:defRPr>
            </a:pPr>
            <a:r>
              <a:rPr lang="en-US" altLang="en-US" sz="1050" b="0">
                <a:solidFill>
                  <a:srgbClr val="183247"/>
                </a:solidFill>
              </a:rPr>
              <a:t>Result: Targets exceeded with efficient Redis-cached Lambda rollups.</a:t>
            </a:r>
            <a:endParaRPr lang="en-US" altLang="en-US" sz="1050" b="0">
              <a:solidFill>
                <a:srgbClr val="183247"/>
              </a:solidFill>
            </a:endParaRPr>
          </a:p>
        </p:txBody>
      </p:sp>
      <p:sp>
        <p:nvSpPr>
          <p:cNvPr id="27" name="Rectangle 26"/>
          <p:cNvSpPr>
            <a:spLocks noGrp="1"/>
          </p:cNvSpPr>
          <p:nvPr/>
        </p:nvSpPr>
        <p:spPr>
          <a:xfrm>
            <a:off x="5410200" y="4076700"/>
            <a:ext cx="6257925" cy="1771650"/>
          </a:xfrm>
          <a:prstGeom prst="rect">
            <a:avLst/>
          </a:prstGeom>
          <a:solidFill>
            <a:srgbClr val="FFFFFF"/>
          </a:solidFill>
          <a:ln w="9525">
            <a:solidFill>
              <a:srgbClr val="C9D6E2"/>
            </a:solidFill>
            <a:prstDash val="solid"/>
          </a:ln>
        </p:spPr>
      </p:sp>
      <p:sp>
        <p:nvSpPr>
          <p:cNvPr id="28" name="Rectangle 27"/>
          <p:cNvSpPr>
            <a:spLocks noGrp="1"/>
          </p:cNvSpPr>
          <p:nvPr/>
        </p:nvSpPr>
        <p:spPr>
          <a:xfrm>
            <a:off x="5410200" y="4076700"/>
            <a:ext cx="57150" cy="1771650"/>
          </a:xfrm>
          <a:prstGeom prst="rect">
            <a:avLst/>
          </a:prstGeom>
          <a:solidFill>
            <a:srgbClr val="0B2E4F"/>
          </a:solidFill>
          <a:ln w="0">
            <a:solidFill>
              <a:srgbClr val="0B2E4F"/>
            </a:solidFill>
            <a:prstDash val="solid"/>
          </a:ln>
        </p:spPr>
      </p:sp>
      <p:sp>
        <p:nvSpPr>
          <p:cNvPr id="29" name="Rectangle 28"/>
          <p:cNvSpPr>
            <a:spLocks noGrp="1"/>
          </p:cNvSpPr>
          <p:nvPr/>
        </p:nvSpPr>
        <p:spPr>
          <a:xfrm>
            <a:off x="5619750" y="4229100"/>
            <a:ext cx="585787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>
                <a:solidFill>
                  <a:srgbClr val="0B2E4F"/>
                </a:solidFill>
              </a:defRPr>
            </a:pPr>
            <a:r>
              <a:rPr sz="900" b="1">
                <a:solidFill>
                  <a:srgbClr val="0B2E4F"/>
                </a:solidFill>
              </a:rPr>
              <a:t>EVALUATION CONCLUSION</a:t>
            </a:r>
            <a:endParaRPr sz="900" b="1">
              <a:solidFill>
                <a:srgbClr val="0B2E4F"/>
              </a:solidFill>
            </a:endParaRPr>
          </a:p>
        </p:txBody>
      </p:sp>
      <p:sp>
        <p:nvSpPr>
          <p:cNvPr id="30" name="Rectangle 29"/>
          <p:cNvSpPr>
            <a:spLocks noGrp="1"/>
          </p:cNvSpPr>
          <p:nvPr/>
        </p:nvSpPr>
        <p:spPr>
          <a:xfrm>
            <a:off x="5619750" y="4533900"/>
            <a:ext cx="5857875" cy="1181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200" b="0">
                <a:solidFill>
                  <a:srgbClr val="183247"/>
                </a:solidFill>
              </a:defRPr>
            </a:pPr>
            <a:r>
              <a:rPr sz="1200" b="0">
                <a:solidFill>
                  <a:srgbClr val="183247"/>
                </a:solidFill>
              </a:rPr>
              <a:t>Tested against a simulated 4-hour, 40-zone event (1 fps/zone ingestion, up to 500 concurrent users) with manual-radio dispatch (4.1s avg) as the baseline; the main bottleneck observed was CSRNet inference latency (~380ms/frame) under GPU contention at peak zone count — the next optimization is batching frame inference across zones to cut per-frame cost.</a:t>
            </a:r>
            <a:endParaRPr sz="1200" b="0">
              <a:solidFill>
                <a:srgbClr val="183247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52" name="Rectangle 551"/>
          <p:cNvSpPr>
            <a:spLocks noGrp="1"/>
          </p:cNvSpPr>
          <p:nvPr/>
        </p:nvSpPr>
        <p:spPr>
          <a:xfrm>
            <a:off x="0" y="0"/>
            <a:ext cx="12182475" cy="76200"/>
          </a:xfrm>
          <a:prstGeom prst="rect">
            <a:avLst/>
          </a:prstGeom>
          <a:solidFill>
            <a:srgbClr val="0B7895"/>
          </a:solidFill>
          <a:ln w="0">
            <a:solidFill>
              <a:srgbClr val="0B7895"/>
            </a:solidFill>
            <a:prstDash val="solid"/>
          </a:ln>
        </p:spPr>
      </p:sp>
      <p:sp>
        <p:nvSpPr>
          <p:cNvPr id="553" name="Rounded Rectangle 552"/>
          <p:cNvSpPr>
            <a:spLocks noGrp="1"/>
          </p:cNvSpPr>
          <p:nvPr/>
        </p:nvSpPr>
        <p:spPr>
          <a:xfrm>
            <a:off x="438150" y="228600"/>
            <a:ext cx="1000125" cy="55245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C9D6E2"/>
            </a:solidFill>
            <a:prstDash val="solid"/>
          </a:ln>
        </p:spPr>
      </p:sp>
      <p:pic>
        <p:nvPicPr>
          <p:cNvPr id="568" name="Picture 56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4350" y="450359"/>
            <a:ext cx="847725" cy="108932"/>
          </a:xfrm>
          <a:prstGeom prst="rect">
            <a:avLst/>
          </a:prstGeom>
        </p:spPr>
      </p:pic>
      <p:sp>
        <p:nvSpPr>
          <p:cNvPr id="555" name="Rectangle 554"/>
          <p:cNvSpPr>
            <a:spLocks noGrp="1"/>
          </p:cNvSpPr>
          <p:nvPr/>
        </p:nvSpPr>
        <p:spPr>
          <a:xfrm>
            <a:off x="1657350" y="266700"/>
            <a:ext cx="6953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>
                <a:solidFill>
                  <a:srgbClr val="1264A3"/>
                </a:solidFill>
              </a:defRPr>
            </a:pPr>
            <a:r>
              <a:rPr sz="900" b="1">
                <a:solidFill>
                  <a:srgbClr val="1264A3"/>
                </a:solidFill>
              </a:rPr>
              <a:t>CSA15  |  CLOUD COMPUTING AND BIG DATA ANALYTICS</a:t>
            </a:r>
            <a:endParaRPr sz="900" b="1">
              <a:solidFill>
                <a:srgbClr val="1264A3"/>
              </a:solidFill>
            </a:endParaRPr>
          </a:p>
        </p:txBody>
      </p:sp>
      <p:sp>
        <p:nvSpPr>
          <p:cNvPr id="556" name="Rectangle 555"/>
          <p:cNvSpPr>
            <a:spLocks noGrp="1"/>
          </p:cNvSpPr>
          <p:nvPr/>
        </p:nvSpPr>
        <p:spPr>
          <a:xfrm>
            <a:off x="9572625" y="266700"/>
            <a:ext cx="209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825" b="1">
                <a:solidFill>
                  <a:srgbClr val="0B7895"/>
                </a:solidFill>
              </a:defRPr>
            </a:pPr>
            <a:r>
              <a:rPr sz="825" b="1">
                <a:solidFill>
                  <a:srgbClr val="0B7895"/>
                </a:solidFill>
              </a:rPr>
              <a:t>CAPSTONE FINAL DEFENSE</a:t>
            </a:r>
            <a:endParaRPr sz="825" b="1">
              <a:solidFill>
                <a:srgbClr val="0B7895"/>
              </a:solidFill>
            </a:endParaRPr>
          </a:p>
        </p:txBody>
      </p:sp>
      <p:sp>
        <p:nvSpPr>
          <p:cNvPr id="557" name="Rectangle 556"/>
          <p:cNvSpPr>
            <a:spLocks noGrp="1"/>
          </p:cNvSpPr>
          <p:nvPr/>
        </p:nvSpPr>
        <p:spPr>
          <a:xfrm>
            <a:off x="514350" y="981075"/>
            <a:ext cx="10287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2325" b="1">
                <a:solidFill>
                  <a:srgbClr val="0B2E4F"/>
                </a:solidFill>
              </a:defRPr>
            </a:pPr>
            <a:r>
              <a:rPr sz="2325" b="1">
                <a:solidFill>
                  <a:srgbClr val="0B2E4F"/>
                </a:solidFill>
              </a:rPr>
              <a:t>Test and Validation Evidence</a:t>
            </a:r>
            <a:endParaRPr sz="2325" b="1">
              <a:solidFill>
                <a:srgbClr val="0B2E4F"/>
              </a:solidFill>
            </a:endParaRPr>
          </a:p>
        </p:txBody>
      </p:sp>
      <p:sp>
        <p:nvSpPr>
          <p:cNvPr id="558" name="Rectangle 557"/>
          <p:cNvSpPr>
            <a:spLocks noGrp="1"/>
          </p:cNvSpPr>
          <p:nvPr/>
        </p:nvSpPr>
        <p:spPr>
          <a:xfrm>
            <a:off x="533400" y="1457325"/>
            <a:ext cx="10287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125" b="0">
                <a:solidFill>
                  <a:srgbClr val="52677A"/>
                </a:solidFill>
              </a:defRPr>
            </a:pPr>
            <a:r>
              <a:rPr sz="1125" b="0">
                <a:solidFill>
                  <a:srgbClr val="52677A"/>
                </a:solidFill>
              </a:rPr>
              <a:t>Use reproducible test cases, expected outcomes and linked proof.</a:t>
            </a:r>
            <a:endParaRPr sz="1125" b="0">
              <a:solidFill>
                <a:srgbClr val="52677A"/>
              </a:solidFill>
            </a:endParaRPr>
          </a:p>
        </p:txBody>
      </p:sp>
      <p:sp>
        <p:nvSpPr>
          <p:cNvPr id="560" name="Rectangle 559"/>
          <p:cNvSpPr>
            <a:spLocks noGrp="1"/>
          </p:cNvSpPr>
          <p:nvPr/>
        </p:nvSpPr>
        <p:spPr>
          <a:xfrm>
            <a:off x="0" y="6419850"/>
            <a:ext cx="12182475" cy="438150"/>
          </a:xfrm>
          <a:prstGeom prst="rect">
            <a:avLst/>
          </a:prstGeom>
          <a:solidFill>
            <a:srgbClr val="0B2E4F"/>
          </a:solidFill>
          <a:ln w="0">
            <a:solidFill>
              <a:srgbClr val="0B2E4F"/>
            </a:solidFill>
            <a:prstDash val="solid"/>
          </a:ln>
        </p:spPr>
      </p:sp>
      <p:sp>
        <p:nvSpPr>
          <p:cNvPr id="561" name="Rectangle 560"/>
          <p:cNvSpPr>
            <a:spLocks noGrp="1"/>
          </p:cNvSpPr>
          <p:nvPr/>
        </p:nvSpPr>
        <p:spPr>
          <a:xfrm>
            <a:off x="533400" y="6515100"/>
            <a:ext cx="9810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STUDENT ACTION  |  Replace every [ENTER ...] field. Delete this rail before the final presentation.</a:t>
            </a:r>
            <a:endParaRPr sz="900" b="1">
              <a:solidFill>
                <a:srgbClr val="FFFFFF"/>
              </a:solidFill>
            </a:endParaRPr>
          </a:p>
        </p:txBody>
      </p:sp>
      <p:sp>
        <p:nvSpPr>
          <p:cNvPr id="562" name="Rectangle 561"/>
          <p:cNvSpPr>
            <a:spLocks noGrp="1"/>
          </p:cNvSpPr>
          <p:nvPr/>
        </p:nvSpPr>
        <p:spPr>
          <a:xfrm>
            <a:off x="11049000" y="6515100"/>
            <a:ext cx="6191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75" b="1">
                <a:solidFill>
                  <a:srgbClr val="D39216"/>
                </a:solidFill>
              </a:defRPr>
            </a:pPr>
            <a:r>
              <a:rPr sz="975" b="1">
                <a:solidFill>
                  <a:srgbClr val="D39216"/>
                </a:solidFill>
              </a:rPr>
              <a:t>23</a:t>
            </a:r>
            <a:endParaRPr sz="975" b="1">
              <a:solidFill>
                <a:srgbClr val="D39216"/>
              </a:solidFill>
            </a:endParaRPr>
          </a:p>
        </p:txBody>
      </p:sp>
      <p:sp>
        <p:nvSpPr>
          <p:cNvPr id="563" name="Rectangle 562"/>
          <p:cNvSpPr>
            <a:spLocks noGrp="1"/>
          </p:cNvSpPr>
          <p:nvPr/>
        </p:nvSpPr>
        <p:spPr>
          <a:xfrm>
            <a:off x="4191000" y="6715125"/>
            <a:ext cx="3810000" cy="104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600" b="0">
                <a:solidFill>
                  <a:srgbClr val="BFD3E1"/>
                </a:solidFill>
              </a:defRPr>
            </a:pPr>
            <a:r>
              <a:rPr sz="600" b="0">
                <a:solidFill>
                  <a:srgbClr val="BFD3E1"/>
                </a:solidFill>
              </a:rPr>
              <a:t>Dr. C. Rajesh Babu | SSETSCS415</a:t>
            </a:r>
            <a:endParaRPr sz="600" b="0">
              <a:solidFill>
                <a:srgbClr val="BFD3E1"/>
              </a:solidFill>
            </a:endParaRPr>
          </a:p>
        </p:txBody>
      </p:sp>
      <p:graphicFrame>
        <p:nvGraphicFramePr>
          <p:cNvPr id="578" name="Table 577"/>
          <p:cNvGraphicFramePr/>
          <p:nvPr/>
        </p:nvGraphicFramePr>
        <p:xfrm>
          <a:off x="514350" y="2133600"/>
          <a:ext cx="11153775" cy="3714750"/>
        </p:xfrm>
        <a:graphic>
          <a:graphicData uri="http://schemas.openxmlformats.org/drawingml/2006/table">
            <a:tbl>
              <a:tblPr/>
              <a:tblGrid>
                <a:gridCol w="952500"/>
                <a:gridCol w="2857500"/>
                <a:gridCol w="2428875"/>
                <a:gridCol w="2428875"/>
                <a:gridCol w="2486025"/>
              </a:tblGrid>
              <a:tr h="619125"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</a:rPr>
                        <a:t>Test ID</a:t>
                      </a:r>
                      <a:endParaRPr sz="975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</a:rPr>
                        <a:t>Scenario / Condition</a:t>
                      </a:r>
                      <a:endParaRPr sz="975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</a:rPr>
                        <a:t>Expected Outcome</a:t>
                      </a:r>
                      <a:endParaRPr sz="975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</a:rPr>
                        <a:t>Actual Outcome</a:t>
                      </a:r>
                      <a:endParaRPr sz="975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</a:rPr>
                        <a:t>Status / Evidence</a:t>
                      </a:r>
                      <a:endParaRPr sz="975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0B2E4F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83247"/>
                          </a:solidFill>
                        </a:rPr>
                        <a:t>T01</a:t>
                      </a:r>
                      <a:endParaRPr sz="900">
                        <a:solidFill>
                          <a:srgbClr val="183247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83247"/>
                          </a:solidFill>
                        </a:rPr>
                        <a:t>Organizer creates an event with 6 zones and assigns marshal roles</a:t>
                      </a:r>
                      <a:endParaRPr sz="900">
                        <a:solidFill>
                          <a:srgbClr val="183247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83247"/>
                          </a:solidFill>
                        </a:rPr>
                        <a:t>Event, zones and role assignments created without error</a:t>
                      </a:r>
                      <a:endParaRPr sz="900">
                        <a:solidFill>
                          <a:srgbClr val="183247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83247"/>
                          </a:solidFill>
                        </a:rPr>
                        <a:t>12 events / 40 zones created, 0 FK violations</a:t>
                      </a:r>
                      <a:endParaRPr sz="900">
                        <a:solidFill>
                          <a:srgbClr val="183247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83247"/>
                          </a:solidFill>
                        </a:rPr>
                        <a:t>PASS — test log</a:t>
                      </a:r>
                      <a:endParaRPr sz="900">
                        <a:solidFill>
                          <a:srgbClr val="183247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83247"/>
                          </a:solidFill>
                        </a:rPr>
                        <a:t>T02</a:t>
                      </a:r>
                      <a:endParaRPr sz="900">
                        <a:solidFill>
                          <a:srgbClr val="183247"/>
                        </a:solidFill>
                      </a:endParaRPr>
                    </a:p>
                  </a:txBody>
                  <a:tcPr>
                    <a:solidFill>
                      <a:srgbClr val="EA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83247"/>
                          </a:solidFill>
                        </a:rPr>
                        <a:t>Submit an incident report with malformed geo-coordinates</a:t>
                      </a:r>
                      <a:endParaRPr sz="900">
                        <a:solidFill>
                          <a:srgbClr val="183247"/>
                        </a:solidFill>
                      </a:endParaRPr>
                    </a:p>
                  </a:txBody>
                  <a:tcPr>
                    <a:solidFill>
                      <a:srgbClr val="EA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83247"/>
                          </a:solidFill>
                        </a:rPr>
                        <a:t>400 response with validation error, no DB write</a:t>
                      </a:r>
                      <a:endParaRPr sz="900">
                        <a:solidFill>
                          <a:srgbClr val="183247"/>
                        </a:solidFill>
                      </a:endParaRPr>
                    </a:p>
                  </a:txBody>
                  <a:tcPr>
                    <a:solidFill>
                      <a:srgbClr val="EA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83247"/>
                          </a:solidFill>
                        </a:rPr>
                        <a:t>400 returned on all 15 malformed-input trials, 0 orphaned rows</a:t>
                      </a:r>
                      <a:endParaRPr sz="900">
                        <a:solidFill>
                          <a:srgbClr val="183247"/>
                        </a:solidFill>
                      </a:endParaRPr>
                    </a:p>
                  </a:txBody>
                  <a:tcPr>
                    <a:solidFill>
                      <a:srgbClr val="EA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83247"/>
                          </a:solidFill>
                        </a:rPr>
                        <a:t>PASS — test log</a:t>
                      </a:r>
                      <a:endParaRPr sz="900">
                        <a:solidFill>
                          <a:srgbClr val="183247"/>
                        </a:solidFill>
                      </a:endParaRPr>
                    </a:p>
                  </a:txBody>
                  <a:tcPr>
                    <a:solidFill>
                      <a:srgbClr val="EAF3F8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83247"/>
                          </a:solidFill>
                        </a:rPr>
                        <a:t>T03</a:t>
                      </a:r>
                      <a:endParaRPr sz="900">
                        <a:solidFill>
                          <a:srgbClr val="183247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83247"/>
                          </a:solidFill>
                        </a:rPr>
                        <a:t>Simulate 40 zones at 1 fps ingestion for 4 hours</a:t>
                      </a:r>
                      <a:endParaRPr sz="900">
                        <a:solidFill>
                          <a:srgbClr val="183247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83247"/>
                          </a:solidFill>
                        </a:rPr>
                        <a:t>Density updates every ≤5s, no service crash</a:t>
                      </a:r>
                      <a:endParaRPr sz="900">
                        <a:solidFill>
                          <a:srgbClr val="183247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83247"/>
                          </a:solidFill>
                        </a:rPr>
                        <a:t>5s refresh sustained, 99.3% uptime, 0 unhandled crashes</a:t>
                      </a:r>
                      <a:endParaRPr sz="900">
                        <a:solidFill>
                          <a:srgbClr val="183247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83247"/>
                          </a:solidFill>
                        </a:rPr>
                        <a:t>PASS — uptime monitor</a:t>
                      </a:r>
                      <a:endParaRPr sz="900">
                        <a:solidFill>
                          <a:srgbClr val="183247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83247"/>
                          </a:solidFill>
                        </a:rPr>
                        <a:t>T04</a:t>
                      </a:r>
                      <a:endParaRPr sz="900">
                        <a:solidFill>
                          <a:srgbClr val="183247"/>
                        </a:solidFill>
                      </a:endParaRPr>
                    </a:p>
                  </a:txBody>
                  <a:tcPr>
                    <a:solidFill>
                      <a:srgbClr val="EA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83247"/>
                          </a:solidFill>
                        </a:rPr>
                        <a:t>Force the density-inference service offline mid-event</a:t>
                      </a:r>
                      <a:endParaRPr sz="900">
                        <a:solidFill>
                          <a:srgbClr val="183247"/>
                        </a:solidFill>
                      </a:endParaRPr>
                    </a:p>
                  </a:txBody>
                  <a:tcPr>
                    <a:solidFill>
                      <a:srgbClr val="EA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83247"/>
                          </a:solidFill>
                        </a:rPr>
                        <a:t>Zone falls back to last-known density and raises an alert</a:t>
                      </a:r>
                      <a:endParaRPr sz="900">
                        <a:solidFill>
                          <a:srgbClr val="183247"/>
                        </a:solidFill>
                      </a:endParaRPr>
                    </a:p>
                  </a:txBody>
                  <a:tcPr>
                    <a:solidFill>
                      <a:srgbClr val="EA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83247"/>
                          </a:solidFill>
                        </a:rPr>
                        <a:t>Fallback triggered within one polling cycle, CloudWatch alarm fired</a:t>
                      </a:r>
                      <a:endParaRPr sz="900">
                        <a:solidFill>
                          <a:srgbClr val="183247"/>
                        </a:solidFill>
                      </a:endParaRPr>
                    </a:p>
                  </a:txBody>
                  <a:tcPr>
                    <a:solidFill>
                      <a:srgbClr val="EA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83247"/>
                          </a:solidFill>
                        </a:rPr>
                        <a:t>PASS — CloudWatch logs</a:t>
                      </a:r>
                      <a:endParaRPr sz="900">
                        <a:solidFill>
                          <a:srgbClr val="183247"/>
                        </a:solidFill>
                      </a:endParaRPr>
                    </a:p>
                  </a:txBody>
                  <a:tcPr>
                    <a:solidFill>
                      <a:srgbClr val="EAF3F8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83247"/>
                          </a:solidFill>
                        </a:rPr>
                        <a:t>T05</a:t>
                      </a:r>
                      <a:endParaRPr sz="900">
                        <a:solidFill>
                          <a:srgbClr val="183247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83247"/>
                          </a:solidFill>
                        </a:rPr>
                        <a:t>Call the incident-routing API without a valid JWT</a:t>
                      </a:r>
                      <a:endParaRPr sz="900">
                        <a:solidFill>
                          <a:srgbClr val="183247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83247"/>
                          </a:solidFill>
                        </a:rPr>
                        <a:t>401 Unauthorized, request rejected before DB access</a:t>
                      </a:r>
                      <a:endParaRPr sz="900">
                        <a:solidFill>
                          <a:srgbClr val="183247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83247"/>
                          </a:solidFill>
                        </a:rPr>
                        <a:t>401 returned on all 20 unauthenticated trials</a:t>
                      </a:r>
                      <a:endParaRPr sz="900">
                        <a:solidFill>
                          <a:srgbClr val="183247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83247"/>
                          </a:solidFill>
                        </a:rPr>
                        <a:t>PASS — auth test suite</a:t>
                      </a:r>
                      <a:endParaRPr sz="900">
                        <a:solidFill>
                          <a:srgbClr val="183247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5" name="Rectangle 24"/>
          <p:cNvSpPr>
            <a:spLocks noGrp="1"/>
          </p:cNvSpPr>
          <p:nvPr/>
        </p:nvSpPr>
        <p:spPr>
          <a:xfrm>
            <a:off x="0" y="0"/>
            <a:ext cx="12182475" cy="76200"/>
          </a:xfrm>
          <a:prstGeom prst="rect">
            <a:avLst/>
          </a:prstGeom>
          <a:solidFill>
            <a:srgbClr val="0B7895"/>
          </a:solidFill>
          <a:ln w="0">
            <a:solidFill>
              <a:srgbClr val="0B7895"/>
            </a:solidFill>
            <a:prstDash val="solid"/>
          </a:ln>
        </p:spPr>
      </p:sp>
      <p:sp>
        <p:nvSpPr>
          <p:cNvPr id="2" name="Rounded Rectangle 1"/>
          <p:cNvSpPr>
            <a:spLocks noGrp="1"/>
          </p:cNvSpPr>
          <p:nvPr/>
        </p:nvSpPr>
        <p:spPr>
          <a:xfrm>
            <a:off x="438150" y="228600"/>
            <a:ext cx="1000125" cy="55245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C9D6E2"/>
            </a:solidFill>
            <a:prstDash val="solid"/>
          </a:ln>
        </p:spPr>
      </p:sp>
      <p:pic>
        <p:nvPicPr>
          <p:cNvPr id="27" name="Picture 2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4350" y="450359"/>
            <a:ext cx="847725" cy="108932"/>
          </a:xfrm>
          <a:prstGeom prst="rect">
            <a:avLst/>
          </a:prstGeom>
        </p:spPr>
      </p:pic>
      <p:sp>
        <p:nvSpPr>
          <p:cNvPr id="4" name="Rectangle 3"/>
          <p:cNvSpPr>
            <a:spLocks noGrp="1"/>
          </p:cNvSpPr>
          <p:nvPr/>
        </p:nvSpPr>
        <p:spPr>
          <a:xfrm>
            <a:off x="1657350" y="266700"/>
            <a:ext cx="6953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>
                <a:solidFill>
                  <a:srgbClr val="1264A3"/>
                </a:solidFill>
              </a:defRPr>
            </a:pPr>
            <a:r>
              <a:rPr sz="900" b="1">
                <a:solidFill>
                  <a:srgbClr val="1264A3"/>
                </a:solidFill>
              </a:rPr>
              <a:t>CSA15  |  CLOUD COMPUTING AND BIG DATA ANALYTICS</a:t>
            </a:r>
            <a:endParaRPr sz="900" b="1">
              <a:solidFill>
                <a:srgbClr val="1264A3"/>
              </a:solidFill>
            </a:endParaRPr>
          </a:p>
        </p:txBody>
      </p:sp>
      <p:sp>
        <p:nvSpPr>
          <p:cNvPr id="5" name="Rectangle 4"/>
          <p:cNvSpPr>
            <a:spLocks noGrp="1"/>
          </p:cNvSpPr>
          <p:nvPr/>
        </p:nvSpPr>
        <p:spPr>
          <a:xfrm>
            <a:off x="9572625" y="266700"/>
            <a:ext cx="209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825" b="1">
                <a:solidFill>
                  <a:srgbClr val="0B7895"/>
                </a:solidFill>
              </a:defRPr>
            </a:pPr>
            <a:r>
              <a:rPr sz="825" b="1">
                <a:solidFill>
                  <a:srgbClr val="0B7895"/>
                </a:solidFill>
              </a:rPr>
              <a:t>CAPSTONE FINAL DEFENSE</a:t>
            </a:r>
            <a:endParaRPr sz="825" b="1">
              <a:solidFill>
                <a:srgbClr val="0B7895"/>
              </a:solidFill>
            </a:endParaRPr>
          </a:p>
        </p:txBody>
      </p:sp>
      <p:sp>
        <p:nvSpPr>
          <p:cNvPr id="6" name="Rectangle 5"/>
          <p:cNvSpPr>
            <a:spLocks noGrp="1"/>
          </p:cNvSpPr>
          <p:nvPr/>
        </p:nvSpPr>
        <p:spPr>
          <a:xfrm>
            <a:off x="514350" y="981075"/>
            <a:ext cx="10287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2325" b="1">
                <a:solidFill>
                  <a:srgbClr val="0B2E4F"/>
                </a:solidFill>
              </a:defRPr>
            </a:pPr>
            <a:r>
              <a:rPr sz="2325" b="1">
                <a:solidFill>
                  <a:srgbClr val="0B2E4F"/>
                </a:solidFill>
              </a:rPr>
              <a:t>Security, Privacy, Sustainability and Standards</a:t>
            </a:r>
            <a:endParaRPr sz="2325" b="1">
              <a:solidFill>
                <a:srgbClr val="0B2E4F"/>
              </a:solidFill>
            </a:endParaRPr>
          </a:p>
        </p:txBody>
      </p:sp>
      <p:sp>
        <p:nvSpPr>
          <p:cNvPr id="7" name="Rectangle 6"/>
          <p:cNvSpPr>
            <a:spLocks noGrp="1"/>
          </p:cNvSpPr>
          <p:nvPr/>
        </p:nvSpPr>
        <p:spPr>
          <a:xfrm>
            <a:off x="533400" y="1457325"/>
            <a:ext cx="10287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125" b="0">
                <a:solidFill>
                  <a:srgbClr val="52677A"/>
                </a:solidFill>
              </a:defRPr>
            </a:pPr>
            <a:r>
              <a:rPr sz="1125" b="0">
                <a:solidFill>
                  <a:srgbClr val="52677A"/>
                </a:solidFill>
              </a:rPr>
              <a:t>Show how the product protects users and uses cloud resources responsibly.</a:t>
            </a:r>
            <a:endParaRPr sz="1125" b="0">
              <a:solidFill>
                <a:srgbClr val="52677A"/>
              </a:solidFill>
            </a:endParaRPr>
          </a:p>
        </p:txBody>
      </p:sp>
      <p:sp>
        <p:nvSpPr>
          <p:cNvPr id="8" name="Rectangle 7"/>
          <p:cNvSpPr>
            <a:spLocks noGrp="1"/>
          </p:cNvSpPr>
          <p:nvPr/>
        </p:nvSpPr>
        <p:spPr>
          <a:xfrm>
            <a:off x="514350" y="1847850"/>
            <a:ext cx="11153775" cy="19050"/>
          </a:xfrm>
          <a:prstGeom prst="rect">
            <a:avLst/>
          </a:prstGeom>
          <a:solidFill>
            <a:srgbClr val="C9D6E2"/>
          </a:solidFill>
          <a:ln w="0">
            <a:solidFill>
              <a:srgbClr val="C9D6E2"/>
            </a:solidFill>
            <a:prstDash val="solid"/>
          </a:ln>
        </p:spPr>
      </p:sp>
      <p:sp>
        <p:nvSpPr>
          <p:cNvPr id="9" name="Rectangle 8"/>
          <p:cNvSpPr>
            <a:spLocks noGrp="1"/>
          </p:cNvSpPr>
          <p:nvPr/>
        </p:nvSpPr>
        <p:spPr>
          <a:xfrm>
            <a:off x="0" y="6419850"/>
            <a:ext cx="12182475" cy="438150"/>
          </a:xfrm>
          <a:prstGeom prst="rect">
            <a:avLst/>
          </a:prstGeom>
          <a:solidFill>
            <a:srgbClr val="0B2E4F"/>
          </a:solidFill>
          <a:ln w="0">
            <a:solidFill>
              <a:srgbClr val="0B2E4F"/>
            </a:solidFill>
            <a:prstDash val="solid"/>
          </a:ln>
        </p:spPr>
      </p:sp>
      <p:sp>
        <p:nvSpPr>
          <p:cNvPr id="10" name="Rectangle 9"/>
          <p:cNvSpPr>
            <a:spLocks noGrp="1"/>
          </p:cNvSpPr>
          <p:nvPr/>
        </p:nvSpPr>
        <p:spPr>
          <a:xfrm>
            <a:off x="533400" y="6515100"/>
            <a:ext cx="9810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STUDENT ACTION  |  Replace every [ENTER ...] field. Delete this rail before the final presentation.</a:t>
            </a:r>
            <a:endParaRPr sz="900" b="1">
              <a:solidFill>
                <a:srgbClr val="FFFFFF"/>
              </a:solidFill>
            </a:endParaRPr>
          </a:p>
        </p:txBody>
      </p:sp>
      <p:sp>
        <p:nvSpPr>
          <p:cNvPr id="11" name="Rectangle 10"/>
          <p:cNvSpPr>
            <a:spLocks noGrp="1"/>
          </p:cNvSpPr>
          <p:nvPr/>
        </p:nvSpPr>
        <p:spPr>
          <a:xfrm>
            <a:off x="11049000" y="6515100"/>
            <a:ext cx="6191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75" b="1">
                <a:solidFill>
                  <a:srgbClr val="D39216"/>
                </a:solidFill>
              </a:defRPr>
            </a:pPr>
            <a:r>
              <a:rPr sz="975" b="1">
                <a:solidFill>
                  <a:srgbClr val="D39216"/>
                </a:solidFill>
              </a:rPr>
              <a:t>24</a:t>
            </a:r>
            <a:endParaRPr sz="975" b="1">
              <a:solidFill>
                <a:srgbClr val="D39216"/>
              </a:solidFill>
            </a:endParaRPr>
          </a:p>
        </p:txBody>
      </p:sp>
      <p:sp>
        <p:nvSpPr>
          <p:cNvPr id="12" name="Rectangle 11"/>
          <p:cNvSpPr>
            <a:spLocks noGrp="1"/>
          </p:cNvSpPr>
          <p:nvPr/>
        </p:nvSpPr>
        <p:spPr>
          <a:xfrm>
            <a:off x="4191000" y="6715125"/>
            <a:ext cx="3810000" cy="104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600" b="0">
                <a:solidFill>
                  <a:srgbClr val="BFD3E1"/>
                </a:solidFill>
              </a:defRPr>
            </a:pPr>
            <a:r>
              <a:rPr sz="600" b="0">
                <a:solidFill>
                  <a:srgbClr val="BFD3E1"/>
                </a:solidFill>
              </a:rPr>
              <a:t>Dr. C. Rajesh Babu | SSETSCS415</a:t>
            </a:r>
            <a:endParaRPr sz="600" b="0">
              <a:solidFill>
                <a:srgbClr val="BFD3E1"/>
              </a:solidFill>
            </a:endParaRPr>
          </a:p>
        </p:txBody>
      </p:sp>
      <p:sp>
        <p:nvSpPr>
          <p:cNvPr id="13" name="Rectangle 12"/>
          <p:cNvSpPr>
            <a:spLocks noGrp="1"/>
          </p:cNvSpPr>
          <p:nvPr/>
        </p:nvSpPr>
        <p:spPr>
          <a:xfrm>
            <a:off x="514350" y="2143125"/>
            <a:ext cx="3565525" cy="3571875"/>
          </a:xfrm>
          <a:prstGeom prst="rect">
            <a:avLst/>
          </a:prstGeom>
          <a:solidFill>
            <a:srgbClr val="FFFFFF"/>
          </a:solidFill>
          <a:ln w="9525">
            <a:solidFill>
              <a:srgbClr val="C9D6E2"/>
            </a:solidFill>
            <a:prstDash val="solid"/>
          </a:ln>
        </p:spPr>
      </p:sp>
      <p:sp>
        <p:nvSpPr>
          <p:cNvPr id="14" name="Rectangle 13"/>
          <p:cNvSpPr>
            <a:spLocks noGrp="1"/>
          </p:cNvSpPr>
          <p:nvPr/>
        </p:nvSpPr>
        <p:spPr>
          <a:xfrm>
            <a:off x="514350" y="2143125"/>
            <a:ext cx="57150" cy="3571875"/>
          </a:xfrm>
          <a:prstGeom prst="rect">
            <a:avLst/>
          </a:prstGeom>
          <a:solidFill>
            <a:srgbClr val="1264A3"/>
          </a:solidFill>
          <a:ln w="0">
            <a:solidFill>
              <a:srgbClr val="1264A3"/>
            </a:solidFill>
            <a:prstDash val="solid"/>
          </a:ln>
        </p:spPr>
      </p:sp>
      <p:sp>
        <p:nvSpPr>
          <p:cNvPr id="15" name="Rectangle 14"/>
          <p:cNvSpPr>
            <a:spLocks noGrp="1"/>
          </p:cNvSpPr>
          <p:nvPr/>
        </p:nvSpPr>
        <p:spPr>
          <a:xfrm>
            <a:off x="723900" y="2295525"/>
            <a:ext cx="316547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>
                <a:solidFill>
                  <a:srgbClr val="1264A3"/>
                </a:solidFill>
              </a:defRPr>
            </a:pPr>
            <a:r>
              <a:rPr sz="900" b="1">
                <a:solidFill>
                  <a:srgbClr val="1264A3"/>
                </a:solidFill>
              </a:rPr>
              <a:t>SECURITY AND PRIVACY</a:t>
            </a:r>
            <a:endParaRPr sz="900" b="1">
              <a:solidFill>
                <a:srgbClr val="1264A3"/>
              </a:solidFill>
            </a:endParaRPr>
          </a:p>
        </p:txBody>
      </p:sp>
      <p:sp>
        <p:nvSpPr>
          <p:cNvPr id="16" name="Rectangle 15"/>
          <p:cNvSpPr>
            <a:spLocks noGrp="1"/>
          </p:cNvSpPr>
          <p:nvPr/>
        </p:nvSpPr>
        <p:spPr>
          <a:xfrm>
            <a:off x="723900" y="2600325"/>
            <a:ext cx="3165475" cy="2981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125" b="0">
                <a:solidFill>
                  <a:srgbClr val="183247"/>
                </a:solidFill>
              </a:defRPr>
            </a:pPr>
            <a:r>
              <a:rPr sz="1125" b="0">
                <a:solidFill>
                  <a:srgbClr val="183247"/>
                </a:solidFill>
              </a:rPr>
              <a:t>Cognito-issued JWT auth with rotating refresh tokens; RBAC across Organizer/Marshal/Admin roles; TLS/HTTPS on all API traffic, RDS encryption at rest, secrets in AWS Secrets Manager; API access logged to CloudWatch for audit.</a:t>
            </a:r>
            <a:endParaRPr sz="1125" b="0">
              <a:solidFill>
                <a:srgbClr val="183247"/>
              </a:solidFill>
            </a:endParaRPr>
          </a:p>
        </p:txBody>
      </p:sp>
      <p:sp>
        <p:nvSpPr>
          <p:cNvPr id="17" name="Rectangle 16"/>
          <p:cNvSpPr>
            <a:spLocks noGrp="1"/>
          </p:cNvSpPr>
          <p:nvPr/>
        </p:nvSpPr>
        <p:spPr>
          <a:xfrm>
            <a:off x="4308475" y="2143125"/>
            <a:ext cx="3565525" cy="3571875"/>
          </a:xfrm>
          <a:prstGeom prst="rect">
            <a:avLst/>
          </a:prstGeom>
          <a:solidFill>
            <a:srgbClr val="FFFFFF"/>
          </a:solidFill>
          <a:ln w="9525">
            <a:solidFill>
              <a:srgbClr val="C9D6E2"/>
            </a:solidFill>
            <a:prstDash val="solid"/>
          </a:ln>
        </p:spPr>
      </p:sp>
      <p:sp>
        <p:nvSpPr>
          <p:cNvPr id="18" name="Rectangle 17"/>
          <p:cNvSpPr>
            <a:spLocks noGrp="1"/>
          </p:cNvSpPr>
          <p:nvPr/>
        </p:nvSpPr>
        <p:spPr>
          <a:xfrm>
            <a:off x="4308475" y="2143125"/>
            <a:ext cx="57150" cy="3571875"/>
          </a:xfrm>
          <a:prstGeom prst="rect">
            <a:avLst/>
          </a:prstGeom>
          <a:solidFill>
            <a:srgbClr val="0B7895"/>
          </a:solidFill>
          <a:ln w="0">
            <a:solidFill>
              <a:srgbClr val="0B7895"/>
            </a:solidFill>
            <a:prstDash val="solid"/>
          </a:ln>
        </p:spPr>
      </p:sp>
      <p:sp>
        <p:nvSpPr>
          <p:cNvPr id="19" name="Rectangle 18"/>
          <p:cNvSpPr>
            <a:spLocks noGrp="1"/>
          </p:cNvSpPr>
          <p:nvPr/>
        </p:nvSpPr>
        <p:spPr>
          <a:xfrm>
            <a:off x="4518025" y="2295525"/>
            <a:ext cx="316547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>
                <a:solidFill>
                  <a:srgbClr val="0B7895"/>
                </a:solidFill>
              </a:defRPr>
            </a:pPr>
            <a:r>
              <a:rPr sz="900" b="1">
                <a:solidFill>
                  <a:srgbClr val="0B7895"/>
                </a:solidFill>
              </a:rPr>
              <a:t>SUSTAINABLE CLOUD USE</a:t>
            </a:r>
            <a:endParaRPr sz="900" b="1">
              <a:solidFill>
                <a:srgbClr val="0B7895"/>
              </a:solidFill>
            </a:endParaRPr>
          </a:p>
        </p:txBody>
      </p:sp>
      <p:sp>
        <p:nvSpPr>
          <p:cNvPr id="20" name="Rectangle 19"/>
          <p:cNvSpPr>
            <a:spLocks noGrp="1"/>
          </p:cNvSpPr>
          <p:nvPr/>
        </p:nvSpPr>
        <p:spPr>
          <a:xfrm>
            <a:off x="4518025" y="2600325"/>
            <a:ext cx="3165475" cy="2981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125" b="0">
                <a:solidFill>
                  <a:srgbClr val="183247"/>
                </a:solidFill>
              </a:defRPr>
            </a:pPr>
            <a:r>
              <a:rPr sz="1125" b="0">
                <a:solidFill>
                  <a:srgbClr val="183247"/>
                </a:solidFill>
              </a:rPr>
              <a:t>ECS Fargate services right-sized at 1 vCPU/2GB and auto-scale on CPU &gt;70%; S3 lifecycle rules archive camera frames after 30 days; RDS/Redis sized for the 40-zone workload rather than over-provisioned for peak.</a:t>
            </a:r>
            <a:endParaRPr sz="1125" b="0">
              <a:solidFill>
                <a:srgbClr val="183247"/>
              </a:solidFill>
            </a:endParaRPr>
          </a:p>
        </p:txBody>
      </p:sp>
      <p:sp>
        <p:nvSpPr>
          <p:cNvPr id="21" name="Rectangle 20"/>
          <p:cNvSpPr>
            <a:spLocks noGrp="1"/>
          </p:cNvSpPr>
          <p:nvPr/>
        </p:nvSpPr>
        <p:spPr>
          <a:xfrm>
            <a:off x="8102600" y="2143125"/>
            <a:ext cx="3565525" cy="3571875"/>
          </a:xfrm>
          <a:prstGeom prst="rect">
            <a:avLst/>
          </a:prstGeom>
          <a:solidFill>
            <a:srgbClr val="FFFFFF"/>
          </a:solidFill>
          <a:ln w="9525">
            <a:solidFill>
              <a:srgbClr val="C9D6E2"/>
            </a:solidFill>
            <a:prstDash val="solid"/>
          </a:ln>
        </p:spPr>
      </p:sp>
      <p:sp>
        <p:nvSpPr>
          <p:cNvPr id="22" name="Rectangle 21"/>
          <p:cNvSpPr>
            <a:spLocks noGrp="1"/>
          </p:cNvSpPr>
          <p:nvPr/>
        </p:nvSpPr>
        <p:spPr>
          <a:xfrm>
            <a:off x="8102600" y="2143125"/>
            <a:ext cx="57150" cy="3571875"/>
          </a:xfrm>
          <a:prstGeom prst="rect">
            <a:avLst/>
          </a:prstGeom>
          <a:solidFill>
            <a:srgbClr val="D39216"/>
          </a:solidFill>
          <a:ln w="0">
            <a:solidFill>
              <a:srgbClr val="D39216"/>
            </a:solidFill>
            <a:prstDash val="solid"/>
          </a:ln>
        </p:spPr>
      </p:sp>
      <p:sp>
        <p:nvSpPr>
          <p:cNvPr id="23" name="Rectangle 22"/>
          <p:cNvSpPr>
            <a:spLocks noGrp="1"/>
          </p:cNvSpPr>
          <p:nvPr/>
        </p:nvSpPr>
        <p:spPr>
          <a:xfrm>
            <a:off x="8312150" y="2295525"/>
            <a:ext cx="316547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>
                <a:solidFill>
                  <a:srgbClr val="D39216"/>
                </a:solidFill>
              </a:defRPr>
            </a:pPr>
            <a:r>
              <a:rPr sz="900" b="1">
                <a:solidFill>
                  <a:srgbClr val="D39216"/>
                </a:solidFill>
              </a:rPr>
              <a:t>STANDARDS AND RESPONSIBILITY</a:t>
            </a:r>
            <a:endParaRPr sz="900" b="1">
              <a:solidFill>
                <a:srgbClr val="D39216"/>
              </a:solidFill>
            </a:endParaRPr>
          </a:p>
        </p:txBody>
      </p:sp>
      <p:sp>
        <p:nvSpPr>
          <p:cNvPr id="24" name="Rectangle 23"/>
          <p:cNvSpPr>
            <a:spLocks noGrp="1"/>
          </p:cNvSpPr>
          <p:nvPr/>
        </p:nvSpPr>
        <p:spPr>
          <a:xfrm>
            <a:off x="8312150" y="2600325"/>
            <a:ext cx="3165475" cy="2981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125" b="0">
                <a:solidFill>
                  <a:srgbClr val="183247"/>
                </a:solidFill>
              </a:defRPr>
            </a:pPr>
            <a:r>
              <a:rPr sz="1125" b="0">
                <a:solidFill>
                  <a:srgbClr val="183247"/>
                </a:solidFill>
              </a:rPr>
              <a:t>REST/JSON API conventions and WCAG-aware dashboard contrast/labeling; personal data limited to staff roster and incident metadata; CSRNet outputs are aggregate density counts only, no facial recognition or individual tracking.</a:t>
            </a:r>
            <a:endParaRPr sz="1125" b="0">
              <a:solidFill>
                <a:srgbClr val="183247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5" name="Rectangle 24"/>
          <p:cNvSpPr>
            <a:spLocks noGrp="1"/>
          </p:cNvSpPr>
          <p:nvPr/>
        </p:nvSpPr>
        <p:spPr>
          <a:xfrm>
            <a:off x="0" y="0"/>
            <a:ext cx="12182475" cy="76200"/>
          </a:xfrm>
          <a:prstGeom prst="rect">
            <a:avLst/>
          </a:prstGeom>
          <a:solidFill>
            <a:srgbClr val="0B7895"/>
          </a:solidFill>
          <a:ln w="0">
            <a:solidFill>
              <a:srgbClr val="0B7895"/>
            </a:solidFill>
            <a:prstDash val="solid"/>
          </a:ln>
        </p:spPr>
      </p:sp>
      <p:sp>
        <p:nvSpPr>
          <p:cNvPr id="2" name="Rounded Rectangle 1"/>
          <p:cNvSpPr>
            <a:spLocks noGrp="1"/>
          </p:cNvSpPr>
          <p:nvPr/>
        </p:nvSpPr>
        <p:spPr>
          <a:xfrm>
            <a:off x="438150" y="228600"/>
            <a:ext cx="1000125" cy="55245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C9D6E2"/>
            </a:solidFill>
            <a:prstDash val="solid"/>
          </a:ln>
        </p:spPr>
      </p:sp>
      <p:pic>
        <p:nvPicPr>
          <p:cNvPr id="27" name="Picture 2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4350" y="450359"/>
            <a:ext cx="847725" cy="108932"/>
          </a:xfrm>
          <a:prstGeom prst="rect">
            <a:avLst/>
          </a:prstGeom>
        </p:spPr>
      </p:pic>
      <p:sp>
        <p:nvSpPr>
          <p:cNvPr id="4" name="Rectangle 3"/>
          <p:cNvSpPr>
            <a:spLocks noGrp="1"/>
          </p:cNvSpPr>
          <p:nvPr/>
        </p:nvSpPr>
        <p:spPr>
          <a:xfrm>
            <a:off x="1657350" y="266700"/>
            <a:ext cx="6953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>
                <a:solidFill>
                  <a:srgbClr val="1264A3"/>
                </a:solidFill>
              </a:defRPr>
            </a:pPr>
            <a:r>
              <a:rPr sz="900" b="1">
                <a:solidFill>
                  <a:srgbClr val="1264A3"/>
                </a:solidFill>
              </a:rPr>
              <a:t>CSA15  |  CLOUD COMPUTING AND BIG DATA ANALYTICS</a:t>
            </a:r>
            <a:endParaRPr sz="900" b="1">
              <a:solidFill>
                <a:srgbClr val="1264A3"/>
              </a:solidFill>
            </a:endParaRPr>
          </a:p>
        </p:txBody>
      </p:sp>
      <p:sp>
        <p:nvSpPr>
          <p:cNvPr id="5" name="Rectangle 4"/>
          <p:cNvSpPr>
            <a:spLocks noGrp="1"/>
          </p:cNvSpPr>
          <p:nvPr/>
        </p:nvSpPr>
        <p:spPr>
          <a:xfrm>
            <a:off x="9572625" y="266700"/>
            <a:ext cx="209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825" b="1">
                <a:solidFill>
                  <a:srgbClr val="0B7895"/>
                </a:solidFill>
              </a:defRPr>
            </a:pPr>
            <a:r>
              <a:rPr sz="825" b="1">
                <a:solidFill>
                  <a:srgbClr val="0B7895"/>
                </a:solidFill>
              </a:rPr>
              <a:t>CAPSTONE FINAL DEFENSE</a:t>
            </a:r>
            <a:endParaRPr sz="825" b="1">
              <a:solidFill>
                <a:srgbClr val="0B7895"/>
              </a:solidFill>
            </a:endParaRPr>
          </a:p>
        </p:txBody>
      </p:sp>
      <p:sp>
        <p:nvSpPr>
          <p:cNvPr id="6" name="Rectangle 5"/>
          <p:cNvSpPr>
            <a:spLocks noGrp="1"/>
          </p:cNvSpPr>
          <p:nvPr/>
        </p:nvSpPr>
        <p:spPr>
          <a:xfrm>
            <a:off x="514350" y="981075"/>
            <a:ext cx="10287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2325" b="1">
                <a:solidFill>
                  <a:srgbClr val="0B2E4F"/>
                </a:solidFill>
              </a:defRPr>
            </a:pPr>
            <a:r>
              <a:rPr sz="2325" b="1">
                <a:solidFill>
                  <a:srgbClr val="0B2E4F"/>
                </a:solidFill>
              </a:rPr>
              <a:t>Conclusion and Production Roadmap</a:t>
            </a:r>
            <a:endParaRPr sz="2325" b="1">
              <a:solidFill>
                <a:srgbClr val="0B2E4F"/>
              </a:solidFill>
            </a:endParaRPr>
          </a:p>
        </p:txBody>
      </p:sp>
      <p:sp>
        <p:nvSpPr>
          <p:cNvPr id="7" name="Rectangle 6"/>
          <p:cNvSpPr>
            <a:spLocks noGrp="1"/>
          </p:cNvSpPr>
          <p:nvPr/>
        </p:nvSpPr>
        <p:spPr>
          <a:xfrm>
            <a:off x="533400" y="1457325"/>
            <a:ext cx="10287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125" b="0">
                <a:solidFill>
                  <a:srgbClr val="52677A"/>
                </a:solidFill>
              </a:defRPr>
            </a:pPr>
            <a:r>
              <a:rPr sz="1125" b="0">
                <a:solidFill>
                  <a:srgbClr val="52677A"/>
                </a:solidFill>
              </a:rPr>
              <a:t>Separate what is proven today from what is required for pilot and production readiness.</a:t>
            </a:r>
            <a:endParaRPr sz="1125" b="0">
              <a:solidFill>
                <a:srgbClr val="52677A"/>
              </a:solidFill>
            </a:endParaRPr>
          </a:p>
        </p:txBody>
      </p:sp>
      <p:sp>
        <p:nvSpPr>
          <p:cNvPr id="8" name="Rectangle 7"/>
          <p:cNvSpPr>
            <a:spLocks noGrp="1"/>
          </p:cNvSpPr>
          <p:nvPr/>
        </p:nvSpPr>
        <p:spPr>
          <a:xfrm>
            <a:off x="514350" y="1847850"/>
            <a:ext cx="11153775" cy="19050"/>
          </a:xfrm>
          <a:prstGeom prst="rect">
            <a:avLst/>
          </a:prstGeom>
          <a:solidFill>
            <a:srgbClr val="C9D6E2"/>
          </a:solidFill>
          <a:ln w="0">
            <a:solidFill>
              <a:srgbClr val="C9D6E2"/>
            </a:solidFill>
            <a:prstDash val="solid"/>
          </a:ln>
        </p:spPr>
      </p:sp>
      <p:sp>
        <p:nvSpPr>
          <p:cNvPr id="9" name="Rectangle 8"/>
          <p:cNvSpPr>
            <a:spLocks noGrp="1"/>
          </p:cNvSpPr>
          <p:nvPr/>
        </p:nvSpPr>
        <p:spPr>
          <a:xfrm>
            <a:off x="0" y="6419850"/>
            <a:ext cx="12182475" cy="438150"/>
          </a:xfrm>
          <a:prstGeom prst="rect">
            <a:avLst/>
          </a:prstGeom>
          <a:solidFill>
            <a:srgbClr val="0B2E4F"/>
          </a:solidFill>
          <a:ln w="0">
            <a:solidFill>
              <a:srgbClr val="0B2E4F"/>
            </a:solidFill>
            <a:prstDash val="solid"/>
          </a:ln>
        </p:spPr>
      </p:sp>
      <p:sp>
        <p:nvSpPr>
          <p:cNvPr id="10" name="Rectangle 9"/>
          <p:cNvSpPr>
            <a:spLocks noGrp="1"/>
          </p:cNvSpPr>
          <p:nvPr/>
        </p:nvSpPr>
        <p:spPr>
          <a:xfrm>
            <a:off x="533400" y="6515100"/>
            <a:ext cx="9810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STUDENT ACTION  |  Replace every [ENTER ...] field. Delete this rail before the final presentation.</a:t>
            </a:r>
            <a:endParaRPr sz="900" b="1">
              <a:solidFill>
                <a:srgbClr val="FFFFFF"/>
              </a:solidFill>
            </a:endParaRPr>
          </a:p>
        </p:txBody>
      </p:sp>
      <p:sp>
        <p:nvSpPr>
          <p:cNvPr id="11" name="Rectangle 10"/>
          <p:cNvSpPr>
            <a:spLocks noGrp="1"/>
          </p:cNvSpPr>
          <p:nvPr/>
        </p:nvSpPr>
        <p:spPr>
          <a:xfrm>
            <a:off x="11049000" y="6515100"/>
            <a:ext cx="6191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75" b="1">
                <a:solidFill>
                  <a:srgbClr val="D39216"/>
                </a:solidFill>
              </a:defRPr>
            </a:pPr>
            <a:r>
              <a:rPr sz="975" b="1">
                <a:solidFill>
                  <a:srgbClr val="D39216"/>
                </a:solidFill>
              </a:rPr>
              <a:t>25</a:t>
            </a:r>
            <a:endParaRPr sz="975" b="1">
              <a:solidFill>
                <a:srgbClr val="D39216"/>
              </a:solidFill>
            </a:endParaRPr>
          </a:p>
        </p:txBody>
      </p:sp>
      <p:sp>
        <p:nvSpPr>
          <p:cNvPr id="12" name="Rectangle 11"/>
          <p:cNvSpPr>
            <a:spLocks noGrp="1"/>
          </p:cNvSpPr>
          <p:nvPr/>
        </p:nvSpPr>
        <p:spPr>
          <a:xfrm>
            <a:off x="4191000" y="6715125"/>
            <a:ext cx="3810000" cy="104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600" b="0">
                <a:solidFill>
                  <a:srgbClr val="BFD3E1"/>
                </a:solidFill>
              </a:defRPr>
            </a:pPr>
            <a:r>
              <a:rPr sz="600" b="0">
                <a:solidFill>
                  <a:srgbClr val="BFD3E1"/>
                </a:solidFill>
              </a:rPr>
              <a:t>Dr. C. Rajesh Babu | SSETSCS415</a:t>
            </a:r>
            <a:endParaRPr sz="600" b="0">
              <a:solidFill>
                <a:srgbClr val="BFD3E1"/>
              </a:solidFill>
            </a:endParaRPr>
          </a:p>
        </p:txBody>
      </p:sp>
      <p:sp>
        <p:nvSpPr>
          <p:cNvPr id="13" name="Rectangle 12"/>
          <p:cNvSpPr>
            <a:spLocks noGrp="1"/>
          </p:cNvSpPr>
          <p:nvPr/>
        </p:nvSpPr>
        <p:spPr>
          <a:xfrm>
            <a:off x="514350" y="2143125"/>
            <a:ext cx="3565525" cy="3571875"/>
          </a:xfrm>
          <a:prstGeom prst="rect">
            <a:avLst/>
          </a:prstGeom>
          <a:solidFill>
            <a:srgbClr val="FFFFFF"/>
          </a:solidFill>
          <a:ln w="9525">
            <a:solidFill>
              <a:srgbClr val="C9D6E2"/>
            </a:solidFill>
            <a:prstDash val="solid"/>
          </a:ln>
        </p:spPr>
      </p:sp>
      <p:sp>
        <p:nvSpPr>
          <p:cNvPr id="14" name="Rectangle 13"/>
          <p:cNvSpPr>
            <a:spLocks noGrp="1"/>
          </p:cNvSpPr>
          <p:nvPr/>
        </p:nvSpPr>
        <p:spPr>
          <a:xfrm>
            <a:off x="514350" y="2143125"/>
            <a:ext cx="57150" cy="3571875"/>
          </a:xfrm>
          <a:prstGeom prst="rect">
            <a:avLst/>
          </a:prstGeom>
          <a:solidFill>
            <a:srgbClr val="1264A3"/>
          </a:solidFill>
          <a:ln w="0">
            <a:solidFill>
              <a:srgbClr val="1264A3"/>
            </a:solidFill>
            <a:prstDash val="solid"/>
          </a:ln>
        </p:spPr>
      </p:sp>
      <p:sp>
        <p:nvSpPr>
          <p:cNvPr id="15" name="Rectangle 14"/>
          <p:cNvSpPr>
            <a:spLocks noGrp="1"/>
          </p:cNvSpPr>
          <p:nvPr/>
        </p:nvSpPr>
        <p:spPr>
          <a:xfrm>
            <a:off x="723900" y="2295525"/>
            <a:ext cx="316547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>
                <a:solidFill>
                  <a:srgbClr val="1264A3"/>
                </a:solidFill>
              </a:defRPr>
            </a:pPr>
            <a:r>
              <a:rPr sz="900" b="1">
                <a:solidFill>
                  <a:srgbClr val="1264A3"/>
                </a:solidFill>
              </a:rPr>
              <a:t>PROVEN NOW</a:t>
            </a:r>
            <a:endParaRPr sz="900" b="1">
              <a:solidFill>
                <a:srgbClr val="1264A3"/>
              </a:solidFill>
            </a:endParaRPr>
          </a:p>
        </p:txBody>
      </p:sp>
      <p:sp>
        <p:nvSpPr>
          <p:cNvPr id="16" name="Rectangle 15"/>
          <p:cNvSpPr>
            <a:spLocks noGrp="1"/>
          </p:cNvSpPr>
          <p:nvPr/>
        </p:nvSpPr>
        <p:spPr>
          <a:xfrm>
            <a:off x="723900" y="2600325"/>
            <a:ext cx="3165475" cy="2981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200" b="0">
                <a:solidFill>
                  <a:srgbClr val="183247"/>
                </a:solidFill>
              </a:defRPr>
            </a:pPr>
            <a:r>
              <a:rPr sz="1200" b="0">
                <a:solidFill>
                  <a:srgbClr val="183247"/>
                </a:solidFill>
              </a:rPr>
              <a:t>Density estimation hit 8.2 MAE against a 10-person target; incident routing auto-assigned 96% of cases within 200m in 1.9s avg; the full platform held 99.3% uptime over a 4-hour, 40-zone simulated event.</a:t>
            </a:r>
            <a:endParaRPr sz="1200" b="0">
              <a:solidFill>
                <a:srgbClr val="183247"/>
              </a:solidFill>
            </a:endParaRPr>
          </a:p>
        </p:txBody>
      </p:sp>
      <p:sp>
        <p:nvSpPr>
          <p:cNvPr id="17" name="Rectangle 16"/>
          <p:cNvSpPr>
            <a:spLocks noGrp="1"/>
          </p:cNvSpPr>
          <p:nvPr/>
        </p:nvSpPr>
        <p:spPr>
          <a:xfrm>
            <a:off x="4308475" y="2143125"/>
            <a:ext cx="3565525" cy="3571875"/>
          </a:xfrm>
          <a:prstGeom prst="rect">
            <a:avLst/>
          </a:prstGeom>
          <a:solidFill>
            <a:srgbClr val="FFFFFF"/>
          </a:solidFill>
          <a:ln w="9525">
            <a:solidFill>
              <a:srgbClr val="C9D6E2"/>
            </a:solidFill>
            <a:prstDash val="solid"/>
          </a:ln>
        </p:spPr>
      </p:sp>
      <p:sp>
        <p:nvSpPr>
          <p:cNvPr id="18" name="Rectangle 17"/>
          <p:cNvSpPr>
            <a:spLocks noGrp="1"/>
          </p:cNvSpPr>
          <p:nvPr/>
        </p:nvSpPr>
        <p:spPr>
          <a:xfrm>
            <a:off x="4308475" y="2143125"/>
            <a:ext cx="57150" cy="3571875"/>
          </a:xfrm>
          <a:prstGeom prst="rect">
            <a:avLst/>
          </a:prstGeom>
          <a:solidFill>
            <a:srgbClr val="0B7895"/>
          </a:solidFill>
          <a:ln w="0">
            <a:solidFill>
              <a:srgbClr val="0B7895"/>
            </a:solidFill>
            <a:prstDash val="solid"/>
          </a:ln>
        </p:spPr>
      </p:sp>
      <p:sp>
        <p:nvSpPr>
          <p:cNvPr id="19" name="Rectangle 18"/>
          <p:cNvSpPr>
            <a:spLocks noGrp="1"/>
          </p:cNvSpPr>
          <p:nvPr/>
        </p:nvSpPr>
        <p:spPr>
          <a:xfrm>
            <a:off x="4518025" y="2295525"/>
            <a:ext cx="316547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>
                <a:solidFill>
                  <a:srgbClr val="0B7895"/>
                </a:solidFill>
              </a:defRPr>
            </a:pPr>
            <a:r>
              <a:rPr sz="900" b="1">
                <a:solidFill>
                  <a:srgbClr val="0B7895"/>
                </a:solidFill>
              </a:rPr>
              <a:t>KNOWN LIMITATIONS</a:t>
            </a:r>
            <a:endParaRPr sz="900" b="1">
              <a:solidFill>
                <a:srgbClr val="0B7895"/>
              </a:solidFill>
            </a:endParaRPr>
          </a:p>
        </p:txBody>
      </p:sp>
      <p:sp>
        <p:nvSpPr>
          <p:cNvPr id="20" name="Rectangle 19"/>
          <p:cNvSpPr>
            <a:spLocks noGrp="1"/>
          </p:cNvSpPr>
          <p:nvPr/>
        </p:nvSpPr>
        <p:spPr>
          <a:xfrm>
            <a:off x="4518025" y="2600325"/>
            <a:ext cx="3165475" cy="2981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200" b="0">
                <a:solidFill>
                  <a:srgbClr val="183247"/>
                </a:solidFill>
              </a:defRPr>
            </a:pPr>
            <a:r>
              <a:rPr sz="1200" b="0">
                <a:solidFill>
                  <a:srgbClr val="183247"/>
                </a:solidFill>
              </a:rPr>
              <a:t>CSRNet fine-tuned on limited custom footage beyond ShanghaiTech; single-region (ap-south-1) deployment with no multi-region failover tested; responder capacity assumed sufficient at 40 zones/500 users, not validated beyond that scale.</a:t>
            </a:r>
            <a:endParaRPr sz="1200" b="0">
              <a:solidFill>
                <a:srgbClr val="183247"/>
              </a:solidFill>
            </a:endParaRPr>
          </a:p>
        </p:txBody>
      </p:sp>
      <p:sp>
        <p:nvSpPr>
          <p:cNvPr id="21" name="Rectangle 20"/>
          <p:cNvSpPr>
            <a:spLocks noGrp="1"/>
          </p:cNvSpPr>
          <p:nvPr/>
        </p:nvSpPr>
        <p:spPr>
          <a:xfrm>
            <a:off x="8102600" y="2143125"/>
            <a:ext cx="3565525" cy="3571875"/>
          </a:xfrm>
          <a:prstGeom prst="rect">
            <a:avLst/>
          </a:prstGeom>
          <a:solidFill>
            <a:srgbClr val="FFFFFF"/>
          </a:solidFill>
          <a:ln w="9525">
            <a:solidFill>
              <a:srgbClr val="C9D6E2"/>
            </a:solidFill>
            <a:prstDash val="solid"/>
          </a:ln>
        </p:spPr>
      </p:sp>
      <p:sp>
        <p:nvSpPr>
          <p:cNvPr id="22" name="Rectangle 21"/>
          <p:cNvSpPr>
            <a:spLocks noGrp="1"/>
          </p:cNvSpPr>
          <p:nvPr/>
        </p:nvSpPr>
        <p:spPr>
          <a:xfrm>
            <a:off x="8102600" y="2143125"/>
            <a:ext cx="57150" cy="3571875"/>
          </a:xfrm>
          <a:prstGeom prst="rect">
            <a:avLst/>
          </a:prstGeom>
          <a:solidFill>
            <a:srgbClr val="D39216"/>
          </a:solidFill>
          <a:ln w="0">
            <a:solidFill>
              <a:srgbClr val="D39216"/>
            </a:solidFill>
            <a:prstDash val="solid"/>
          </a:ln>
        </p:spPr>
      </p:sp>
      <p:sp>
        <p:nvSpPr>
          <p:cNvPr id="23" name="Rectangle 22"/>
          <p:cNvSpPr>
            <a:spLocks noGrp="1"/>
          </p:cNvSpPr>
          <p:nvPr/>
        </p:nvSpPr>
        <p:spPr>
          <a:xfrm>
            <a:off x="8312150" y="2295525"/>
            <a:ext cx="316547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>
                <a:solidFill>
                  <a:srgbClr val="D39216"/>
                </a:solidFill>
              </a:defRPr>
            </a:pPr>
            <a:r>
              <a:rPr sz="900" b="1">
                <a:solidFill>
                  <a:srgbClr val="D39216"/>
                </a:solidFill>
              </a:rPr>
              <a:t>PRODUCTION ROADMAP</a:t>
            </a:r>
            <a:endParaRPr sz="900" b="1">
              <a:solidFill>
                <a:srgbClr val="D39216"/>
              </a:solidFill>
            </a:endParaRPr>
          </a:p>
        </p:txBody>
      </p:sp>
      <p:sp>
        <p:nvSpPr>
          <p:cNvPr id="24" name="Rectangle 23"/>
          <p:cNvSpPr>
            <a:spLocks noGrp="1"/>
          </p:cNvSpPr>
          <p:nvPr/>
        </p:nvSpPr>
        <p:spPr>
          <a:xfrm>
            <a:off x="8312150" y="2600325"/>
            <a:ext cx="3165475" cy="2981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125" b="0">
                <a:solidFill>
                  <a:srgbClr val="183247"/>
                </a:solidFill>
              </a:defRPr>
            </a:pPr>
            <a:r>
              <a:rPr sz="1125" b="0">
                <a:solidFill>
                  <a:srgbClr val="183247"/>
                </a:solidFill>
              </a:rPr>
              <a:t>30 days: Expand training data with footage from 3 additional live events; add multi-camera zone fusion</a:t>
            </a:r>
            <a:endParaRPr sz="1125" b="0">
              <a:solidFill>
                <a:srgbClr val="183247"/>
              </a:solidFill>
            </a:endParaRPr>
          </a:p>
          <a:p>
            <a:pPr>
              <a:defRPr sz="1125" b="0">
                <a:solidFill>
                  <a:srgbClr val="183247"/>
                </a:solidFill>
              </a:defRPr>
            </a:pPr>
            <a:r>
              <a:rPr sz="1125" b="0">
                <a:solidFill>
                  <a:srgbClr val="183247"/>
                </a:solidFill>
              </a:rPr>
              <a:t>60 days: Multi-region RDS read replica + failover drill; load-test beyond 40 zones / 500 users</a:t>
            </a:r>
            <a:endParaRPr sz="1125" b="0">
              <a:solidFill>
                <a:srgbClr val="183247"/>
              </a:solidFill>
            </a:endParaRPr>
          </a:p>
          <a:p>
            <a:pPr>
              <a:defRPr sz="1125" b="0">
                <a:solidFill>
                  <a:srgbClr val="183247"/>
                </a:solidFill>
              </a:defRPr>
            </a:pPr>
            <a:r>
              <a:rPr sz="1125" b="0">
                <a:solidFill>
                  <a:srgbClr val="183247"/>
                </a:solidFill>
              </a:rPr>
              <a:t>90 days: Pilot at one live public event with a formal incident-response SLA and third-party security review</a:t>
            </a:r>
            <a:endParaRPr sz="1125" b="0">
              <a:solidFill>
                <a:srgbClr val="183247"/>
              </a:solidFill>
            </a:endParaRPr>
          </a:p>
          <a:p>
            <a:pPr>
              <a:defRPr sz="1125" b="0">
                <a:solidFill>
                  <a:srgbClr val="183247"/>
                </a:solidFill>
              </a:defRPr>
            </a:pPr>
            <a:r>
              <a:rPr sz="1125" b="0">
                <a:solidFill>
                  <a:srgbClr val="183247"/>
                </a:solidFill>
              </a:rPr>
              <a:t>Production gate: Sustain 99.5% uptime and &lt;10s incident-routing latency across two consecutive live-event pilots before general release</a:t>
            </a:r>
            <a:endParaRPr sz="1125" b="0">
              <a:solidFill>
                <a:srgbClr val="183247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1" name="Rectangle 20"/>
          <p:cNvSpPr>
            <a:spLocks noGrp="1"/>
          </p:cNvSpPr>
          <p:nvPr/>
        </p:nvSpPr>
        <p:spPr>
          <a:xfrm>
            <a:off x="0" y="0"/>
            <a:ext cx="12182475" cy="76200"/>
          </a:xfrm>
          <a:prstGeom prst="rect">
            <a:avLst/>
          </a:prstGeom>
          <a:solidFill>
            <a:srgbClr val="0B7895"/>
          </a:solidFill>
          <a:ln w="0">
            <a:solidFill>
              <a:srgbClr val="0B7895"/>
            </a:solidFill>
            <a:prstDash val="solid"/>
          </a:ln>
        </p:spPr>
      </p:sp>
      <p:sp>
        <p:nvSpPr>
          <p:cNvPr id="2" name="Rounded Rectangle 1"/>
          <p:cNvSpPr>
            <a:spLocks noGrp="1"/>
          </p:cNvSpPr>
          <p:nvPr/>
        </p:nvSpPr>
        <p:spPr>
          <a:xfrm>
            <a:off x="438150" y="228600"/>
            <a:ext cx="1000125" cy="55245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C9D6E2"/>
            </a:solidFill>
            <a:prstDash val="solid"/>
          </a:ln>
        </p:spPr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4350" y="450359"/>
            <a:ext cx="847725" cy="108932"/>
          </a:xfrm>
          <a:prstGeom prst="rect">
            <a:avLst/>
          </a:prstGeom>
        </p:spPr>
      </p:pic>
      <p:sp>
        <p:nvSpPr>
          <p:cNvPr id="4" name="Rectangle 3"/>
          <p:cNvSpPr>
            <a:spLocks noGrp="1"/>
          </p:cNvSpPr>
          <p:nvPr/>
        </p:nvSpPr>
        <p:spPr>
          <a:xfrm>
            <a:off x="1657350" y="266700"/>
            <a:ext cx="6953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>
                <a:solidFill>
                  <a:srgbClr val="1264A3"/>
                </a:solidFill>
              </a:defRPr>
            </a:pPr>
            <a:r>
              <a:rPr sz="900" b="1">
                <a:solidFill>
                  <a:srgbClr val="1264A3"/>
                </a:solidFill>
              </a:rPr>
              <a:t>CSA15  |  CLOUD COMPUTING AND BIG DATA ANALYTICS</a:t>
            </a:r>
            <a:endParaRPr sz="900" b="1">
              <a:solidFill>
                <a:srgbClr val="1264A3"/>
              </a:solidFill>
            </a:endParaRPr>
          </a:p>
        </p:txBody>
      </p:sp>
      <p:sp>
        <p:nvSpPr>
          <p:cNvPr id="5" name="Rectangle 4"/>
          <p:cNvSpPr>
            <a:spLocks noGrp="1"/>
          </p:cNvSpPr>
          <p:nvPr/>
        </p:nvSpPr>
        <p:spPr>
          <a:xfrm>
            <a:off x="9572625" y="266700"/>
            <a:ext cx="209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825" b="1">
                <a:solidFill>
                  <a:srgbClr val="0B7895"/>
                </a:solidFill>
              </a:defRPr>
            </a:pPr>
            <a:r>
              <a:rPr sz="825" b="1">
                <a:solidFill>
                  <a:srgbClr val="0B7895"/>
                </a:solidFill>
              </a:rPr>
              <a:t>CAPSTONE FINAL DEFENSE</a:t>
            </a:r>
            <a:endParaRPr sz="825" b="1">
              <a:solidFill>
                <a:srgbClr val="0B7895"/>
              </a:solidFill>
            </a:endParaRPr>
          </a:p>
        </p:txBody>
      </p:sp>
      <p:sp>
        <p:nvSpPr>
          <p:cNvPr id="6" name="Rectangle 5"/>
          <p:cNvSpPr>
            <a:spLocks noGrp="1"/>
          </p:cNvSpPr>
          <p:nvPr/>
        </p:nvSpPr>
        <p:spPr>
          <a:xfrm>
            <a:off x="514350" y="981075"/>
            <a:ext cx="10287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2325" b="1">
                <a:solidFill>
                  <a:srgbClr val="0B2E4F"/>
                </a:solidFill>
              </a:defRPr>
            </a:pPr>
            <a:r>
              <a:rPr sz="2325" b="1">
                <a:solidFill>
                  <a:srgbClr val="0B2E4F"/>
                </a:solidFill>
              </a:rPr>
              <a:t>References and Project Artefacts</a:t>
            </a:r>
            <a:endParaRPr sz="2325" b="1">
              <a:solidFill>
                <a:srgbClr val="0B2E4F"/>
              </a:solidFill>
            </a:endParaRPr>
          </a:p>
        </p:txBody>
      </p:sp>
      <p:sp>
        <p:nvSpPr>
          <p:cNvPr id="7" name="Rectangle 6"/>
          <p:cNvSpPr>
            <a:spLocks noGrp="1"/>
          </p:cNvSpPr>
          <p:nvPr/>
        </p:nvSpPr>
        <p:spPr>
          <a:xfrm>
            <a:off x="533400" y="1457325"/>
            <a:ext cx="10287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125" b="0">
                <a:solidFill>
                  <a:srgbClr val="52677A"/>
                </a:solidFill>
              </a:defRPr>
            </a:pPr>
            <a:r>
              <a:rPr sz="1125" b="0">
                <a:solidFill>
                  <a:srgbClr val="52677A"/>
                </a:solidFill>
              </a:rPr>
              <a:t>Provide traceable sources and direct links to the complete engineering evidence.</a:t>
            </a:r>
            <a:endParaRPr sz="1125" b="0">
              <a:solidFill>
                <a:srgbClr val="52677A"/>
              </a:solidFill>
            </a:endParaRPr>
          </a:p>
        </p:txBody>
      </p:sp>
      <p:sp>
        <p:nvSpPr>
          <p:cNvPr id="8" name="Rectangle 7"/>
          <p:cNvSpPr>
            <a:spLocks noGrp="1"/>
          </p:cNvSpPr>
          <p:nvPr/>
        </p:nvSpPr>
        <p:spPr>
          <a:xfrm>
            <a:off x="514350" y="1847850"/>
            <a:ext cx="11153775" cy="19050"/>
          </a:xfrm>
          <a:prstGeom prst="rect">
            <a:avLst/>
          </a:prstGeom>
          <a:solidFill>
            <a:srgbClr val="C9D6E2"/>
          </a:solidFill>
          <a:ln w="0">
            <a:solidFill>
              <a:srgbClr val="C9D6E2"/>
            </a:solidFill>
            <a:prstDash val="solid"/>
          </a:ln>
        </p:spPr>
      </p:sp>
      <p:sp>
        <p:nvSpPr>
          <p:cNvPr id="9" name="Rectangle 8"/>
          <p:cNvSpPr>
            <a:spLocks noGrp="1"/>
          </p:cNvSpPr>
          <p:nvPr/>
        </p:nvSpPr>
        <p:spPr>
          <a:xfrm>
            <a:off x="0" y="6419850"/>
            <a:ext cx="12182475" cy="438150"/>
          </a:xfrm>
          <a:prstGeom prst="rect">
            <a:avLst/>
          </a:prstGeom>
          <a:solidFill>
            <a:srgbClr val="0B2E4F"/>
          </a:solidFill>
          <a:ln w="0">
            <a:solidFill>
              <a:srgbClr val="0B2E4F"/>
            </a:solidFill>
            <a:prstDash val="solid"/>
          </a:ln>
        </p:spPr>
      </p:sp>
      <p:sp>
        <p:nvSpPr>
          <p:cNvPr id="10" name="Rectangle 9"/>
          <p:cNvSpPr>
            <a:spLocks noGrp="1"/>
          </p:cNvSpPr>
          <p:nvPr/>
        </p:nvSpPr>
        <p:spPr>
          <a:xfrm>
            <a:off x="533400" y="6515100"/>
            <a:ext cx="9810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STUDENT ACTION  |  Replace every [ENTER ...] field. Delete this rail before the final presentation.</a:t>
            </a:r>
            <a:endParaRPr sz="900" b="1">
              <a:solidFill>
                <a:srgbClr val="FFFFFF"/>
              </a:solidFill>
            </a:endParaRPr>
          </a:p>
        </p:txBody>
      </p:sp>
      <p:sp>
        <p:nvSpPr>
          <p:cNvPr id="11" name="Rectangle 10"/>
          <p:cNvSpPr>
            <a:spLocks noGrp="1"/>
          </p:cNvSpPr>
          <p:nvPr/>
        </p:nvSpPr>
        <p:spPr>
          <a:xfrm>
            <a:off x="11049000" y="6515100"/>
            <a:ext cx="6191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75" b="1">
                <a:solidFill>
                  <a:srgbClr val="D39216"/>
                </a:solidFill>
              </a:defRPr>
            </a:pPr>
            <a:r>
              <a:rPr sz="975" b="1">
                <a:solidFill>
                  <a:srgbClr val="D39216"/>
                </a:solidFill>
              </a:rPr>
              <a:t>26</a:t>
            </a:r>
            <a:endParaRPr sz="975" b="1">
              <a:solidFill>
                <a:srgbClr val="D39216"/>
              </a:solidFill>
            </a:endParaRPr>
          </a:p>
        </p:txBody>
      </p:sp>
      <p:sp>
        <p:nvSpPr>
          <p:cNvPr id="12" name="Rectangle 11"/>
          <p:cNvSpPr>
            <a:spLocks noGrp="1"/>
          </p:cNvSpPr>
          <p:nvPr/>
        </p:nvSpPr>
        <p:spPr>
          <a:xfrm>
            <a:off x="4191000" y="6715125"/>
            <a:ext cx="3810000" cy="104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600" b="0">
                <a:solidFill>
                  <a:srgbClr val="BFD3E1"/>
                </a:solidFill>
              </a:defRPr>
            </a:pPr>
            <a:r>
              <a:rPr sz="600" b="0">
                <a:solidFill>
                  <a:srgbClr val="BFD3E1"/>
                </a:solidFill>
              </a:rPr>
              <a:t>Dr. C. Rajesh Babu | SSETSCS415</a:t>
            </a:r>
            <a:endParaRPr sz="600" b="0">
              <a:solidFill>
                <a:srgbClr val="BFD3E1"/>
              </a:solidFill>
            </a:endParaRPr>
          </a:p>
        </p:txBody>
      </p:sp>
      <p:sp>
        <p:nvSpPr>
          <p:cNvPr id="13" name="Rectangle 12"/>
          <p:cNvSpPr>
            <a:spLocks noGrp="1"/>
          </p:cNvSpPr>
          <p:nvPr/>
        </p:nvSpPr>
        <p:spPr>
          <a:xfrm>
            <a:off x="514350" y="2143125"/>
            <a:ext cx="5314950" cy="36195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6E2"/>
            </a:solidFill>
            <a:prstDash val="solid"/>
          </a:ln>
        </p:spPr>
      </p:sp>
      <p:sp>
        <p:nvSpPr>
          <p:cNvPr id="14" name="Rectangle 13"/>
          <p:cNvSpPr>
            <a:spLocks noGrp="1"/>
          </p:cNvSpPr>
          <p:nvPr/>
        </p:nvSpPr>
        <p:spPr>
          <a:xfrm>
            <a:off x="514350" y="2143125"/>
            <a:ext cx="57150" cy="3619500"/>
          </a:xfrm>
          <a:prstGeom prst="rect">
            <a:avLst/>
          </a:prstGeom>
          <a:solidFill>
            <a:srgbClr val="1264A3"/>
          </a:solidFill>
          <a:ln w="0">
            <a:solidFill>
              <a:srgbClr val="1264A3"/>
            </a:solidFill>
            <a:prstDash val="solid"/>
          </a:ln>
        </p:spPr>
      </p:sp>
      <p:sp>
        <p:nvSpPr>
          <p:cNvPr id="15" name="Rectangle 14"/>
          <p:cNvSpPr>
            <a:spLocks noGrp="1"/>
          </p:cNvSpPr>
          <p:nvPr/>
        </p:nvSpPr>
        <p:spPr>
          <a:xfrm>
            <a:off x="723900" y="2295525"/>
            <a:ext cx="49149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>
                <a:solidFill>
                  <a:srgbClr val="1264A3"/>
                </a:solidFill>
              </a:defRPr>
            </a:pPr>
            <a:r>
              <a:rPr sz="900" b="1">
                <a:solidFill>
                  <a:srgbClr val="1264A3"/>
                </a:solidFill>
              </a:rPr>
              <a:t>REFERENCES</a:t>
            </a:r>
            <a:endParaRPr sz="900" b="1">
              <a:solidFill>
                <a:srgbClr val="1264A3"/>
              </a:solidFill>
            </a:endParaRPr>
          </a:p>
        </p:txBody>
      </p:sp>
      <p:sp>
        <p:nvSpPr>
          <p:cNvPr id="16" name="Rectangle 15"/>
          <p:cNvSpPr>
            <a:spLocks noGrp="1"/>
          </p:cNvSpPr>
          <p:nvPr/>
        </p:nvSpPr>
        <p:spPr>
          <a:xfrm>
            <a:off x="723900" y="2600325"/>
            <a:ext cx="4914900" cy="3028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125" b="0">
                <a:solidFill>
                  <a:srgbClr val="183247"/>
                </a:solidFill>
              </a:defRPr>
            </a:pPr>
            <a:r>
              <a:rPr sz="1125" b="0">
                <a:solidFill>
                  <a:srgbClr val="183247"/>
                </a:solidFill>
              </a:rPr>
              <a:t>[1] Y. Li, X. Zhang, and D. Chen, “CSRNet: Dilated Convolutional Neural Networks for Understanding the Highly Congested Scenes,” in Proc. IEEE/CVF CVPR, 2018. [2] V. A. Sindagi and V. M. Patel, “A Survey of Recent Advances in CNN-based Single Image Crowd Counting and Density Estimation,” Pattern Recognition Letters, 2018. [3] H. Idrees et al., “Composition Loss for Counting, Density Map Estimation and Localization in Dense Crowds,” in Proc. ECCV, 2018. [4] AWS Public Sector, “Serverless and Geospatial Reference Architectures for Public Safety,” AWS Whitepaper, 2023. [5] PostGIS Project Steering Committee, “PostGIS 3.3 Documentation,” postgis.net, 2023.</a:t>
            </a:r>
            <a:endParaRPr sz="1125" b="0">
              <a:solidFill>
                <a:srgbClr val="183247"/>
              </a:solidFill>
            </a:endParaRPr>
          </a:p>
          <a:p>
            <a:endParaRPr sz="1125"/>
          </a:p>
          <a:p>
            <a:pPr>
              <a:defRPr sz="1125" b="0">
                <a:solidFill>
                  <a:srgbClr val="183247"/>
                </a:solidFill>
              </a:defRPr>
            </a:pPr>
            <a:r>
              <a:rPr sz="1125" b="0">
                <a:solidFill>
                  <a:srgbClr val="183247"/>
                </a:solidFill>
              </a:rPr>
              <a:t>Include papers, datasets, APIs, standards and cloud documentation. Use consistent citation style and working links.</a:t>
            </a:r>
            <a:endParaRPr sz="1125" b="0">
              <a:solidFill>
                <a:srgbClr val="183247"/>
              </a:solidFill>
            </a:endParaRPr>
          </a:p>
        </p:txBody>
      </p:sp>
      <p:sp>
        <p:nvSpPr>
          <p:cNvPr id="17" name="Rectangle 16"/>
          <p:cNvSpPr>
            <a:spLocks noGrp="1"/>
          </p:cNvSpPr>
          <p:nvPr/>
        </p:nvSpPr>
        <p:spPr>
          <a:xfrm>
            <a:off x="6057900" y="2143125"/>
            <a:ext cx="5610225" cy="36195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6E2"/>
            </a:solidFill>
            <a:prstDash val="solid"/>
          </a:ln>
        </p:spPr>
      </p:sp>
      <p:sp>
        <p:nvSpPr>
          <p:cNvPr id="18" name="Rectangle 17"/>
          <p:cNvSpPr>
            <a:spLocks noGrp="1"/>
          </p:cNvSpPr>
          <p:nvPr/>
        </p:nvSpPr>
        <p:spPr>
          <a:xfrm>
            <a:off x="6057900" y="2143125"/>
            <a:ext cx="57150" cy="3619500"/>
          </a:xfrm>
          <a:prstGeom prst="rect">
            <a:avLst/>
          </a:prstGeom>
          <a:solidFill>
            <a:srgbClr val="0B7895"/>
          </a:solidFill>
          <a:ln w="0">
            <a:solidFill>
              <a:srgbClr val="0B7895"/>
            </a:solidFill>
            <a:prstDash val="solid"/>
          </a:ln>
        </p:spPr>
      </p:sp>
      <p:sp>
        <p:nvSpPr>
          <p:cNvPr id="19" name="Rectangle 18"/>
          <p:cNvSpPr>
            <a:spLocks noGrp="1"/>
          </p:cNvSpPr>
          <p:nvPr/>
        </p:nvSpPr>
        <p:spPr>
          <a:xfrm>
            <a:off x="6267450" y="2295525"/>
            <a:ext cx="521017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>
                <a:solidFill>
                  <a:srgbClr val="0B7895"/>
                </a:solidFill>
              </a:defRPr>
            </a:pPr>
            <a:r>
              <a:rPr sz="900" b="1">
                <a:solidFill>
                  <a:srgbClr val="0B7895"/>
                </a:solidFill>
              </a:rPr>
              <a:t>PROJECT ARTEFACTS</a:t>
            </a:r>
            <a:endParaRPr sz="900" b="1">
              <a:solidFill>
                <a:srgbClr val="0B7895"/>
              </a:solidFill>
            </a:endParaRPr>
          </a:p>
        </p:txBody>
      </p:sp>
      <p:sp>
        <p:nvSpPr>
          <p:cNvPr id="20" name="Rectangle 19"/>
          <p:cNvSpPr>
            <a:spLocks noGrp="1"/>
          </p:cNvSpPr>
          <p:nvPr/>
        </p:nvSpPr>
        <p:spPr>
          <a:xfrm>
            <a:off x="6267450" y="2600325"/>
            <a:ext cx="5210175" cy="3028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125" b="0">
                <a:solidFill>
                  <a:srgbClr val="183247"/>
                </a:solidFill>
              </a:defRPr>
            </a:pPr>
            <a:r>
              <a:rPr sz="1125" b="0">
                <a:solidFill>
                  <a:srgbClr val="183247"/>
                </a:solidFill>
              </a:rPr>
              <a:t>GitHub repository: github.com/crowdcare-team/crowdcare-platform</a:t>
            </a:r>
            <a:endParaRPr sz="1125" b="0">
              <a:solidFill>
                <a:srgbClr val="183247"/>
              </a:solidFill>
            </a:endParaRPr>
          </a:p>
          <a:p>
            <a:pPr>
              <a:defRPr sz="1125" b="0">
                <a:solidFill>
                  <a:srgbClr val="183247"/>
                </a:solidFill>
              </a:defRPr>
            </a:pPr>
            <a:r>
              <a:rPr sz="1125" b="0">
                <a:solidFill>
                  <a:srgbClr val="183247"/>
                </a:solidFill>
              </a:rPr>
              <a:t>Live deployment: crowdcare-demo.example.com</a:t>
            </a:r>
            <a:endParaRPr sz="1125" b="0">
              <a:solidFill>
                <a:srgbClr val="183247"/>
              </a:solidFill>
            </a:endParaRPr>
          </a:p>
          <a:p>
            <a:pPr>
              <a:defRPr sz="1125" b="0">
                <a:solidFill>
                  <a:srgbClr val="183247"/>
                </a:solidFill>
              </a:defRPr>
            </a:pPr>
            <a:r>
              <a:rPr sz="1125" b="0">
                <a:solidFill>
                  <a:srgbClr val="183247"/>
                </a:solidFill>
              </a:rPr>
              <a:t>Demo video: github.com/crowdcare-team/crowdcare-platform/demo</a:t>
            </a:r>
            <a:endParaRPr sz="1125" b="0">
              <a:solidFill>
                <a:srgbClr val="183247"/>
              </a:solidFill>
            </a:endParaRPr>
          </a:p>
          <a:p>
            <a:pPr>
              <a:defRPr sz="1125" b="0">
                <a:solidFill>
                  <a:srgbClr val="183247"/>
                </a:solidFill>
              </a:defRPr>
            </a:pPr>
            <a:r>
              <a:rPr sz="1125" b="0">
                <a:solidFill>
                  <a:srgbClr val="183247"/>
                </a:solidFill>
              </a:rPr>
              <a:t>Dataset / API: ShanghaiTech + UCF-QNRF (training), custom event footage (fine-tuning); internal REST API at /api/v1</a:t>
            </a:r>
            <a:endParaRPr sz="1125" b="0">
              <a:solidFill>
                <a:srgbClr val="183247"/>
              </a:solidFill>
            </a:endParaRPr>
          </a:p>
          <a:p>
            <a:pPr>
              <a:defRPr sz="1125" b="0">
                <a:solidFill>
                  <a:srgbClr val="183247"/>
                </a:solidFill>
              </a:defRPr>
            </a:pPr>
            <a:r>
              <a:rPr sz="1125" b="0">
                <a:solidFill>
                  <a:srgbClr val="183247"/>
                </a:solidFill>
              </a:rPr>
              <a:t>Architecture source: /infra CloudFormation templates in the platform repository</a:t>
            </a:r>
            <a:endParaRPr sz="1125" b="0">
              <a:solidFill>
                <a:srgbClr val="183247"/>
              </a:solidFill>
            </a:endParaRPr>
          </a:p>
          <a:p>
            <a:pPr>
              <a:defRPr sz="1125" b="0">
                <a:solidFill>
                  <a:srgbClr val="183247"/>
                </a:solidFill>
              </a:defRPr>
            </a:pPr>
            <a:r>
              <a:rPr sz="1125" b="0">
                <a:solidFill>
                  <a:srgbClr val="183247"/>
                </a:solidFill>
              </a:rPr>
              <a:t>Test report: /docs/test-validation-report.pdf in the platform repository</a:t>
            </a:r>
            <a:endParaRPr sz="1125" b="0">
              <a:solidFill>
                <a:srgbClr val="183247"/>
              </a:solidFill>
            </a:endParaRPr>
          </a:p>
          <a:p>
            <a:pPr>
              <a:defRPr sz="1125" b="0">
                <a:solidFill>
                  <a:srgbClr val="183247"/>
                </a:solidFill>
              </a:defRPr>
            </a:pPr>
            <a:r>
              <a:rPr sz="1125" b="0">
                <a:solidFill>
                  <a:srgbClr val="183247"/>
                </a:solidFill>
              </a:rPr>
              <a:t>User / setup documentation: /docs/README.md and /docs/setup-guide.md in the platform repository</a:t>
            </a:r>
            <a:endParaRPr sz="1125" b="0">
              <a:solidFill>
                <a:srgbClr val="183247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E4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6" name="Rectangle 35"/>
          <p:cNvSpPr>
            <a:spLocks noGrp="1"/>
          </p:cNvSpPr>
          <p:nvPr/>
        </p:nvSpPr>
        <p:spPr>
          <a:xfrm>
            <a:off x="0" y="0"/>
            <a:ext cx="12182475" cy="76200"/>
          </a:xfrm>
          <a:prstGeom prst="rect">
            <a:avLst/>
          </a:prstGeom>
          <a:solidFill>
            <a:srgbClr val="0B7895"/>
          </a:solidFill>
          <a:ln w="0">
            <a:solidFill>
              <a:srgbClr val="0B7895"/>
            </a:solidFill>
            <a:prstDash val="solid"/>
          </a:ln>
        </p:spPr>
      </p:sp>
      <p:sp>
        <p:nvSpPr>
          <p:cNvPr id="2" name="Rounded Rectangle 1"/>
          <p:cNvSpPr>
            <a:spLocks noGrp="1"/>
          </p:cNvSpPr>
          <p:nvPr/>
        </p:nvSpPr>
        <p:spPr>
          <a:xfrm>
            <a:off x="438150" y="228600"/>
            <a:ext cx="1000125" cy="55245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C9D6E2"/>
            </a:solidFill>
            <a:prstDash val="solid"/>
          </a:ln>
        </p:spPr>
      </p:sp>
      <p:pic>
        <p:nvPicPr>
          <p:cNvPr id="38" name="Picture 3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4350" y="450359"/>
            <a:ext cx="847725" cy="108932"/>
          </a:xfrm>
          <a:prstGeom prst="rect">
            <a:avLst/>
          </a:prstGeom>
        </p:spPr>
      </p:pic>
      <p:sp>
        <p:nvSpPr>
          <p:cNvPr id="4" name="Rectangle 3"/>
          <p:cNvSpPr>
            <a:spLocks noGrp="1"/>
          </p:cNvSpPr>
          <p:nvPr/>
        </p:nvSpPr>
        <p:spPr>
          <a:xfrm>
            <a:off x="1657350" y="266700"/>
            <a:ext cx="6953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>
                <a:solidFill>
                  <a:srgbClr val="1264A3"/>
                </a:solidFill>
              </a:defRPr>
            </a:pPr>
            <a:r>
              <a:rPr sz="900" b="1">
                <a:solidFill>
                  <a:srgbClr val="1264A3"/>
                </a:solidFill>
              </a:rPr>
              <a:t>CSA15  |  CLOUD COMPUTING AND BIG DATA ANALYTICS</a:t>
            </a:r>
            <a:endParaRPr sz="900" b="1">
              <a:solidFill>
                <a:srgbClr val="1264A3"/>
              </a:solidFill>
            </a:endParaRPr>
          </a:p>
        </p:txBody>
      </p:sp>
      <p:sp>
        <p:nvSpPr>
          <p:cNvPr id="5" name="Rectangle 4"/>
          <p:cNvSpPr>
            <a:spLocks noGrp="1"/>
          </p:cNvSpPr>
          <p:nvPr/>
        </p:nvSpPr>
        <p:spPr>
          <a:xfrm>
            <a:off x="9572625" y="266700"/>
            <a:ext cx="209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825" b="1">
                <a:solidFill>
                  <a:srgbClr val="0B7895"/>
                </a:solidFill>
              </a:defRPr>
            </a:pPr>
            <a:r>
              <a:rPr sz="825" b="1">
                <a:solidFill>
                  <a:srgbClr val="0B7895"/>
                </a:solidFill>
              </a:rPr>
              <a:t>CAPSTONE FINAL DEFENSE</a:t>
            </a:r>
            <a:endParaRPr sz="825" b="1">
              <a:solidFill>
                <a:srgbClr val="0B7895"/>
              </a:solidFill>
            </a:endParaRPr>
          </a:p>
        </p:txBody>
      </p:sp>
      <p:sp>
        <p:nvSpPr>
          <p:cNvPr id="6" name="Rectangle 5"/>
          <p:cNvSpPr>
            <a:spLocks noGrp="1"/>
          </p:cNvSpPr>
          <p:nvPr/>
        </p:nvSpPr>
        <p:spPr>
          <a:xfrm>
            <a:off x="514350" y="981075"/>
            <a:ext cx="10287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2325" b="1">
                <a:solidFill>
                  <a:srgbClr val="0B2E4F"/>
                </a:solidFill>
              </a:defRPr>
            </a:pPr>
            <a:r>
              <a:rPr sz="2325" b="1">
                <a:solidFill>
                  <a:srgbClr val="0B2E4F"/>
                </a:solidFill>
              </a:rPr>
              <a:t>Final Infrastructure Defense</a:t>
            </a:r>
            <a:endParaRPr sz="2325" b="1">
              <a:solidFill>
                <a:srgbClr val="0B2E4F"/>
              </a:solidFill>
            </a:endParaRPr>
          </a:p>
        </p:txBody>
      </p:sp>
      <p:sp>
        <p:nvSpPr>
          <p:cNvPr id="8" name="Rectangle 7"/>
          <p:cNvSpPr>
            <a:spLocks noGrp="1"/>
          </p:cNvSpPr>
          <p:nvPr/>
        </p:nvSpPr>
        <p:spPr>
          <a:xfrm>
            <a:off x="514350" y="1847850"/>
            <a:ext cx="11153775" cy="19050"/>
          </a:xfrm>
          <a:prstGeom prst="rect">
            <a:avLst/>
          </a:prstGeom>
          <a:solidFill>
            <a:srgbClr val="C9D6E2"/>
          </a:solidFill>
          <a:ln w="0">
            <a:solidFill>
              <a:srgbClr val="C9D6E2"/>
            </a:solidFill>
            <a:prstDash val="solid"/>
          </a:ln>
        </p:spPr>
      </p:sp>
      <p:sp>
        <p:nvSpPr>
          <p:cNvPr id="9" name="Rectangle 8"/>
          <p:cNvSpPr>
            <a:spLocks noGrp="1"/>
          </p:cNvSpPr>
          <p:nvPr/>
        </p:nvSpPr>
        <p:spPr>
          <a:xfrm>
            <a:off x="0" y="6419850"/>
            <a:ext cx="12182475" cy="438150"/>
          </a:xfrm>
          <a:prstGeom prst="rect">
            <a:avLst/>
          </a:prstGeom>
          <a:solidFill>
            <a:srgbClr val="0B2E4F"/>
          </a:solidFill>
          <a:ln w="0">
            <a:solidFill>
              <a:srgbClr val="0B2E4F"/>
            </a:solidFill>
            <a:prstDash val="solid"/>
          </a:ln>
        </p:spPr>
      </p:sp>
      <p:sp>
        <p:nvSpPr>
          <p:cNvPr id="10" name="Rectangle 9"/>
          <p:cNvSpPr>
            <a:spLocks noGrp="1"/>
          </p:cNvSpPr>
          <p:nvPr/>
        </p:nvSpPr>
        <p:spPr>
          <a:xfrm>
            <a:off x="533400" y="6515100"/>
            <a:ext cx="9810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STUDENT ACTION  |  Replace every [ENTER ...] field. Delete this rail before the final presentation.</a:t>
            </a:r>
            <a:endParaRPr sz="900" b="1">
              <a:solidFill>
                <a:srgbClr val="FFFFFF"/>
              </a:solidFill>
            </a:endParaRPr>
          </a:p>
        </p:txBody>
      </p:sp>
      <p:sp>
        <p:nvSpPr>
          <p:cNvPr id="11" name="Rectangle 10"/>
          <p:cNvSpPr>
            <a:spLocks noGrp="1"/>
          </p:cNvSpPr>
          <p:nvPr/>
        </p:nvSpPr>
        <p:spPr>
          <a:xfrm>
            <a:off x="11049000" y="6515100"/>
            <a:ext cx="6191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75" b="1">
                <a:solidFill>
                  <a:srgbClr val="D39216"/>
                </a:solidFill>
              </a:defRPr>
            </a:pPr>
            <a:r>
              <a:rPr sz="975" b="1">
                <a:solidFill>
                  <a:srgbClr val="D39216"/>
                </a:solidFill>
              </a:rPr>
              <a:t>27</a:t>
            </a:r>
            <a:endParaRPr sz="975" b="1">
              <a:solidFill>
                <a:srgbClr val="D39216"/>
              </a:solidFill>
            </a:endParaRPr>
          </a:p>
        </p:txBody>
      </p:sp>
      <p:sp>
        <p:nvSpPr>
          <p:cNvPr id="12" name="Rectangle 11"/>
          <p:cNvSpPr>
            <a:spLocks noGrp="1"/>
          </p:cNvSpPr>
          <p:nvPr/>
        </p:nvSpPr>
        <p:spPr>
          <a:xfrm>
            <a:off x="4191000" y="6715125"/>
            <a:ext cx="3810000" cy="104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600" b="0">
                <a:solidFill>
                  <a:srgbClr val="BFD3E1"/>
                </a:solidFill>
              </a:defRPr>
            </a:pPr>
            <a:r>
              <a:rPr sz="600" b="0">
                <a:solidFill>
                  <a:srgbClr val="BFD3E1"/>
                </a:solidFill>
              </a:rPr>
              <a:t>Dr. C. Rajesh Babu | SSETSCS415</a:t>
            </a:r>
            <a:endParaRPr sz="600" b="0">
              <a:solidFill>
                <a:srgbClr val="BFD3E1"/>
              </a:solidFill>
            </a:endParaRPr>
          </a:p>
        </p:txBody>
      </p:sp>
      <p:sp>
        <p:nvSpPr>
          <p:cNvPr id="13" name="Rectangle 12"/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D39216"/>
          </a:solidFill>
          <a:ln w="0">
            <a:solidFill>
              <a:srgbClr val="D39216"/>
            </a:solidFill>
            <a:prstDash val="solid"/>
          </a:ln>
        </p:spPr>
      </p:sp>
      <p:sp>
        <p:nvSpPr>
          <p:cNvPr id="14" name="Rounded Rectangle 13"/>
          <p:cNvSpPr>
            <a:spLocks noGrp="1"/>
          </p:cNvSpPr>
          <p:nvPr/>
        </p:nvSpPr>
        <p:spPr>
          <a:xfrm>
            <a:off x="438150" y="228600"/>
            <a:ext cx="1000125" cy="55245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</p:sp>
      <p:pic>
        <p:nvPicPr>
          <p:cNvPr id="50" name="Picture 4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4350" y="450359"/>
            <a:ext cx="847725" cy="108932"/>
          </a:xfrm>
          <a:prstGeom prst="rect">
            <a:avLst/>
          </a:prstGeom>
        </p:spPr>
      </p:pic>
      <p:sp>
        <p:nvSpPr>
          <p:cNvPr id="16" name="Rectangle 15"/>
          <p:cNvSpPr>
            <a:spLocks noGrp="1"/>
          </p:cNvSpPr>
          <p:nvPr/>
        </p:nvSpPr>
        <p:spPr>
          <a:xfrm>
            <a:off x="1676400" y="381000"/>
            <a:ext cx="666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050" b="1">
                <a:solidFill>
                  <a:srgbClr val="D39216"/>
                </a:solidFill>
              </a:defRPr>
            </a:pPr>
            <a:r>
              <a:rPr sz="1050" b="1">
                <a:solidFill>
                  <a:srgbClr val="D39216"/>
                </a:solidFill>
              </a:rPr>
              <a:t>FINAL INFRASTRUCTURE DEFENSE</a:t>
            </a:r>
            <a:endParaRPr sz="1050" b="1">
              <a:solidFill>
                <a:srgbClr val="D39216"/>
              </a:solidFill>
            </a:endParaRPr>
          </a:p>
        </p:txBody>
      </p:sp>
      <p:sp>
        <p:nvSpPr>
          <p:cNvPr id="17" name="Rectangle 16"/>
          <p:cNvSpPr>
            <a:spLocks noGrp="1"/>
          </p:cNvSpPr>
          <p:nvPr/>
        </p:nvSpPr>
        <p:spPr>
          <a:xfrm>
            <a:off x="760730" y="952500"/>
            <a:ext cx="10668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CrowdCare: Cloud Event Safety Platform with Density Estimation and Incident Routing</a:t>
            </a:r>
            <a:endParaRPr sz="2850" b="1">
              <a:solidFill>
                <a:srgbClr val="FFFFFF"/>
              </a:solidFill>
            </a:endParaRPr>
          </a:p>
        </p:txBody>
      </p:sp>
      <p:sp>
        <p:nvSpPr>
          <p:cNvPr id="18" name="Rectangle 17"/>
          <p:cNvSpPr>
            <a:spLocks noGrp="1"/>
          </p:cNvSpPr>
          <p:nvPr/>
        </p:nvSpPr>
        <p:spPr>
          <a:xfrm>
            <a:off x="533400" y="1885950"/>
            <a:ext cx="80962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350" b="0">
                <a:solidFill>
                  <a:srgbClr val="DCEAF3"/>
                </a:solidFill>
              </a:defRPr>
            </a:pPr>
            <a:r>
              <a:rPr sz="1350" b="0">
                <a:solidFill>
                  <a:srgbClr val="DCEAF3"/>
                </a:solidFill>
              </a:rPr>
              <a:t>Close with one defensible sentence for each decision.</a:t>
            </a:r>
            <a:endParaRPr sz="1350" b="0">
              <a:solidFill>
                <a:srgbClr val="DCEAF3"/>
              </a:solidFill>
            </a:endParaRPr>
          </a:p>
        </p:txBody>
      </p:sp>
      <p:sp>
        <p:nvSpPr>
          <p:cNvPr id="19" name="Rectangle 18"/>
          <p:cNvSpPr>
            <a:spLocks noGrp="1"/>
          </p:cNvSpPr>
          <p:nvPr/>
        </p:nvSpPr>
        <p:spPr>
          <a:xfrm>
            <a:off x="514350" y="2647950"/>
            <a:ext cx="2562225" cy="1809750"/>
          </a:xfrm>
          <a:prstGeom prst="rect">
            <a:avLst/>
          </a:prstGeom>
          <a:solidFill>
            <a:srgbClr val="1264A3"/>
          </a:solidFill>
          <a:ln w="0">
            <a:noFill/>
            <a:prstDash val="solid"/>
          </a:ln>
        </p:spPr>
      </p:sp>
      <p:sp>
        <p:nvSpPr>
          <p:cNvPr id="20" name="Rectangle 19"/>
          <p:cNvSpPr>
            <a:spLocks noGrp="1"/>
          </p:cNvSpPr>
          <p:nvPr/>
        </p:nvSpPr>
        <p:spPr>
          <a:xfrm>
            <a:off x="704850" y="2838450"/>
            <a:ext cx="21812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01  PROBLEM</a:t>
            </a:r>
            <a:endParaRPr sz="975" b="1">
              <a:solidFill>
                <a:srgbClr val="FFFFFF"/>
              </a:solidFill>
            </a:endParaRPr>
          </a:p>
        </p:txBody>
      </p:sp>
      <p:sp>
        <p:nvSpPr>
          <p:cNvPr id="21" name="Rectangle 20"/>
          <p:cNvSpPr>
            <a:spLocks noGrp="1"/>
          </p:cNvSpPr>
          <p:nvPr/>
        </p:nvSpPr>
        <p:spPr>
          <a:xfrm>
            <a:off x="704850" y="3276600"/>
            <a:ext cx="2181225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Event organizers and marshals cannot see per-zone crowd density in real time, and manual voice-radio dispatch is too slow to prevent crush incidents at large public gatherings.</a:t>
            </a:r>
            <a:endParaRPr sz="1200" b="0">
              <a:solidFill>
                <a:srgbClr val="FFFFFF"/>
              </a:solidFill>
            </a:endParaRPr>
          </a:p>
        </p:txBody>
      </p:sp>
      <p:sp>
        <p:nvSpPr>
          <p:cNvPr id="22" name="Rectangle 21"/>
          <p:cNvSpPr>
            <a:spLocks noGrp="1"/>
          </p:cNvSpPr>
          <p:nvPr/>
        </p:nvSpPr>
        <p:spPr>
          <a:xfrm>
            <a:off x="3305175" y="2647950"/>
            <a:ext cx="2562225" cy="1809750"/>
          </a:xfrm>
          <a:prstGeom prst="rect">
            <a:avLst/>
          </a:prstGeom>
          <a:solidFill>
            <a:srgbClr val="1264A3"/>
          </a:solidFill>
          <a:ln w="0">
            <a:noFill/>
            <a:prstDash val="solid"/>
          </a:ln>
        </p:spPr>
      </p:sp>
      <p:sp>
        <p:nvSpPr>
          <p:cNvPr id="23" name="Rectangle 22"/>
          <p:cNvSpPr>
            <a:spLocks noGrp="1"/>
          </p:cNvSpPr>
          <p:nvPr/>
        </p:nvSpPr>
        <p:spPr>
          <a:xfrm>
            <a:off x="3495675" y="2838450"/>
            <a:ext cx="21812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02  ARCHITECTURE</a:t>
            </a:r>
            <a:endParaRPr sz="975" b="1">
              <a:solidFill>
                <a:srgbClr val="FFFFFF"/>
              </a:solidFill>
            </a:endParaRPr>
          </a:p>
        </p:txBody>
      </p:sp>
      <p:sp>
        <p:nvSpPr>
          <p:cNvPr id="24" name="Rectangle 23"/>
          <p:cNvSpPr>
            <a:spLocks noGrp="1"/>
          </p:cNvSpPr>
          <p:nvPr/>
        </p:nvSpPr>
        <p:spPr>
          <a:xfrm>
            <a:off x="3495675" y="3276600"/>
            <a:ext cx="2493645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200" b="0">
                <a:solidFill>
                  <a:srgbClr val="FFFFFF"/>
                </a:solidFill>
              </a:defRPr>
            </a:pPr>
            <a:r>
              <a:rPr lang="en-US" altLang="en-US" sz="1200" b="0">
                <a:solidFill>
                  <a:srgbClr val="FFFFFF"/>
                </a:solidFill>
              </a:rPr>
              <a:t>AWS cloud-native pipeline (ECS Fargate, RDS/PostGIS, Lambda) combines CSRNet crowd estimation with automated nearest-responder routing, replacing manual CCTV monitoring and radio coordination with intelligent geospatial dispatch.</a:t>
            </a:r>
            <a:endParaRPr lang="en-US" altLang="en-US" sz="1200" b="0">
              <a:solidFill>
                <a:srgbClr val="FFFFFF"/>
              </a:solidFill>
            </a:endParaRPr>
          </a:p>
        </p:txBody>
      </p:sp>
      <p:sp>
        <p:nvSpPr>
          <p:cNvPr id="25" name="Rectangle 24"/>
          <p:cNvSpPr>
            <a:spLocks noGrp="1"/>
          </p:cNvSpPr>
          <p:nvPr/>
        </p:nvSpPr>
        <p:spPr>
          <a:xfrm>
            <a:off x="6096000" y="2647950"/>
            <a:ext cx="2562225" cy="1809750"/>
          </a:xfrm>
          <a:prstGeom prst="rect">
            <a:avLst/>
          </a:prstGeom>
          <a:solidFill>
            <a:srgbClr val="1264A3"/>
          </a:solidFill>
          <a:ln w="0">
            <a:noFill/>
            <a:prstDash val="solid"/>
          </a:ln>
        </p:spPr>
      </p:sp>
      <p:sp>
        <p:nvSpPr>
          <p:cNvPr id="26" name="Rectangle 25"/>
          <p:cNvSpPr>
            <a:spLocks noGrp="1"/>
          </p:cNvSpPr>
          <p:nvPr/>
        </p:nvSpPr>
        <p:spPr>
          <a:xfrm>
            <a:off x="6286500" y="2838450"/>
            <a:ext cx="21812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03  EVIDENCE</a:t>
            </a:r>
            <a:endParaRPr sz="975" b="1">
              <a:solidFill>
                <a:srgbClr val="FFFFFF"/>
              </a:solidFill>
            </a:endParaRPr>
          </a:p>
        </p:txBody>
      </p:sp>
      <p:sp>
        <p:nvSpPr>
          <p:cNvPr id="27" name="Rectangle 26"/>
          <p:cNvSpPr>
            <a:spLocks noGrp="1"/>
          </p:cNvSpPr>
          <p:nvPr/>
        </p:nvSpPr>
        <p:spPr>
          <a:xfrm>
            <a:off x="6286500" y="3276600"/>
            <a:ext cx="2181225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96% of incidents auto-assigned within 200m in 1.9s average decision time, with 99.3% platform uptime across a 4-hour, 40-zone simulated event.</a:t>
            </a:r>
            <a:endParaRPr sz="1200" b="0">
              <a:solidFill>
                <a:srgbClr val="FFFFFF"/>
              </a:solidFill>
            </a:endParaRPr>
          </a:p>
        </p:txBody>
      </p:sp>
      <p:sp>
        <p:nvSpPr>
          <p:cNvPr id="28" name="Rectangle 27"/>
          <p:cNvSpPr>
            <a:spLocks noGrp="1"/>
          </p:cNvSpPr>
          <p:nvPr/>
        </p:nvSpPr>
        <p:spPr>
          <a:xfrm>
            <a:off x="8886825" y="2647950"/>
            <a:ext cx="2562225" cy="1809750"/>
          </a:xfrm>
          <a:prstGeom prst="rect">
            <a:avLst/>
          </a:prstGeom>
          <a:solidFill>
            <a:srgbClr val="D39216"/>
          </a:solidFill>
          <a:ln w="0">
            <a:noFill/>
            <a:prstDash val="solid"/>
          </a:ln>
        </p:spPr>
      </p:sp>
      <p:sp>
        <p:nvSpPr>
          <p:cNvPr id="29" name="Rectangle 28"/>
          <p:cNvSpPr>
            <a:spLocks noGrp="1"/>
          </p:cNvSpPr>
          <p:nvPr/>
        </p:nvSpPr>
        <p:spPr>
          <a:xfrm>
            <a:off x="9077325" y="2838450"/>
            <a:ext cx="21812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04  IMPACT</a:t>
            </a:r>
            <a:endParaRPr sz="975" b="1">
              <a:solidFill>
                <a:srgbClr val="FFFFFF"/>
              </a:solidFill>
            </a:endParaRPr>
          </a:p>
        </p:txBody>
      </p:sp>
      <p:sp>
        <p:nvSpPr>
          <p:cNvPr id="30" name="Rectangle 29"/>
          <p:cNvSpPr>
            <a:spLocks noGrp="1"/>
          </p:cNvSpPr>
          <p:nvPr/>
        </p:nvSpPr>
        <p:spPr>
          <a:xfrm>
            <a:off x="9077325" y="3276600"/>
            <a:ext cx="2181225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Responder dispatch time cut by over 40% versus manual radio coordination (1.9s vs 4.1s baseline), advancing SDG 11 (Sustainable Cities) and SDG 3 (Good Health).</a:t>
            </a:r>
            <a:endParaRPr sz="1200" b="0">
              <a:solidFill>
                <a:srgbClr val="FFFFFF"/>
              </a:solidFill>
            </a:endParaRPr>
          </a:p>
        </p:txBody>
      </p:sp>
      <p:sp>
        <p:nvSpPr>
          <p:cNvPr id="31" name="Rectangle 30"/>
          <p:cNvSpPr>
            <a:spLocks noGrp="1"/>
          </p:cNvSpPr>
          <p:nvPr/>
        </p:nvSpPr>
        <p:spPr>
          <a:xfrm>
            <a:off x="514350" y="4762500"/>
            <a:ext cx="10934700" cy="1066800"/>
          </a:xfrm>
          <a:prstGeom prst="rect">
            <a:avLst/>
          </a:prstGeom>
          <a:solidFill>
            <a:srgbClr val="123C60"/>
          </a:solidFill>
          <a:ln w="9525">
            <a:solidFill>
              <a:srgbClr val="5E87A5"/>
            </a:solidFill>
            <a:prstDash val="solid"/>
          </a:ln>
        </p:spPr>
      </p:sp>
      <p:sp>
        <p:nvSpPr>
          <p:cNvPr id="32" name="Rectangle 31"/>
          <p:cNvSpPr>
            <a:spLocks noGrp="1"/>
          </p:cNvSpPr>
          <p:nvPr/>
        </p:nvSpPr>
        <p:spPr>
          <a:xfrm>
            <a:off x="742950" y="4924425"/>
            <a:ext cx="2667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>
                <a:solidFill>
                  <a:srgbClr val="D39216"/>
                </a:solidFill>
              </a:defRPr>
            </a:pPr>
            <a:r>
              <a:rPr sz="900" b="1">
                <a:solidFill>
                  <a:srgbClr val="D39216"/>
                </a:solidFill>
              </a:rPr>
              <a:t>FINAL DEFENSE STATEMENT</a:t>
            </a:r>
            <a:endParaRPr sz="900" b="1">
              <a:solidFill>
                <a:srgbClr val="D39216"/>
              </a:solidFill>
            </a:endParaRPr>
          </a:p>
        </p:txBody>
      </p:sp>
      <p:sp>
        <p:nvSpPr>
          <p:cNvPr id="33" name="Rectangle 32"/>
          <p:cNvSpPr>
            <a:spLocks noGrp="1"/>
          </p:cNvSpPr>
          <p:nvPr/>
        </p:nvSpPr>
        <p:spPr>
          <a:xfrm>
            <a:off x="742950" y="5219700"/>
            <a:ext cx="103251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The prototype meets every engineering target in simulation and is acceptable for a supervised pilot; before production it needs multi-region failover, training data from real live events, and a formal security review at scale beyond 40 zones.</a:t>
            </a:r>
            <a:endParaRPr sz="1350" b="1">
              <a:solidFill>
                <a:srgbClr val="FFFFFF"/>
              </a:solidFill>
            </a:endParaRPr>
          </a:p>
        </p:txBody>
      </p:sp>
      <p:sp>
        <p:nvSpPr>
          <p:cNvPr id="34" name="Rectangle 33"/>
          <p:cNvSpPr>
            <a:spLocks noGrp="1"/>
          </p:cNvSpPr>
          <p:nvPr/>
        </p:nvSpPr>
        <p:spPr>
          <a:xfrm>
            <a:off x="514350" y="6343650"/>
            <a:ext cx="109347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THANK YOU  |  QUESTIONS AND TECHNICAL DEFENSE</a:t>
            </a:r>
            <a:endParaRPr sz="975" b="1">
              <a:solidFill>
                <a:srgbClr val="FFFFFF"/>
              </a:solidFill>
            </a:endParaRPr>
          </a:p>
        </p:txBody>
      </p:sp>
      <p:sp>
        <p:nvSpPr>
          <p:cNvPr id="35" name="Rectangle 34"/>
          <p:cNvSpPr>
            <a:spLocks noGrp="1"/>
          </p:cNvSpPr>
          <p:nvPr/>
        </p:nvSpPr>
        <p:spPr>
          <a:xfrm>
            <a:off x="4191000" y="6705600"/>
            <a:ext cx="3810000" cy="104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600" b="0">
                <a:solidFill>
                  <a:srgbClr val="BFD3E1"/>
                </a:solidFill>
              </a:defRPr>
            </a:pPr>
            <a:r>
              <a:rPr sz="600" b="0">
                <a:solidFill>
                  <a:srgbClr val="BFD3E1"/>
                </a:solidFill>
              </a:rPr>
              <a:t>Dr. C. Rajesh Babu | SSETSCS415</a:t>
            </a:r>
            <a:endParaRPr sz="600" b="0">
              <a:solidFill>
                <a:srgbClr val="BFD3E1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35" name="Picture 2"/>
          <p:cNvPicPr/>
          <p:nvPr/>
        </p:nvPicPr>
        <p:blipFill>
          <a:blip r:embed="rId1"/>
          <a:stretch>
            <a:fillRect/>
          </a:stretch>
        </p:blipFill>
        <p:spPr>
          <a:xfrm>
            <a:off x="53975" y="0"/>
            <a:ext cx="12141200" cy="710946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4999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4999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32823</Words>
  <Application>WPS Presentation</Application>
  <PresentationFormat>Converted Presentation</PresentationFormat>
  <Paragraphs>997</Paragraphs>
  <Slides>28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28</vt:i4>
      </vt:variant>
    </vt:vector>
  </HeadingPairs>
  <TitlesOfParts>
    <vt:vector size="36" baseType="lpstr">
      <vt:lpstr>Arial</vt:lpstr>
      <vt:lpstr>SimSun</vt:lpstr>
      <vt:lpstr>Wingdings</vt:lpstr>
      <vt:lpstr>Arial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CSA15 Capstone Project Final Presentation Template</dc:title>
  <dc:creator>Dr. C. Rajesh Babu</dc:creator>
  <dc:description>Professional student final presentation template for CSA15. Faculty owner: Dr. C. Rajesh Babu, SSETSCS415.</dc:description>
  <dc:subject>Cloud Computing and Big Data Analytics</dc:subject>
  <cp:lastModifiedBy>LENOVO</cp:lastModifiedBy>
  <cp:revision>2</cp:revision>
  <dcterms:created xsi:type="dcterms:W3CDTF">2026-09-01T05:24:05Z</dcterms:created>
  <dcterms:modified xsi:type="dcterms:W3CDTF">2026-09-01T05:30:24Z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1033-12.1.0.28032</vt:lpwstr>
  </property>
  <property fmtid="{D5CDD505-2E9C-101B-9397-08002B2CF9AE}" pid="3" name="ICV">
    <vt:lpwstr>6717C9B7E66241C9BED18ACA74CC77DD_12</vt:lpwstr>
  </property>
</Properties>
</file>